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2.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65" r:id="rId3"/>
    <p:sldId id="281" r:id="rId4"/>
    <p:sldId id="258" r:id="rId5"/>
    <p:sldId id="259" r:id="rId6"/>
    <p:sldId id="260" r:id="rId7"/>
    <p:sldId id="261" r:id="rId8"/>
    <p:sldId id="262" r:id="rId9"/>
    <p:sldId id="257" r:id="rId10"/>
    <p:sldId id="263" r:id="rId11"/>
    <p:sldId id="264" r:id="rId12"/>
    <p:sldId id="270" r:id="rId13"/>
    <p:sldId id="282" r:id="rId14"/>
    <p:sldId id="269" r:id="rId15"/>
    <p:sldId id="267" r:id="rId16"/>
    <p:sldId id="268" r:id="rId17"/>
    <p:sldId id="271" r:id="rId18"/>
    <p:sldId id="276" r:id="rId19"/>
    <p:sldId id="272" r:id="rId20"/>
    <p:sldId id="273" r:id="rId21"/>
    <p:sldId id="274" r:id="rId22"/>
    <p:sldId id="275" r:id="rId23"/>
    <p:sldId id="278" r:id="rId24"/>
    <p:sldId id="280" r:id="rId25"/>
    <p:sldId id="27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74626"/>
  </p:normalViewPr>
  <p:slideViewPr>
    <p:cSldViewPr snapToGrid="0">
      <p:cViewPr varScale="1">
        <p:scale>
          <a:sx n="94" d="100"/>
          <a:sy n="94" d="100"/>
        </p:scale>
        <p:origin x="1512" y="184"/>
      </p:cViewPr>
      <p:guideLst/>
    </p:cSldViewPr>
  </p:slideViewPr>
  <p:outlineViewPr>
    <p:cViewPr>
      <p:scale>
        <a:sx n="33" d="100"/>
        <a:sy n="33" d="100"/>
      </p:scale>
      <p:origin x="0" y="-752"/>
    </p:cViewPr>
  </p:outlineViewPr>
  <p:notesTextViewPr>
    <p:cViewPr>
      <p:scale>
        <a:sx n="1" d="1"/>
        <a:sy n="1" d="1"/>
      </p:scale>
      <p:origin x="0" y="0"/>
    </p:cViewPr>
  </p:notesTextViewPr>
  <p:notesViewPr>
    <p:cSldViewPr snapToGrid="0">
      <p:cViewPr varScale="1">
        <p:scale>
          <a:sx n="102" d="100"/>
          <a:sy n="102" d="100"/>
        </p:scale>
        <p:origin x="3856"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10768FC-5F64-C040-A850-7AF705473AE2}" type="doc">
      <dgm:prSet loTypeId="urn:microsoft.com/office/officeart/2005/8/layout/vList3" loCatId="" qsTypeId="urn:microsoft.com/office/officeart/2005/8/quickstyle/simple1" qsCatId="simple" csTypeId="urn:microsoft.com/office/officeart/2005/8/colors/accent1_2" csCatId="accent1" phldr="1"/>
      <dgm:spPr/>
      <dgm:t>
        <a:bodyPr/>
        <a:lstStyle/>
        <a:p>
          <a:endParaRPr lang="en-US"/>
        </a:p>
      </dgm:t>
    </dgm:pt>
    <dgm:pt modelId="{01C3CF44-D8A1-5144-A920-ECBC33877F63}">
      <dgm:prSet phldrT="[Text]" custT="1"/>
      <dgm:spPr/>
      <dgm:t>
        <a:bodyPr/>
        <a:lstStyle/>
        <a:p>
          <a:pPr algn="r"/>
          <a:r>
            <a:rPr lang="en-US" sz="2000" b="1" dirty="0">
              <a:solidFill>
                <a:schemeClr val="bg2"/>
              </a:solidFill>
            </a:rPr>
            <a:t>KEY ASPECTS</a:t>
          </a:r>
        </a:p>
      </dgm:t>
    </dgm:pt>
    <dgm:pt modelId="{11A1EAB4-D458-114F-A2E6-B77C5452824A}" type="parTrans" cxnId="{82AFF34C-F3EB-A94E-8CBD-AE46EF93D131}">
      <dgm:prSet/>
      <dgm:spPr/>
      <dgm:t>
        <a:bodyPr/>
        <a:lstStyle/>
        <a:p>
          <a:pPr algn="r"/>
          <a:endParaRPr lang="en-US" sz="2000" b="1">
            <a:solidFill>
              <a:schemeClr val="bg2"/>
            </a:solidFill>
          </a:endParaRPr>
        </a:p>
      </dgm:t>
    </dgm:pt>
    <dgm:pt modelId="{353F540F-9A43-E649-8B5D-C06D24AE4C92}" type="sibTrans" cxnId="{82AFF34C-F3EB-A94E-8CBD-AE46EF93D131}">
      <dgm:prSet/>
      <dgm:spPr/>
      <dgm:t>
        <a:bodyPr/>
        <a:lstStyle/>
        <a:p>
          <a:pPr algn="r"/>
          <a:endParaRPr lang="en-US" sz="2000" b="1">
            <a:solidFill>
              <a:schemeClr val="bg2"/>
            </a:solidFill>
          </a:endParaRPr>
        </a:p>
      </dgm:t>
    </dgm:pt>
    <dgm:pt modelId="{9199F721-D957-4A45-86A2-0F13BAFB5700}">
      <dgm:prSet phldrT="[Text]" custT="1"/>
      <dgm:spPr/>
      <dgm:t>
        <a:bodyPr/>
        <a:lstStyle/>
        <a:p>
          <a:pPr algn="r"/>
          <a:r>
            <a:rPr lang="en-US" sz="2000" b="1" dirty="0">
              <a:solidFill>
                <a:schemeClr val="bg2"/>
              </a:solidFill>
            </a:rPr>
            <a:t>TASK-1B: TEST-TRAIN SPLIT &amp; SMOT</a:t>
          </a:r>
        </a:p>
      </dgm:t>
    </dgm:pt>
    <dgm:pt modelId="{33DB9B1C-5587-CA44-A826-B4A82245D512}" type="parTrans" cxnId="{59AF2ECF-229B-E74C-A9C5-68666891303A}">
      <dgm:prSet/>
      <dgm:spPr/>
      <dgm:t>
        <a:bodyPr/>
        <a:lstStyle/>
        <a:p>
          <a:pPr algn="r"/>
          <a:endParaRPr lang="en-US" sz="2000" b="1">
            <a:solidFill>
              <a:schemeClr val="bg2"/>
            </a:solidFill>
          </a:endParaRPr>
        </a:p>
      </dgm:t>
    </dgm:pt>
    <dgm:pt modelId="{BD830C28-41B1-7E46-AC1A-CD2C5F5FFBBC}" type="sibTrans" cxnId="{59AF2ECF-229B-E74C-A9C5-68666891303A}">
      <dgm:prSet/>
      <dgm:spPr/>
      <dgm:t>
        <a:bodyPr/>
        <a:lstStyle/>
        <a:p>
          <a:pPr algn="r"/>
          <a:endParaRPr lang="en-US" sz="2000" b="1">
            <a:solidFill>
              <a:schemeClr val="bg2"/>
            </a:solidFill>
          </a:endParaRPr>
        </a:p>
      </dgm:t>
    </dgm:pt>
    <dgm:pt modelId="{1BC10CD8-FC3E-FA41-9CF2-909EEC98CC27}">
      <dgm:prSet phldrT="[Text]" custT="1"/>
      <dgm:spPr/>
      <dgm:t>
        <a:bodyPr/>
        <a:lstStyle/>
        <a:p>
          <a:pPr algn="r"/>
          <a:r>
            <a:rPr lang="en-US" sz="2000" b="1" dirty="0">
              <a:solidFill>
                <a:schemeClr val="bg2"/>
              </a:solidFill>
            </a:rPr>
            <a:t>TASK-2: LOGISTIC REGRESSION</a:t>
          </a:r>
        </a:p>
      </dgm:t>
    </dgm:pt>
    <dgm:pt modelId="{1485C54F-6B64-2945-B4B4-98FD2C531250}" type="parTrans" cxnId="{9F134A46-3834-8C48-AE31-302FBCE824BC}">
      <dgm:prSet/>
      <dgm:spPr/>
      <dgm:t>
        <a:bodyPr/>
        <a:lstStyle/>
        <a:p>
          <a:pPr algn="r"/>
          <a:endParaRPr lang="en-US" sz="2000" b="1">
            <a:solidFill>
              <a:schemeClr val="bg2"/>
            </a:solidFill>
          </a:endParaRPr>
        </a:p>
      </dgm:t>
    </dgm:pt>
    <dgm:pt modelId="{BF33AF73-AD66-2348-A79B-B02A4115FE3B}" type="sibTrans" cxnId="{9F134A46-3834-8C48-AE31-302FBCE824BC}">
      <dgm:prSet/>
      <dgm:spPr/>
      <dgm:t>
        <a:bodyPr/>
        <a:lstStyle/>
        <a:p>
          <a:pPr algn="r"/>
          <a:endParaRPr lang="en-US" sz="2000" b="1">
            <a:solidFill>
              <a:schemeClr val="bg2"/>
            </a:solidFill>
          </a:endParaRPr>
        </a:p>
      </dgm:t>
    </dgm:pt>
    <dgm:pt modelId="{9A0083A0-F39A-4341-89AB-F4F48EAB4819}">
      <dgm:prSet phldrT="[Text]" custT="1"/>
      <dgm:spPr/>
      <dgm:t>
        <a:bodyPr/>
        <a:lstStyle/>
        <a:p>
          <a:pPr algn="r"/>
          <a:r>
            <a:rPr lang="en-US" sz="2000" b="1" dirty="0">
              <a:solidFill>
                <a:schemeClr val="bg2"/>
              </a:solidFill>
            </a:rPr>
            <a:t>TASK-2: TUNING</a:t>
          </a:r>
        </a:p>
      </dgm:t>
    </dgm:pt>
    <dgm:pt modelId="{35B86A37-6968-924B-95A3-5BE3C058ADE8}" type="parTrans" cxnId="{8E833EF3-24D4-D842-80BF-B34F143EEFAA}">
      <dgm:prSet/>
      <dgm:spPr/>
      <dgm:t>
        <a:bodyPr/>
        <a:lstStyle/>
        <a:p>
          <a:pPr algn="r"/>
          <a:endParaRPr lang="en-US" sz="2000" b="1">
            <a:solidFill>
              <a:schemeClr val="bg2"/>
            </a:solidFill>
          </a:endParaRPr>
        </a:p>
      </dgm:t>
    </dgm:pt>
    <dgm:pt modelId="{5EC37D54-6ED9-994F-9F30-0E441C93E261}" type="sibTrans" cxnId="{8E833EF3-24D4-D842-80BF-B34F143EEFAA}">
      <dgm:prSet/>
      <dgm:spPr/>
      <dgm:t>
        <a:bodyPr/>
        <a:lstStyle/>
        <a:p>
          <a:pPr algn="r"/>
          <a:endParaRPr lang="en-US" sz="2000" b="1">
            <a:solidFill>
              <a:schemeClr val="bg2"/>
            </a:solidFill>
          </a:endParaRPr>
        </a:p>
      </dgm:t>
    </dgm:pt>
    <dgm:pt modelId="{55BEE7CB-6005-C347-B8FF-255D09308A0F}">
      <dgm:prSet phldrT="[Text]" custT="1"/>
      <dgm:spPr/>
      <dgm:t>
        <a:bodyPr/>
        <a:lstStyle/>
        <a:p>
          <a:pPr algn="r"/>
          <a:r>
            <a:rPr lang="en-US" sz="2000" b="1" dirty="0">
              <a:solidFill>
                <a:schemeClr val="bg2"/>
              </a:solidFill>
            </a:rPr>
            <a:t>TASK-3: GRADIENT BOOSTING</a:t>
          </a:r>
        </a:p>
      </dgm:t>
    </dgm:pt>
    <dgm:pt modelId="{7DB55212-EAAB-DF40-A419-777D161C3EEC}" type="parTrans" cxnId="{21D3F993-789C-504C-8671-E6323AF731A7}">
      <dgm:prSet/>
      <dgm:spPr/>
      <dgm:t>
        <a:bodyPr/>
        <a:lstStyle/>
        <a:p>
          <a:pPr algn="r"/>
          <a:endParaRPr lang="en-US" sz="2000" b="1">
            <a:solidFill>
              <a:schemeClr val="bg2"/>
            </a:solidFill>
          </a:endParaRPr>
        </a:p>
      </dgm:t>
    </dgm:pt>
    <dgm:pt modelId="{E0867606-A1E7-0A45-960F-2562F0A817BE}" type="sibTrans" cxnId="{21D3F993-789C-504C-8671-E6323AF731A7}">
      <dgm:prSet/>
      <dgm:spPr/>
      <dgm:t>
        <a:bodyPr/>
        <a:lstStyle/>
        <a:p>
          <a:pPr algn="r"/>
          <a:endParaRPr lang="en-US" sz="2000" b="1">
            <a:solidFill>
              <a:schemeClr val="bg2"/>
            </a:solidFill>
          </a:endParaRPr>
        </a:p>
      </dgm:t>
    </dgm:pt>
    <dgm:pt modelId="{AD8D1A59-6E50-6D47-A2AC-F8B1888B0F45}">
      <dgm:prSet phldrT="[Text]" custT="1"/>
      <dgm:spPr/>
      <dgm:t>
        <a:bodyPr/>
        <a:lstStyle/>
        <a:p>
          <a:pPr algn="r"/>
          <a:r>
            <a:rPr lang="en-US" sz="2000" b="1" dirty="0">
              <a:solidFill>
                <a:schemeClr val="bg2"/>
              </a:solidFill>
            </a:rPr>
            <a:t>TASK-4: MODELS COMPARATIVE ANALYSIS</a:t>
          </a:r>
        </a:p>
      </dgm:t>
    </dgm:pt>
    <dgm:pt modelId="{C15AFD48-EF9C-3A4E-A741-2B23E28FB6F3}" type="parTrans" cxnId="{4DEB36C7-BB8A-2749-82E0-1DEAE17521DA}">
      <dgm:prSet/>
      <dgm:spPr/>
      <dgm:t>
        <a:bodyPr/>
        <a:lstStyle/>
        <a:p>
          <a:pPr algn="r"/>
          <a:endParaRPr lang="en-US" sz="2000" b="1">
            <a:solidFill>
              <a:schemeClr val="bg2"/>
            </a:solidFill>
          </a:endParaRPr>
        </a:p>
      </dgm:t>
    </dgm:pt>
    <dgm:pt modelId="{7914B58C-5203-1D44-88C9-3E52D54D6C7F}" type="sibTrans" cxnId="{4DEB36C7-BB8A-2749-82E0-1DEAE17521DA}">
      <dgm:prSet/>
      <dgm:spPr/>
      <dgm:t>
        <a:bodyPr/>
        <a:lstStyle/>
        <a:p>
          <a:pPr algn="r"/>
          <a:endParaRPr lang="en-US" sz="2000" b="1">
            <a:solidFill>
              <a:schemeClr val="bg2"/>
            </a:solidFill>
          </a:endParaRPr>
        </a:p>
      </dgm:t>
    </dgm:pt>
    <dgm:pt modelId="{932A927F-47F3-9D4E-8F04-37E884A7EFAA}">
      <dgm:prSet phldrT="[Text]" custT="1"/>
      <dgm:spPr/>
      <dgm:t>
        <a:bodyPr/>
        <a:lstStyle/>
        <a:p>
          <a:pPr algn="r"/>
          <a:r>
            <a:rPr lang="en-US" sz="2000" b="1" dirty="0">
              <a:solidFill>
                <a:schemeClr val="bg2"/>
              </a:solidFill>
            </a:rPr>
            <a:t>TASK-4: FUTURE PERSPECTIVES</a:t>
          </a:r>
        </a:p>
      </dgm:t>
    </dgm:pt>
    <dgm:pt modelId="{8A8B1BA1-6EE3-EA4E-B7FF-88D1F6FAB337}" type="parTrans" cxnId="{C73BBAEF-7BD9-0248-81ED-9C3817BEF4EE}">
      <dgm:prSet/>
      <dgm:spPr/>
      <dgm:t>
        <a:bodyPr/>
        <a:lstStyle/>
        <a:p>
          <a:pPr algn="r"/>
          <a:endParaRPr lang="en-US" sz="2000" b="1">
            <a:solidFill>
              <a:schemeClr val="bg2"/>
            </a:solidFill>
          </a:endParaRPr>
        </a:p>
      </dgm:t>
    </dgm:pt>
    <dgm:pt modelId="{A3E5ACAF-A3C0-984D-8AFE-2562C1C169AE}" type="sibTrans" cxnId="{C73BBAEF-7BD9-0248-81ED-9C3817BEF4EE}">
      <dgm:prSet/>
      <dgm:spPr/>
      <dgm:t>
        <a:bodyPr/>
        <a:lstStyle/>
        <a:p>
          <a:pPr algn="r"/>
          <a:endParaRPr lang="en-US" sz="2000" b="1">
            <a:solidFill>
              <a:schemeClr val="bg2"/>
            </a:solidFill>
          </a:endParaRPr>
        </a:p>
      </dgm:t>
    </dgm:pt>
    <dgm:pt modelId="{A87AB750-E7C5-BE4C-90C4-ED07A16AA739}">
      <dgm:prSet phldrT="[Text]" custT="1"/>
      <dgm:spPr/>
      <dgm:t>
        <a:bodyPr/>
        <a:lstStyle/>
        <a:p>
          <a:pPr algn="r"/>
          <a:r>
            <a:rPr lang="en-US" sz="2000" b="1" dirty="0">
              <a:solidFill>
                <a:schemeClr val="bg2"/>
              </a:solidFill>
            </a:rPr>
            <a:t>TASK-1A: EXPLORATORY ANALYSIS</a:t>
          </a:r>
        </a:p>
      </dgm:t>
    </dgm:pt>
    <dgm:pt modelId="{550FE1BA-78B9-8D42-8C8B-846C54E79398}" type="sibTrans" cxnId="{BD5E66E9-49A4-FD41-90B7-AE3F07B0CAC7}">
      <dgm:prSet/>
      <dgm:spPr/>
      <dgm:t>
        <a:bodyPr/>
        <a:lstStyle/>
        <a:p>
          <a:pPr algn="r"/>
          <a:endParaRPr lang="en-US" sz="2000" b="1">
            <a:solidFill>
              <a:schemeClr val="bg2"/>
            </a:solidFill>
          </a:endParaRPr>
        </a:p>
      </dgm:t>
    </dgm:pt>
    <dgm:pt modelId="{5596A49F-6D98-AF43-A23E-87EDA5DC4CF5}" type="parTrans" cxnId="{BD5E66E9-49A4-FD41-90B7-AE3F07B0CAC7}">
      <dgm:prSet/>
      <dgm:spPr/>
      <dgm:t>
        <a:bodyPr/>
        <a:lstStyle/>
        <a:p>
          <a:pPr algn="r"/>
          <a:endParaRPr lang="en-US" sz="2000" b="1">
            <a:solidFill>
              <a:schemeClr val="bg2"/>
            </a:solidFill>
          </a:endParaRPr>
        </a:p>
      </dgm:t>
    </dgm:pt>
    <dgm:pt modelId="{CB64F0DB-1E84-BB4E-8356-BEA8D0656991}" type="pres">
      <dgm:prSet presAssocID="{610768FC-5F64-C040-A850-7AF705473AE2}" presName="linearFlow" presStyleCnt="0">
        <dgm:presLayoutVars>
          <dgm:dir/>
          <dgm:resizeHandles val="exact"/>
        </dgm:presLayoutVars>
      </dgm:prSet>
      <dgm:spPr/>
    </dgm:pt>
    <dgm:pt modelId="{7BDB79B8-DF2D-6949-8244-01D508039F1D}" type="pres">
      <dgm:prSet presAssocID="{01C3CF44-D8A1-5144-A920-ECBC33877F63}" presName="composite" presStyleCnt="0"/>
      <dgm:spPr/>
    </dgm:pt>
    <dgm:pt modelId="{71D177EA-1FEB-644A-AD4F-11788AD99674}" type="pres">
      <dgm:prSet presAssocID="{01C3CF44-D8A1-5144-A920-ECBC33877F63}" presName="imgShp" presStyleLbl="fgImgPlace1" presStyleIdx="0" presStyleCnt="8"/>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F0C09A24-1F23-9746-AAE2-CED630F53AFD}" type="pres">
      <dgm:prSet presAssocID="{01C3CF44-D8A1-5144-A920-ECBC33877F63}" presName="txShp" presStyleLbl="node1" presStyleIdx="0" presStyleCnt="8">
        <dgm:presLayoutVars>
          <dgm:bulletEnabled val="1"/>
        </dgm:presLayoutVars>
      </dgm:prSet>
      <dgm:spPr/>
    </dgm:pt>
    <dgm:pt modelId="{62AB82E8-3048-2846-8EBE-123E4AE9B85B}" type="pres">
      <dgm:prSet presAssocID="{353F540F-9A43-E649-8B5D-C06D24AE4C92}" presName="spacing" presStyleCnt="0"/>
      <dgm:spPr/>
    </dgm:pt>
    <dgm:pt modelId="{3CF3F8CD-3D04-5746-A371-C321C7632F5C}" type="pres">
      <dgm:prSet presAssocID="{A87AB750-E7C5-BE4C-90C4-ED07A16AA739}" presName="composite" presStyleCnt="0"/>
      <dgm:spPr/>
    </dgm:pt>
    <dgm:pt modelId="{CCBCB68D-ABDC-5146-BAAF-CE6A8961B3D1}" type="pres">
      <dgm:prSet presAssocID="{A87AB750-E7C5-BE4C-90C4-ED07A16AA739}" presName="imgShp" presStyleLbl="fgImgPlace1" presStyleIdx="1" presStyleCnt="8" custLinFactNeighborY="5079"/>
      <dgm:spPr>
        <a:blipFill rotWithShape="1">
          <a:blip xmlns:r="http://schemas.openxmlformats.org/officeDocument/2006/relationships" r:embed="rId2">
            <a:extLst>
              <a:ext uri="{28A0092B-C50C-407E-A947-70E740481C1C}">
                <a14:useLocalDpi xmlns:a14="http://schemas.microsoft.com/office/drawing/2010/main" val="0"/>
              </a:ext>
            </a:extLst>
          </a:blip>
          <a:srcRect/>
          <a:stretch>
            <a:fillRect/>
          </a:stretch>
        </a:blipFill>
      </dgm:spPr>
    </dgm:pt>
    <dgm:pt modelId="{E7D93490-E8C1-7241-A0D0-7853FDFC3EF8}" type="pres">
      <dgm:prSet presAssocID="{A87AB750-E7C5-BE4C-90C4-ED07A16AA739}" presName="txShp" presStyleLbl="node1" presStyleIdx="1" presStyleCnt="8">
        <dgm:presLayoutVars>
          <dgm:bulletEnabled val="1"/>
        </dgm:presLayoutVars>
      </dgm:prSet>
      <dgm:spPr/>
    </dgm:pt>
    <dgm:pt modelId="{B8547074-07FD-9F47-9BED-5D748F66A7F1}" type="pres">
      <dgm:prSet presAssocID="{550FE1BA-78B9-8D42-8C8B-846C54E79398}" presName="spacing" presStyleCnt="0"/>
      <dgm:spPr/>
    </dgm:pt>
    <dgm:pt modelId="{051686B2-11F8-0148-847C-FB659AEA3EDA}" type="pres">
      <dgm:prSet presAssocID="{9199F721-D957-4A45-86A2-0F13BAFB5700}" presName="composite" presStyleCnt="0"/>
      <dgm:spPr/>
    </dgm:pt>
    <dgm:pt modelId="{BB6530D0-E4C6-CC4F-B98C-E7D4EA08971E}" type="pres">
      <dgm:prSet presAssocID="{9199F721-D957-4A45-86A2-0F13BAFB5700}" presName="imgShp" presStyleLbl="fgImgPlace1" presStyleIdx="2" presStyleCnt="8"/>
      <dgm:spPr>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dgm:spPr>
    </dgm:pt>
    <dgm:pt modelId="{B82CF784-BBF0-F74A-A7B1-AE99590F277F}" type="pres">
      <dgm:prSet presAssocID="{9199F721-D957-4A45-86A2-0F13BAFB5700}" presName="txShp" presStyleLbl="node1" presStyleIdx="2" presStyleCnt="8">
        <dgm:presLayoutVars>
          <dgm:bulletEnabled val="1"/>
        </dgm:presLayoutVars>
      </dgm:prSet>
      <dgm:spPr/>
    </dgm:pt>
    <dgm:pt modelId="{FE667911-4678-AB4D-AC7F-B9607B272DF1}" type="pres">
      <dgm:prSet presAssocID="{BD830C28-41B1-7E46-AC1A-CD2C5F5FFBBC}" presName="spacing" presStyleCnt="0"/>
      <dgm:spPr/>
    </dgm:pt>
    <dgm:pt modelId="{56D9E51F-DE31-D945-A665-AA80C28B61DA}" type="pres">
      <dgm:prSet presAssocID="{1BC10CD8-FC3E-FA41-9CF2-909EEC98CC27}" presName="composite" presStyleCnt="0"/>
      <dgm:spPr/>
    </dgm:pt>
    <dgm:pt modelId="{E96458B9-FD7B-CC45-B5E9-074DEA99DF3A}" type="pres">
      <dgm:prSet presAssocID="{1BC10CD8-FC3E-FA41-9CF2-909EEC98CC27}" presName="imgShp" presStyleLbl="fgImgPlace1" presStyleIdx="3" presStyleCnt="8"/>
      <dgm:spPr>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dgm:spPr>
    </dgm:pt>
    <dgm:pt modelId="{7A6A6ECD-5B36-3444-9C66-1A50EB74A3AE}" type="pres">
      <dgm:prSet presAssocID="{1BC10CD8-FC3E-FA41-9CF2-909EEC98CC27}" presName="txShp" presStyleLbl="node1" presStyleIdx="3" presStyleCnt="8">
        <dgm:presLayoutVars>
          <dgm:bulletEnabled val="1"/>
        </dgm:presLayoutVars>
      </dgm:prSet>
      <dgm:spPr/>
    </dgm:pt>
    <dgm:pt modelId="{2C42A521-9862-7A47-A976-B4C20105332C}" type="pres">
      <dgm:prSet presAssocID="{BF33AF73-AD66-2348-A79B-B02A4115FE3B}" presName="spacing" presStyleCnt="0"/>
      <dgm:spPr/>
    </dgm:pt>
    <dgm:pt modelId="{A18C6AEC-9769-C345-967A-623C56EB3ECD}" type="pres">
      <dgm:prSet presAssocID="{9A0083A0-F39A-4341-89AB-F4F48EAB4819}" presName="composite" presStyleCnt="0"/>
      <dgm:spPr/>
    </dgm:pt>
    <dgm:pt modelId="{9CE81CF5-6415-EF44-8173-E0CF8B66CE86}" type="pres">
      <dgm:prSet presAssocID="{9A0083A0-F39A-4341-89AB-F4F48EAB4819}" presName="imgShp" presStyleLbl="fgImgPlace1" presStyleIdx="4" presStyleCnt="8"/>
      <dgm:spPr>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dgm:spPr>
    </dgm:pt>
    <dgm:pt modelId="{044E67EB-6628-F04A-9252-20D82D80C89E}" type="pres">
      <dgm:prSet presAssocID="{9A0083A0-F39A-4341-89AB-F4F48EAB4819}" presName="txShp" presStyleLbl="node1" presStyleIdx="4" presStyleCnt="8">
        <dgm:presLayoutVars>
          <dgm:bulletEnabled val="1"/>
        </dgm:presLayoutVars>
      </dgm:prSet>
      <dgm:spPr/>
    </dgm:pt>
    <dgm:pt modelId="{E84DC472-51D0-5646-A92A-5C273EE24EC7}" type="pres">
      <dgm:prSet presAssocID="{5EC37D54-6ED9-994F-9F30-0E441C93E261}" presName="spacing" presStyleCnt="0"/>
      <dgm:spPr/>
    </dgm:pt>
    <dgm:pt modelId="{D03C6A8B-4FAE-8148-A82D-8F2D11612A7F}" type="pres">
      <dgm:prSet presAssocID="{55BEE7CB-6005-C347-B8FF-255D09308A0F}" presName="composite" presStyleCnt="0"/>
      <dgm:spPr/>
    </dgm:pt>
    <dgm:pt modelId="{CE0B8F90-A6AC-AC4A-9AF7-C3261B648215}" type="pres">
      <dgm:prSet presAssocID="{55BEE7CB-6005-C347-B8FF-255D09308A0F}" presName="imgShp" presStyleLbl="fgImgPlace1" presStyleIdx="5" presStyleCnt="8"/>
      <dgm:spPr>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dgm:spPr>
    </dgm:pt>
    <dgm:pt modelId="{B624C5AC-6139-4641-A088-79C5E0D3E722}" type="pres">
      <dgm:prSet presAssocID="{55BEE7CB-6005-C347-B8FF-255D09308A0F}" presName="txShp" presStyleLbl="node1" presStyleIdx="5" presStyleCnt="8">
        <dgm:presLayoutVars>
          <dgm:bulletEnabled val="1"/>
        </dgm:presLayoutVars>
      </dgm:prSet>
      <dgm:spPr/>
    </dgm:pt>
    <dgm:pt modelId="{4EB68D67-38AE-8947-8225-A18047E25C1E}" type="pres">
      <dgm:prSet presAssocID="{E0867606-A1E7-0A45-960F-2562F0A817BE}" presName="spacing" presStyleCnt="0"/>
      <dgm:spPr/>
    </dgm:pt>
    <dgm:pt modelId="{F4BDE242-C86D-7F43-B8AD-4BDB647E36CF}" type="pres">
      <dgm:prSet presAssocID="{AD8D1A59-6E50-6D47-A2AC-F8B1888B0F45}" presName="composite" presStyleCnt="0"/>
      <dgm:spPr/>
    </dgm:pt>
    <dgm:pt modelId="{FC5CC1A2-CC28-354D-BBCE-2E415CFE2648}" type="pres">
      <dgm:prSet presAssocID="{AD8D1A59-6E50-6D47-A2AC-F8B1888B0F45}" presName="imgShp" presStyleLbl="fgImgPlace1" presStyleIdx="6" presStyleCnt="8"/>
      <dgm:spPr>
        <a:blipFill>
          <a:blip xmlns:r="http://schemas.openxmlformats.org/officeDocument/2006/relationships" r:embed="rId5">
            <a:extLst>
              <a:ext uri="{28A0092B-C50C-407E-A947-70E740481C1C}">
                <a14:useLocalDpi xmlns:a14="http://schemas.microsoft.com/office/drawing/2010/main" val="0"/>
              </a:ext>
            </a:extLst>
          </a:blip>
          <a:srcRect/>
          <a:stretch>
            <a:fillRect/>
          </a:stretch>
        </a:blipFill>
      </dgm:spPr>
    </dgm:pt>
    <dgm:pt modelId="{AFD4BE19-2E46-D54C-9EE9-0A9EBEBC68D4}" type="pres">
      <dgm:prSet presAssocID="{AD8D1A59-6E50-6D47-A2AC-F8B1888B0F45}" presName="txShp" presStyleLbl="node1" presStyleIdx="6" presStyleCnt="8">
        <dgm:presLayoutVars>
          <dgm:bulletEnabled val="1"/>
        </dgm:presLayoutVars>
      </dgm:prSet>
      <dgm:spPr/>
    </dgm:pt>
    <dgm:pt modelId="{FFE6AD80-EAA3-5F4D-AF5C-6F906B8FF30F}" type="pres">
      <dgm:prSet presAssocID="{7914B58C-5203-1D44-88C9-3E52D54D6C7F}" presName="spacing" presStyleCnt="0"/>
      <dgm:spPr/>
    </dgm:pt>
    <dgm:pt modelId="{6D2AC5B8-E1D2-A245-AFB6-F5C41E3F0FAB}" type="pres">
      <dgm:prSet presAssocID="{932A927F-47F3-9D4E-8F04-37E884A7EFAA}" presName="composite" presStyleCnt="0"/>
      <dgm:spPr/>
    </dgm:pt>
    <dgm:pt modelId="{9401EC89-CDAB-F542-B48F-7F9C28A2CEB4}" type="pres">
      <dgm:prSet presAssocID="{932A927F-47F3-9D4E-8F04-37E884A7EFAA}" presName="imgShp" presStyleLbl="fgImgPlace1" presStyleIdx="7" presStyleCnt="8"/>
      <dgm:spPr>
        <a:blipFill>
          <a:blip xmlns:r="http://schemas.openxmlformats.org/officeDocument/2006/relationships" r:embed="rId6">
            <a:extLst>
              <a:ext uri="{28A0092B-C50C-407E-A947-70E740481C1C}">
                <a14:useLocalDpi xmlns:a14="http://schemas.microsoft.com/office/drawing/2010/main" val="0"/>
              </a:ext>
            </a:extLst>
          </a:blip>
          <a:srcRect/>
          <a:stretch>
            <a:fillRect/>
          </a:stretch>
        </a:blipFill>
      </dgm:spPr>
    </dgm:pt>
    <dgm:pt modelId="{3C0EF8F9-E97B-6848-BDDE-6C3DC6A24DB7}" type="pres">
      <dgm:prSet presAssocID="{932A927F-47F3-9D4E-8F04-37E884A7EFAA}" presName="txShp" presStyleLbl="node1" presStyleIdx="7" presStyleCnt="8">
        <dgm:presLayoutVars>
          <dgm:bulletEnabled val="1"/>
        </dgm:presLayoutVars>
      </dgm:prSet>
      <dgm:spPr/>
    </dgm:pt>
  </dgm:ptLst>
  <dgm:cxnLst>
    <dgm:cxn modelId="{9F134A46-3834-8C48-AE31-302FBCE824BC}" srcId="{610768FC-5F64-C040-A850-7AF705473AE2}" destId="{1BC10CD8-FC3E-FA41-9CF2-909EEC98CC27}" srcOrd="3" destOrd="0" parTransId="{1485C54F-6B64-2945-B4B4-98FD2C531250}" sibTransId="{BF33AF73-AD66-2348-A79B-B02A4115FE3B}"/>
    <dgm:cxn modelId="{82AFF34C-F3EB-A94E-8CBD-AE46EF93D131}" srcId="{610768FC-5F64-C040-A850-7AF705473AE2}" destId="{01C3CF44-D8A1-5144-A920-ECBC33877F63}" srcOrd="0" destOrd="0" parTransId="{11A1EAB4-D458-114F-A2E6-B77C5452824A}" sibTransId="{353F540F-9A43-E649-8B5D-C06D24AE4C92}"/>
    <dgm:cxn modelId="{96D2E862-A987-5440-B4FD-A98E378D1748}" type="presOf" srcId="{01C3CF44-D8A1-5144-A920-ECBC33877F63}" destId="{F0C09A24-1F23-9746-AAE2-CED630F53AFD}" srcOrd="0" destOrd="0" presId="urn:microsoft.com/office/officeart/2005/8/layout/vList3"/>
    <dgm:cxn modelId="{247A5F70-7239-7045-87E6-8C5F70ACEA51}" type="presOf" srcId="{AD8D1A59-6E50-6D47-A2AC-F8B1888B0F45}" destId="{AFD4BE19-2E46-D54C-9EE9-0A9EBEBC68D4}" srcOrd="0" destOrd="0" presId="urn:microsoft.com/office/officeart/2005/8/layout/vList3"/>
    <dgm:cxn modelId="{1CA43C7A-ED5A-BC4C-9AE3-800D148017CB}" type="presOf" srcId="{610768FC-5F64-C040-A850-7AF705473AE2}" destId="{CB64F0DB-1E84-BB4E-8356-BEA8D0656991}" srcOrd="0" destOrd="0" presId="urn:microsoft.com/office/officeart/2005/8/layout/vList3"/>
    <dgm:cxn modelId="{9C12007C-6326-2249-9DFB-420C80B1B309}" type="presOf" srcId="{A87AB750-E7C5-BE4C-90C4-ED07A16AA739}" destId="{E7D93490-E8C1-7241-A0D0-7853FDFC3EF8}" srcOrd="0" destOrd="0" presId="urn:microsoft.com/office/officeart/2005/8/layout/vList3"/>
    <dgm:cxn modelId="{733E4E81-4392-C745-BE55-211EBC589239}" type="presOf" srcId="{1BC10CD8-FC3E-FA41-9CF2-909EEC98CC27}" destId="{7A6A6ECD-5B36-3444-9C66-1A50EB74A3AE}" srcOrd="0" destOrd="0" presId="urn:microsoft.com/office/officeart/2005/8/layout/vList3"/>
    <dgm:cxn modelId="{29294885-ED9B-0141-A904-FD616C0D7F57}" type="presOf" srcId="{9199F721-D957-4A45-86A2-0F13BAFB5700}" destId="{B82CF784-BBF0-F74A-A7B1-AE99590F277F}" srcOrd="0" destOrd="0" presId="urn:microsoft.com/office/officeart/2005/8/layout/vList3"/>
    <dgm:cxn modelId="{21D3F993-789C-504C-8671-E6323AF731A7}" srcId="{610768FC-5F64-C040-A850-7AF705473AE2}" destId="{55BEE7CB-6005-C347-B8FF-255D09308A0F}" srcOrd="5" destOrd="0" parTransId="{7DB55212-EAAB-DF40-A419-777D161C3EEC}" sibTransId="{E0867606-A1E7-0A45-960F-2562F0A817BE}"/>
    <dgm:cxn modelId="{8A6482AB-9C90-2146-B0E9-2DD9C3396042}" type="presOf" srcId="{9A0083A0-F39A-4341-89AB-F4F48EAB4819}" destId="{044E67EB-6628-F04A-9252-20D82D80C89E}" srcOrd="0" destOrd="0" presId="urn:microsoft.com/office/officeart/2005/8/layout/vList3"/>
    <dgm:cxn modelId="{B277F4B5-D630-0645-8A9B-727B4C1D03A8}" type="presOf" srcId="{932A927F-47F3-9D4E-8F04-37E884A7EFAA}" destId="{3C0EF8F9-E97B-6848-BDDE-6C3DC6A24DB7}" srcOrd="0" destOrd="0" presId="urn:microsoft.com/office/officeart/2005/8/layout/vList3"/>
    <dgm:cxn modelId="{8EF079C6-1599-6A42-ACF2-DF802CAA7A3D}" type="presOf" srcId="{55BEE7CB-6005-C347-B8FF-255D09308A0F}" destId="{B624C5AC-6139-4641-A088-79C5E0D3E722}" srcOrd="0" destOrd="0" presId="urn:microsoft.com/office/officeart/2005/8/layout/vList3"/>
    <dgm:cxn modelId="{4DEB36C7-BB8A-2749-82E0-1DEAE17521DA}" srcId="{610768FC-5F64-C040-A850-7AF705473AE2}" destId="{AD8D1A59-6E50-6D47-A2AC-F8B1888B0F45}" srcOrd="6" destOrd="0" parTransId="{C15AFD48-EF9C-3A4E-A741-2B23E28FB6F3}" sibTransId="{7914B58C-5203-1D44-88C9-3E52D54D6C7F}"/>
    <dgm:cxn modelId="{59AF2ECF-229B-E74C-A9C5-68666891303A}" srcId="{610768FC-5F64-C040-A850-7AF705473AE2}" destId="{9199F721-D957-4A45-86A2-0F13BAFB5700}" srcOrd="2" destOrd="0" parTransId="{33DB9B1C-5587-CA44-A826-B4A82245D512}" sibTransId="{BD830C28-41B1-7E46-AC1A-CD2C5F5FFBBC}"/>
    <dgm:cxn modelId="{BD5E66E9-49A4-FD41-90B7-AE3F07B0CAC7}" srcId="{610768FC-5F64-C040-A850-7AF705473AE2}" destId="{A87AB750-E7C5-BE4C-90C4-ED07A16AA739}" srcOrd="1" destOrd="0" parTransId="{5596A49F-6D98-AF43-A23E-87EDA5DC4CF5}" sibTransId="{550FE1BA-78B9-8D42-8C8B-846C54E79398}"/>
    <dgm:cxn modelId="{C73BBAEF-7BD9-0248-81ED-9C3817BEF4EE}" srcId="{610768FC-5F64-C040-A850-7AF705473AE2}" destId="{932A927F-47F3-9D4E-8F04-37E884A7EFAA}" srcOrd="7" destOrd="0" parTransId="{8A8B1BA1-6EE3-EA4E-B7FF-88D1F6FAB337}" sibTransId="{A3E5ACAF-A3C0-984D-8AFE-2562C1C169AE}"/>
    <dgm:cxn modelId="{8E833EF3-24D4-D842-80BF-B34F143EEFAA}" srcId="{610768FC-5F64-C040-A850-7AF705473AE2}" destId="{9A0083A0-F39A-4341-89AB-F4F48EAB4819}" srcOrd="4" destOrd="0" parTransId="{35B86A37-6968-924B-95A3-5BE3C058ADE8}" sibTransId="{5EC37D54-6ED9-994F-9F30-0E441C93E261}"/>
    <dgm:cxn modelId="{78F19B35-94C6-2346-953B-26E9ADAFC193}" type="presParOf" srcId="{CB64F0DB-1E84-BB4E-8356-BEA8D0656991}" destId="{7BDB79B8-DF2D-6949-8244-01D508039F1D}" srcOrd="0" destOrd="0" presId="urn:microsoft.com/office/officeart/2005/8/layout/vList3"/>
    <dgm:cxn modelId="{9880BB95-CA30-F24D-ABE9-3F0E476B6DDB}" type="presParOf" srcId="{7BDB79B8-DF2D-6949-8244-01D508039F1D}" destId="{71D177EA-1FEB-644A-AD4F-11788AD99674}" srcOrd="0" destOrd="0" presId="urn:microsoft.com/office/officeart/2005/8/layout/vList3"/>
    <dgm:cxn modelId="{FDD75C6F-DDD5-7140-A412-AAD936C5277C}" type="presParOf" srcId="{7BDB79B8-DF2D-6949-8244-01D508039F1D}" destId="{F0C09A24-1F23-9746-AAE2-CED630F53AFD}" srcOrd="1" destOrd="0" presId="urn:microsoft.com/office/officeart/2005/8/layout/vList3"/>
    <dgm:cxn modelId="{8F588467-DA07-C74F-BE4F-5FA3B93444FE}" type="presParOf" srcId="{CB64F0DB-1E84-BB4E-8356-BEA8D0656991}" destId="{62AB82E8-3048-2846-8EBE-123E4AE9B85B}" srcOrd="1" destOrd="0" presId="urn:microsoft.com/office/officeart/2005/8/layout/vList3"/>
    <dgm:cxn modelId="{69A563B3-5095-CC44-A039-A9C689709F68}" type="presParOf" srcId="{CB64F0DB-1E84-BB4E-8356-BEA8D0656991}" destId="{3CF3F8CD-3D04-5746-A371-C321C7632F5C}" srcOrd="2" destOrd="0" presId="urn:microsoft.com/office/officeart/2005/8/layout/vList3"/>
    <dgm:cxn modelId="{1867D879-65E1-7546-96AD-033DD2411EA5}" type="presParOf" srcId="{3CF3F8CD-3D04-5746-A371-C321C7632F5C}" destId="{CCBCB68D-ABDC-5146-BAAF-CE6A8961B3D1}" srcOrd="0" destOrd="0" presId="urn:microsoft.com/office/officeart/2005/8/layout/vList3"/>
    <dgm:cxn modelId="{1B5C5447-D051-B84A-9B1D-8333476D3FAE}" type="presParOf" srcId="{3CF3F8CD-3D04-5746-A371-C321C7632F5C}" destId="{E7D93490-E8C1-7241-A0D0-7853FDFC3EF8}" srcOrd="1" destOrd="0" presId="urn:microsoft.com/office/officeart/2005/8/layout/vList3"/>
    <dgm:cxn modelId="{E3802AD9-B195-AB48-B1B2-AFB5B2159D93}" type="presParOf" srcId="{CB64F0DB-1E84-BB4E-8356-BEA8D0656991}" destId="{B8547074-07FD-9F47-9BED-5D748F66A7F1}" srcOrd="3" destOrd="0" presId="urn:microsoft.com/office/officeart/2005/8/layout/vList3"/>
    <dgm:cxn modelId="{B08DB783-155D-9649-895D-50317991D928}" type="presParOf" srcId="{CB64F0DB-1E84-BB4E-8356-BEA8D0656991}" destId="{051686B2-11F8-0148-847C-FB659AEA3EDA}" srcOrd="4" destOrd="0" presId="urn:microsoft.com/office/officeart/2005/8/layout/vList3"/>
    <dgm:cxn modelId="{19792699-BE2F-E64A-BCDE-B5E0D20DEF0A}" type="presParOf" srcId="{051686B2-11F8-0148-847C-FB659AEA3EDA}" destId="{BB6530D0-E4C6-CC4F-B98C-E7D4EA08971E}" srcOrd="0" destOrd="0" presId="urn:microsoft.com/office/officeart/2005/8/layout/vList3"/>
    <dgm:cxn modelId="{837A2916-DC92-314D-B3F1-B65A0FC65856}" type="presParOf" srcId="{051686B2-11F8-0148-847C-FB659AEA3EDA}" destId="{B82CF784-BBF0-F74A-A7B1-AE99590F277F}" srcOrd="1" destOrd="0" presId="urn:microsoft.com/office/officeart/2005/8/layout/vList3"/>
    <dgm:cxn modelId="{F5D14646-2ADF-0349-B8E7-454212F3C1E7}" type="presParOf" srcId="{CB64F0DB-1E84-BB4E-8356-BEA8D0656991}" destId="{FE667911-4678-AB4D-AC7F-B9607B272DF1}" srcOrd="5" destOrd="0" presId="urn:microsoft.com/office/officeart/2005/8/layout/vList3"/>
    <dgm:cxn modelId="{0989A9F1-F1B2-2341-A552-B5DA709577E8}" type="presParOf" srcId="{CB64F0DB-1E84-BB4E-8356-BEA8D0656991}" destId="{56D9E51F-DE31-D945-A665-AA80C28B61DA}" srcOrd="6" destOrd="0" presId="urn:microsoft.com/office/officeart/2005/8/layout/vList3"/>
    <dgm:cxn modelId="{DB51D8C9-508F-F14B-8EC9-540552AFFBB6}" type="presParOf" srcId="{56D9E51F-DE31-D945-A665-AA80C28B61DA}" destId="{E96458B9-FD7B-CC45-B5E9-074DEA99DF3A}" srcOrd="0" destOrd="0" presId="urn:microsoft.com/office/officeart/2005/8/layout/vList3"/>
    <dgm:cxn modelId="{3ABCB459-56F3-CD4E-90B8-F0114C3A2F39}" type="presParOf" srcId="{56D9E51F-DE31-D945-A665-AA80C28B61DA}" destId="{7A6A6ECD-5B36-3444-9C66-1A50EB74A3AE}" srcOrd="1" destOrd="0" presId="urn:microsoft.com/office/officeart/2005/8/layout/vList3"/>
    <dgm:cxn modelId="{EEDA89B2-08A8-CD4D-B322-B6DFC3E00DF2}" type="presParOf" srcId="{CB64F0DB-1E84-BB4E-8356-BEA8D0656991}" destId="{2C42A521-9862-7A47-A976-B4C20105332C}" srcOrd="7" destOrd="0" presId="urn:microsoft.com/office/officeart/2005/8/layout/vList3"/>
    <dgm:cxn modelId="{384E6F0E-5D99-E146-8028-8C6F05E1BF5D}" type="presParOf" srcId="{CB64F0DB-1E84-BB4E-8356-BEA8D0656991}" destId="{A18C6AEC-9769-C345-967A-623C56EB3ECD}" srcOrd="8" destOrd="0" presId="urn:microsoft.com/office/officeart/2005/8/layout/vList3"/>
    <dgm:cxn modelId="{A1210790-99BF-7546-89CB-6773FF5A2E69}" type="presParOf" srcId="{A18C6AEC-9769-C345-967A-623C56EB3ECD}" destId="{9CE81CF5-6415-EF44-8173-E0CF8B66CE86}" srcOrd="0" destOrd="0" presId="urn:microsoft.com/office/officeart/2005/8/layout/vList3"/>
    <dgm:cxn modelId="{9A63D91F-5A3F-6243-8CD3-35FFAEFE0A30}" type="presParOf" srcId="{A18C6AEC-9769-C345-967A-623C56EB3ECD}" destId="{044E67EB-6628-F04A-9252-20D82D80C89E}" srcOrd="1" destOrd="0" presId="urn:microsoft.com/office/officeart/2005/8/layout/vList3"/>
    <dgm:cxn modelId="{D54CEE42-044A-9842-A1FF-837A3DC2BE42}" type="presParOf" srcId="{CB64F0DB-1E84-BB4E-8356-BEA8D0656991}" destId="{E84DC472-51D0-5646-A92A-5C273EE24EC7}" srcOrd="9" destOrd="0" presId="urn:microsoft.com/office/officeart/2005/8/layout/vList3"/>
    <dgm:cxn modelId="{08D943E0-4353-774F-9103-6652C910162B}" type="presParOf" srcId="{CB64F0DB-1E84-BB4E-8356-BEA8D0656991}" destId="{D03C6A8B-4FAE-8148-A82D-8F2D11612A7F}" srcOrd="10" destOrd="0" presId="urn:microsoft.com/office/officeart/2005/8/layout/vList3"/>
    <dgm:cxn modelId="{D954275C-0A2A-3D4D-9ACF-F6945CC1D64C}" type="presParOf" srcId="{D03C6A8B-4FAE-8148-A82D-8F2D11612A7F}" destId="{CE0B8F90-A6AC-AC4A-9AF7-C3261B648215}" srcOrd="0" destOrd="0" presId="urn:microsoft.com/office/officeart/2005/8/layout/vList3"/>
    <dgm:cxn modelId="{15BC7109-933E-2546-A52B-6C54CA559AB6}" type="presParOf" srcId="{D03C6A8B-4FAE-8148-A82D-8F2D11612A7F}" destId="{B624C5AC-6139-4641-A088-79C5E0D3E722}" srcOrd="1" destOrd="0" presId="urn:microsoft.com/office/officeart/2005/8/layout/vList3"/>
    <dgm:cxn modelId="{94A7916D-CD2A-8941-9D81-25ACA0CCC05B}" type="presParOf" srcId="{CB64F0DB-1E84-BB4E-8356-BEA8D0656991}" destId="{4EB68D67-38AE-8947-8225-A18047E25C1E}" srcOrd="11" destOrd="0" presId="urn:microsoft.com/office/officeart/2005/8/layout/vList3"/>
    <dgm:cxn modelId="{54E803FE-8B41-EC4D-A919-DCC5D56A91DC}" type="presParOf" srcId="{CB64F0DB-1E84-BB4E-8356-BEA8D0656991}" destId="{F4BDE242-C86D-7F43-B8AD-4BDB647E36CF}" srcOrd="12" destOrd="0" presId="urn:microsoft.com/office/officeart/2005/8/layout/vList3"/>
    <dgm:cxn modelId="{B6285C74-3395-1B41-A88A-1E4170CEC287}" type="presParOf" srcId="{F4BDE242-C86D-7F43-B8AD-4BDB647E36CF}" destId="{FC5CC1A2-CC28-354D-BBCE-2E415CFE2648}" srcOrd="0" destOrd="0" presId="urn:microsoft.com/office/officeart/2005/8/layout/vList3"/>
    <dgm:cxn modelId="{72B60BB7-9296-9244-BBBA-90C0D8601D40}" type="presParOf" srcId="{F4BDE242-C86D-7F43-B8AD-4BDB647E36CF}" destId="{AFD4BE19-2E46-D54C-9EE9-0A9EBEBC68D4}" srcOrd="1" destOrd="0" presId="urn:microsoft.com/office/officeart/2005/8/layout/vList3"/>
    <dgm:cxn modelId="{AFCE3D90-BA96-0D42-96DB-39BAF102ADAF}" type="presParOf" srcId="{CB64F0DB-1E84-BB4E-8356-BEA8D0656991}" destId="{FFE6AD80-EAA3-5F4D-AF5C-6F906B8FF30F}" srcOrd="13" destOrd="0" presId="urn:microsoft.com/office/officeart/2005/8/layout/vList3"/>
    <dgm:cxn modelId="{E1A30473-4100-F549-875F-0C4BBDA61AE6}" type="presParOf" srcId="{CB64F0DB-1E84-BB4E-8356-BEA8D0656991}" destId="{6D2AC5B8-E1D2-A245-AFB6-F5C41E3F0FAB}" srcOrd="14" destOrd="0" presId="urn:microsoft.com/office/officeart/2005/8/layout/vList3"/>
    <dgm:cxn modelId="{53EF5BBF-FDF4-8549-8988-BBFCD21D3E88}" type="presParOf" srcId="{6D2AC5B8-E1D2-A245-AFB6-F5C41E3F0FAB}" destId="{9401EC89-CDAB-F542-B48F-7F9C28A2CEB4}" srcOrd="0" destOrd="0" presId="urn:microsoft.com/office/officeart/2005/8/layout/vList3"/>
    <dgm:cxn modelId="{B65D1D55-DE38-4349-80E4-1ECF6D1809B5}" type="presParOf" srcId="{6D2AC5B8-E1D2-A245-AFB6-F5C41E3F0FAB}" destId="{3C0EF8F9-E97B-6848-BDDE-6C3DC6A24DB7}"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C09A24-1F23-9746-AAE2-CED630F53AFD}">
      <dsp:nvSpPr>
        <dsp:cNvPr id="0" name=""/>
        <dsp:cNvSpPr/>
      </dsp:nvSpPr>
      <dsp:spPr>
        <a:xfrm rot="10800000">
          <a:off x="2087744" y="4769"/>
          <a:ext cx="7770736" cy="521816"/>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0107" tIns="76200" rIns="142240" bIns="76200" numCol="1" spcCol="1270" anchor="ctr" anchorCtr="0">
          <a:noAutofit/>
        </a:bodyPr>
        <a:lstStyle/>
        <a:p>
          <a:pPr marL="0" lvl="0" indent="0" algn="r" defTabSz="889000">
            <a:lnSpc>
              <a:spcPct val="90000"/>
            </a:lnSpc>
            <a:spcBef>
              <a:spcPct val="0"/>
            </a:spcBef>
            <a:spcAft>
              <a:spcPct val="35000"/>
            </a:spcAft>
            <a:buNone/>
          </a:pPr>
          <a:r>
            <a:rPr lang="en-US" sz="2000" b="1" kern="1200" dirty="0">
              <a:solidFill>
                <a:schemeClr val="bg2"/>
              </a:solidFill>
            </a:rPr>
            <a:t>KEY ASPECTS</a:t>
          </a:r>
        </a:p>
      </dsp:txBody>
      <dsp:txXfrm rot="10800000">
        <a:off x="2218198" y="4769"/>
        <a:ext cx="7640282" cy="521816"/>
      </dsp:txXfrm>
    </dsp:sp>
    <dsp:sp modelId="{71D177EA-1FEB-644A-AD4F-11788AD99674}">
      <dsp:nvSpPr>
        <dsp:cNvPr id="0" name=""/>
        <dsp:cNvSpPr/>
      </dsp:nvSpPr>
      <dsp:spPr>
        <a:xfrm>
          <a:off x="1826836" y="4769"/>
          <a:ext cx="521816" cy="521816"/>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7D93490-E8C1-7241-A0D0-7853FDFC3EF8}">
      <dsp:nvSpPr>
        <dsp:cNvPr id="0" name=""/>
        <dsp:cNvSpPr/>
      </dsp:nvSpPr>
      <dsp:spPr>
        <a:xfrm rot="10800000">
          <a:off x="2087744" y="682352"/>
          <a:ext cx="7770736" cy="521816"/>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0107" tIns="76200" rIns="142240" bIns="76200" numCol="1" spcCol="1270" anchor="ctr" anchorCtr="0">
          <a:noAutofit/>
        </a:bodyPr>
        <a:lstStyle/>
        <a:p>
          <a:pPr marL="0" lvl="0" indent="0" algn="r" defTabSz="889000">
            <a:lnSpc>
              <a:spcPct val="90000"/>
            </a:lnSpc>
            <a:spcBef>
              <a:spcPct val="0"/>
            </a:spcBef>
            <a:spcAft>
              <a:spcPct val="35000"/>
            </a:spcAft>
            <a:buNone/>
          </a:pPr>
          <a:r>
            <a:rPr lang="en-US" sz="2000" b="1" kern="1200" dirty="0">
              <a:solidFill>
                <a:schemeClr val="bg2"/>
              </a:solidFill>
            </a:rPr>
            <a:t>TASK-1A: EXPLORATORY ANALYSIS</a:t>
          </a:r>
        </a:p>
      </dsp:txBody>
      <dsp:txXfrm rot="10800000">
        <a:off x="2218198" y="682352"/>
        <a:ext cx="7640282" cy="521816"/>
      </dsp:txXfrm>
    </dsp:sp>
    <dsp:sp modelId="{CCBCB68D-ABDC-5146-BAAF-CE6A8961B3D1}">
      <dsp:nvSpPr>
        <dsp:cNvPr id="0" name=""/>
        <dsp:cNvSpPr/>
      </dsp:nvSpPr>
      <dsp:spPr>
        <a:xfrm>
          <a:off x="1826836" y="708855"/>
          <a:ext cx="521816" cy="521816"/>
        </a:xfrm>
        <a:prstGeom prst="ellipse">
          <a:avLst/>
        </a:prstGeom>
        <a:blipFill rotWithShape="1">
          <a:blip xmlns:r="http://schemas.openxmlformats.org/officeDocument/2006/relationships" r:embed="rId2">
            <a:extLst>
              <a:ext uri="{28A0092B-C50C-407E-A947-70E740481C1C}">
                <a14:useLocalDpi xmlns:a14="http://schemas.microsoft.com/office/drawing/2010/main" val="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82CF784-BBF0-F74A-A7B1-AE99590F277F}">
      <dsp:nvSpPr>
        <dsp:cNvPr id="0" name=""/>
        <dsp:cNvSpPr/>
      </dsp:nvSpPr>
      <dsp:spPr>
        <a:xfrm rot="10800000">
          <a:off x="2087744" y="1359935"/>
          <a:ext cx="7770736" cy="521816"/>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0107" tIns="76200" rIns="142240" bIns="76200" numCol="1" spcCol="1270" anchor="ctr" anchorCtr="0">
          <a:noAutofit/>
        </a:bodyPr>
        <a:lstStyle/>
        <a:p>
          <a:pPr marL="0" lvl="0" indent="0" algn="r" defTabSz="889000">
            <a:lnSpc>
              <a:spcPct val="90000"/>
            </a:lnSpc>
            <a:spcBef>
              <a:spcPct val="0"/>
            </a:spcBef>
            <a:spcAft>
              <a:spcPct val="35000"/>
            </a:spcAft>
            <a:buNone/>
          </a:pPr>
          <a:r>
            <a:rPr lang="en-US" sz="2000" b="1" kern="1200" dirty="0">
              <a:solidFill>
                <a:schemeClr val="bg2"/>
              </a:solidFill>
            </a:rPr>
            <a:t>TASK-1B: TEST-TRAIN SPLIT &amp; SMOT</a:t>
          </a:r>
        </a:p>
      </dsp:txBody>
      <dsp:txXfrm rot="10800000">
        <a:off x="2218198" y="1359935"/>
        <a:ext cx="7640282" cy="521816"/>
      </dsp:txXfrm>
    </dsp:sp>
    <dsp:sp modelId="{BB6530D0-E4C6-CC4F-B98C-E7D4EA08971E}">
      <dsp:nvSpPr>
        <dsp:cNvPr id="0" name=""/>
        <dsp:cNvSpPr/>
      </dsp:nvSpPr>
      <dsp:spPr>
        <a:xfrm>
          <a:off x="1826836" y="1359935"/>
          <a:ext cx="521816" cy="521816"/>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A6A6ECD-5B36-3444-9C66-1A50EB74A3AE}">
      <dsp:nvSpPr>
        <dsp:cNvPr id="0" name=""/>
        <dsp:cNvSpPr/>
      </dsp:nvSpPr>
      <dsp:spPr>
        <a:xfrm rot="10800000">
          <a:off x="2087744" y="2037518"/>
          <a:ext cx="7770736" cy="521816"/>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0107" tIns="76200" rIns="142240" bIns="76200" numCol="1" spcCol="1270" anchor="ctr" anchorCtr="0">
          <a:noAutofit/>
        </a:bodyPr>
        <a:lstStyle/>
        <a:p>
          <a:pPr marL="0" lvl="0" indent="0" algn="r" defTabSz="889000">
            <a:lnSpc>
              <a:spcPct val="90000"/>
            </a:lnSpc>
            <a:spcBef>
              <a:spcPct val="0"/>
            </a:spcBef>
            <a:spcAft>
              <a:spcPct val="35000"/>
            </a:spcAft>
            <a:buNone/>
          </a:pPr>
          <a:r>
            <a:rPr lang="en-US" sz="2000" b="1" kern="1200" dirty="0">
              <a:solidFill>
                <a:schemeClr val="bg2"/>
              </a:solidFill>
            </a:rPr>
            <a:t>TASK-2: LOGISTIC REGRESSION</a:t>
          </a:r>
        </a:p>
      </dsp:txBody>
      <dsp:txXfrm rot="10800000">
        <a:off x="2218198" y="2037518"/>
        <a:ext cx="7640282" cy="521816"/>
      </dsp:txXfrm>
    </dsp:sp>
    <dsp:sp modelId="{E96458B9-FD7B-CC45-B5E9-074DEA99DF3A}">
      <dsp:nvSpPr>
        <dsp:cNvPr id="0" name=""/>
        <dsp:cNvSpPr/>
      </dsp:nvSpPr>
      <dsp:spPr>
        <a:xfrm>
          <a:off x="1826836" y="2037518"/>
          <a:ext cx="521816" cy="521816"/>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44E67EB-6628-F04A-9252-20D82D80C89E}">
      <dsp:nvSpPr>
        <dsp:cNvPr id="0" name=""/>
        <dsp:cNvSpPr/>
      </dsp:nvSpPr>
      <dsp:spPr>
        <a:xfrm rot="10800000">
          <a:off x="2087744" y="2715101"/>
          <a:ext cx="7770736" cy="521816"/>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0107" tIns="76200" rIns="142240" bIns="76200" numCol="1" spcCol="1270" anchor="ctr" anchorCtr="0">
          <a:noAutofit/>
        </a:bodyPr>
        <a:lstStyle/>
        <a:p>
          <a:pPr marL="0" lvl="0" indent="0" algn="r" defTabSz="889000">
            <a:lnSpc>
              <a:spcPct val="90000"/>
            </a:lnSpc>
            <a:spcBef>
              <a:spcPct val="0"/>
            </a:spcBef>
            <a:spcAft>
              <a:spcPct val="35000"/>
            </a:spcAft>
            <a:buNone/>
          </a:pPr>
          <a:r>
            <a:rPr lang="en-US" sz="2000" b="1" kern="1200" dirty="0">
              <a:solidFill>
                <a:schemeClr val="bg2"/>
              </a:solidFill>
            </a:rPr>
            <a:t>TASK-2: TUNING</a:t>
          </a:r>
        </a:p>
      </dsp:txBody>
      <dsp:txXfrm rot="10800000">
        <a:off x="2218198" y="2715101"/>
        <a:ext cx="7640282" cy="521816"/>
      </dsp:txXfrm>
    </dsp:sp>
    <dsp:sp modelId="{9CE81CF5-6415-EF44-8173-E0CF8B66CE86}">
      <dsp:nvSpPr>
        <dsp:cNvPr id="0" name=""/>
        <dsp:cNvSpPr/>
      </dsp:nvSpPr>
      <dsp:spPr>
        <a:xfrm>
          <a:off x="1826836" y="2715101"/>
          <a:ext cx="521816" cy="521816"/>
        </a:xfrm>
        <a:prstGeom prst="ellipse">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24C5AC-6139-4641-A088-79C5E0D3E722}">
      <dsp:nvSpPr>
        <dsp:cNvPr id="0" name=""/>
        <dsp:cNvSpPr/>
      </dsp:nvSpPr>
      <dsp:spPr>
        <a:xfrm rot="10800000">
          <a:off x="2087744" y="3392684"/>
          <a:ext cx="7770736" cy="521816"/>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0107" tIns="76200" rIns="142240" bIns="76200" numCol="1" spcCol="1270" anchor="ctr" anchorCtr="0">
          <a:noAutofit/>
        </a:bodyPr>
        <a:lstStyle/>
        <a:p>
          <a:pPr marL="0" lvl="0" indent="0" algn="r" defTabSz="889000">
            <a:lnSpc>
              <a:spcPct val="90000"/>
            </a:lnSpc>
            <a:spcBef>
              <a:spcPct val="0"/>
            </a:spcBef>
            <a:spcAft>
              <a:spcPct val="35000"/>
            </a:spcAft>
            <a:buNone/>
          </a:pPr>
          <a:r>
            <a:rPr lang="en-US" sz="2000" b="1" kern="1200" dirty="0">
              <a:solidFill>
                <a:schemeClr val="bg2"/>
              </a:solidFill>
            </a:rPr>
            <a:t>TASK-3: GRADIENT BOOSTING</a:t>
          </a:r>
        </a:p>
      </dsp:txBody>
      <dsp:txXfrm rot="10800000">
        <a:off x="2218198" y="3392684"/>
        <a:ext cx="7640282" cy="521816"/>
      </dsp:txXfrm>
    </dsp:sp>
    <dsp:sp modelId="{CE0B8F90-A6AC-AC4A-9AF7-C3261B648215}">
      <dsp:nvSpPr>
        <dsp:cNvPr id="0" name=""/>
        <dsp:cNvSpPr/>
      </dsp:nvSpPr>
      <dsp:spPr>
        <a:xfrm>
          <a:off x="1826836" y="3392684"/>
          <a:ext cx="521816" cy="521816"/>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D4BE19-2E46-D54C-9EE9-0A9EBEBC68D4}">
      <dsp:nvSpPr>
        <dsp:cNvPr id="0" name=""/>
        <dsp:cNvSpPr/>
      </dsp:nvSpPr>
      <dsp:spPr>
        <a:xfrm rot="10800000">
          <a:off x="2087744" y="4070267"/>
          <a:ext cx="7770736" cy="521816"/>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0107" tIns="76200" rIns="142240" bIns="76200" numCol="1" spcCol="1270" anchor="ctr" anchorCtr="0">
          <a:noAutofit/>
        </a:bodyPr>
        <a:lstStyle/>
        <a:p>
          <a:pPr marL="0" lvl="0" indent="0" algn="r" defTabSz="889000">
            <a:lnSpc>
              <a:spcPct val="90000"/>
            </a:lnSpc>
            <a:spcBef>
              <a:spcPct val="0"/>
            </a:spcBef>
            <a:spcAft>
              <a:spcPct val="35000"/>
            </a:spcAft>
            <a:buNone/>
          </a:pPr>
          <a:r>
            <a:rPr lang="en-US" sz="2000" b="1" kern="1200" dirty="0">
              <a:solidFill>
                <a:schemeClr val="bg2"/>
              </a:solidFill>
            </a:rPr>
            <a:t>TASK-4: MODELS COMPARATIVE ANALYSIS</a:t>
          </a:r>
        </a:p>
      </dsp:txBody>
      <dsp:txXfrm rot="10800000">
        <a:off x="2218198" y="4070267"/>
        <a:ext cx="7640282" cy="521816"/>
      </dsp:txXfrm>
    </dsp:sp>
    <dsp:sp modelId="{FC5CC1A2-CC28-354D-BBCE-2E415CFE2648}">
      <dsp:nvSpPr>
        <dsp:cNvPr id="0" name=""/>
        <dsp:cNvSpPr/>
      </dsp:nvSpPr>
      <dsp:spPr>
        <a:xfrm>
          <a:off x="1826836" y="4070267"/>
          <a:ext cx="521816" cy="521816"/>
        </a:xfrm>
        <a:prstGeom prst="ellipse">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C0EF8F9-E97B-6848-BDDE-6C3DC6A24DB7}">
      <dsp:nvSpPr>
        <dsp:cNvPr id="0" name=""/>
        <dsp:cNvSpPr/>
      </dsp:nvSpPr>
      <dsp:spPr>
        <a:xfrm rot="10800000">
          <a:off x="2087744" y="4747850"/>
          <a:ext cx="7770736" cy="521816"/>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0107" tIns="76200" rIns="142240" bIns="76200" numCol="1" spcCol="1270" anchor="ctr" anchorCtr="0">
          <a:noAutofit/>
        </a:bodyPr>
        <a:lstStyle/>
        <a:p>
          <a:pPr marL="0" lvl="0" indent="0" algn="r" defTabSz="889000">
            <a:lnSpc>
              <a:spcPct val="90000"/>
            </a:lnSpc>
            <a:spcBef>
              <a:spcPct val="0"/>
            </a:spcBef>
            <a:spcAft>
              <a:spcPct val="35000"/>
            </a:spcAft>
            <a:buNone/>
          </a:pPr>
          <a:r>
            <a:rPr lang="en-US" sz="2000" b="1" kern="1200" dirty="0">
              <a:solidFill>
                <a:schemeClr val="bg2"/>
              </a:solidFill>
            </a:rPr>
            <a:t>TASK-4: FUTURE PERSPECTIVES</a:t>
          </a:r>
        </a:p>
      </dsp:txBody>
      <dsp:txXfrm rot="10800000">
        <a:off x="2218198" y="4747850"/>
        <a:ext cx="7640282" cy="521816"/>
      </dsp:txXfrm>
    </dsp:sp>
    <dsp:sp modelId="{9401EC89-CDAB-F542-B48F-7F9C28A2CEB4}">
      <dsp:nvSpPr>
        <dsp:cNvPr id="0" name=""/>
        <dsp:cNvSpPr/>
      </dsp:nvSpPr>
      <dsp:spPr>
        <a:xfrm>
          <a:off x="1826836" y="4747850"/>
          <a:ext cx="521816" cy="521816"/>
        </a:xfrm>
        <a:prstGeom prst="ellipse">
          <a:avLst/>
        </a:prstGeom>
        <a:blipFill>
          <a:blip xmlns:r="http://schemas.openxmlformats.org/officeDocument/2006/relationships" r:embed="rId6">
            <a:extLst>
              <a:ext uri="{28A0092B-C50C-407E-A947-70E740481C1C}">
                <a14:useLocalDpi xmlns:a14="http://schemas.microsoft.com/office/drawing/2010/main" val="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5EEB54-8968-A446-B385-1E97BA25A3C2}" type="datetimeFigureOut">
              <a:rPr lang="en-US" smtClean="0"/>
              <a:t>2/21/25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C6C0D6-3A41-7F48-935D-833BBC8E81A9}" type="slidenum">
              <a:rPr lang="en-US" smtClean="0"/>
              <a:t>‹#›</a:t>
            </a:fld>
            <a:endParaRPr lang="en-US"/>
          </a:p>
        </p:txBody>
      </p:sp>
    </p:spTree>
    <p:extLst>
      <p:ext uri="{BB962C8B-B14F-4D97-AF65-F5344CB8AC3E}">
        <p14:creationId xmlns:p14="http://schemas.microsoft.com/office/powerpoint/2010/main" val="2985298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project, we developed machine learning models to predict stroke mortality within two weeks of treatment using 22 baseline variables.</a:t>
            </a:r>
          </a:p>
        </p:txBody>
      </p:sp>
      <p:sp>
        <p:nvSpPr>
          <p:cNvPr id="4" name="Slide Number Placeholder 3"/>
          <p:cNvSpPr>
            <a:spLocks noGrp="1"/>
          </p:cNvSpPr>
          <p:nvPr>
            <p:ph type="sldNum" sz="quarter" idx="5"/>
          </p:nvPr>
        </p:nvSpPr>
        <p:spPr/>
        <p:txBody>
          <a:bodyPr/>
          <a:lstStyle/>
          <a:p>
            <a:fld id="{3AC6C0D6-3A41-7F48-935D-833BBC8E81A9}" type="slidenum">
              <a:rPr lang="en-US" smtClean="0"/>
              <a:t>1</a:t>
            </a:fld>
            <a:endParaRPr lang="en-US"/>
          </a:p>
        </p:txBody>
      </p:sp>
    </p:spTree>
    <p:extLst>
      <p:ext uri="{BB962C8B-B14F-4D97-AF65-F5344CB8AC3E}">
        <p14:creationId xmlns:p14="http://schemas.microsoft.com/office/powerpoint/2010/main" val="40260726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begin with exploratory analysis, followed by model development using </a:t>
            </a:r>
            <a:r>
              <a:rPr lang="en-US" dirty="0" err="1"/>
              <a:t>regularised</a:t>
            </a:r>
            <a:r>
              <a:rPr lang="en-US" dirty="0"/>
              <a:t> regression and tree-based methods, and conclude with model comparison and final selection.</a:t>
            </a:r>
          </a:p>
        </p:txBody>
      </p:sp>
      <p:sp>
        <p:nvSpPr>
          <p:cNvPr id="4" name="Slide Number Placeholder 3"/>
          <p:cNvSpPr>
            <a:spLocks noGrp="1"/>
          </p:cNvSpPr>
          <p:nvPr>
            <p:ph type="sldNum" sz="quarter" idx="5"/>
          </p:nvPr>
        </p:nvSpPr>
        <p:spPr/>
        <p:txBody>
          <a:bodyPr/>
          <a:lstStyle/>
          <a:p>
            <a:fld id="{3AC6C0D6-3A41-7F48-935D-833BBC8E81A9}" type="slidenum">
              <a:rPr lang="en-US" smtClean="0"/>
              <a:t>2</a:t>
            </a:fld>
            <a:endParaRPr lang="en-US"/>
          </a:p>
        </p:txBody>
      </p:sp>
    </p:spTree>
    <p:extLst>
      <p:ext uri="{BB962C8B-B14F-4D97-AF65-F5344CB8AC3E}">
        <p14:creationId xmlns:p14="http://schemas.microsoft.com/office/powerpoint/2010/main" val="3669715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Final Goal: Identify the most effective model for clinical decision-making</a:t>
            </a:r>
            <a:br>
              <a:rPr lang="en-US" b="0" dirty="0"/>
            </a:br>
            <a:r>
              <a:rPr lang="en-US" b="0" dirty="0"/>
              <a:t>Before doing that, we have taken into consideration the following aspects:</a:t>
            </a:r>
          </a:p>
          <a:p>
            <a:pPr marL="228600" indent="-228600">
              <a:buAutoNum type="arabicPeriod"/>
            </a:pPr>
            <a:r>
              <a:rPr lang="en-US" b="0" dirty="0"/>
              <a:t>Human-Friendly Exploratory Analysis is performed, where labels are marked accordingly</a:t>
            </a:r>
          </a:p>
          <a:p>
            <a:pPr marL="228600" indent="-228600">
              <a:buAutoNum type="arabicPeriod"/>
            </a:pPr>
            <a:r>
              <a:rPr lang="en-US" b="0" dirty="0"/>
              <a:t>A color-blind-friendly template is used to ensure the entire audience understands the graphs.</a:t>
            </a:r>
          </a:p>
          <a:p>
            <a:pPr marL="228600" indent="-228600">
              <a:buAutoNum type="arabicPeriod"/>
            </a:pPr>
            <a:r>
              <a:rPr lang="en-US" b="0" dirty="0"/>
              <a:t>Along the presentation, you’ll see default and tuned/optimized results; it is due to the models we ran first with default settings, and based on its results, tuning/optimization was performed accordingly to gain better results.</a:t>
            </a:r>
          </a:p>
        </p:txBody>
      </p:sp>
      <p:sp>
        <p:nvSpPr>
          <p:cNvPr id="4" name="Slide Number Placeholder 3"/>
          <p:cNvSpPr>
            <a:spLocks noGrp="1"/>
          </p:cNvSpPr>
          <p:nvPr>
            <p:ph type="sldNum" sz="quarter" idx="5"/>
          </p:nvPr>
        </p:nvSpPr>
        <p:spPr/>
        <p:txBody>
          <a:bodyPr/>
          <a:lstStyle/>
          <a:p>
            <a:fld id="{3AC6C0D6-3A41-7F48-935D-833BBC8E81A9}" type="slidenum">
              <a:rPr lang="en-US" smtClean="0"/>
              <a:t>3</a:t>
            </a:fld>
            <a:endParaRPr lang="en-US"/>
          </a:p>
        </p:txBody>
      </p:sp>
    </p:spTree>
    <p:extLst>
      <p:ext uri="{BB962C8B-B14F-4D97-AF65-F5344CB8AC3E}">
        <p14:creationId xmlns:p14="http://schemas.microsoft.com/office/powerpoint/2010/main" val="2390484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 slide presents the distribution of two key variables: time delay before treatment and patient age. The left plot shows that treatment delays vary widely, with peaks around 10 and 20 hours, highlighting potential intervention gaps. The right plot shows that most stroke patients are aged 60–80, suggesting that older adults are the most affected group. These insights help in understanding risk factors and model design.</a:t>
            </a:r>
          </a:p>
        </p:txBody>
      </p:sp>
      <p:sp>
        <p:nvSpPr>
          <p:cNvPr id="4" name="Slide Number Placeholder 3"/>
          <p:cNvSpPr>
            <a:spLocks noGrp="1"/>
          </p:cNvSpPr>
          <p:nvPr>
            <p:ph type="sldNum" sz="quarter" idx="5"/>
          </p:nvPr>
        </p:nvSpPr>
        <p:spPr/>
        <p:txBody>
          <a:bodyPr/>
          <a:lstStyle/>
          <a:p>
            <a:fld id="{3AC6C0D6-3A41-7F48-935D-833BBC8E81A9}" type="slidenum">
              <a:rPr lang="en-US" smtClean="0"/>
              <a:t>4</a:t>
            </a:fld>
            <a:endParaRPr lang="en-US"/>
          </a:p>
        </p:txBody>
      </p:sp>
    </p:spTree>
    <p:extLst>
      <p:ext uri="{BB962C8B-B14F-4D97-AF65-F5344CB8AC3E}">
        <p14:creationId xmlns:p14="http://schemas.microsoft.com/office/powerpoint/2010/main" val="3014382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highly imbalanced, with </a:t>
            </a:r>
            <a:r>
              <a:rPr lang="en-US" b="1" dirty="0"/>
              <a:t>only 4.7% of patients dying</a:t>
            </a:r>
            <a:r>
              <a:rPr lang="en-US" dirty="0"/>
              <a:t>,</a:t>
            </a:r>
          </a:p>
          <a:p>
            <a:r>
              <a:rPr lang="en-US" dirty="0"/>
              <a:t>which can significantly affect model training. We'll address this in the modelling phase using class balancing techniques.</a:t>
            </a:r>
          </a:p>
        </p:txBody>
      </p:sp>
      <p:sp>
        <p:nvSpPr>
          <p:cNvPr id="4" name="Slide Number Placeholder 3"/>
          <p:cNvSpPr>
            <a:spLocks noGrp="1"/>
          </p:cNvSpPr>
          <p:nvPr>
            <p:ph type="sldNum" sz="quarter" idx="5"/>
          </p:nvPr>
        </p:nvSpPr>
        <p:spPr/>
        <p:txBody>
          <a:bodyPr/>
          <a:lstStyle/>
          <a:p>
            <a:fld id="{3AC6C0D6-3A41-7F48-935D-833BBC8E81A9}" type="slidenum">
              <a:rPr lang="en-US" smtClean="0"/>
              <a:t>5</a:t>
            </a:fld>
            <a:endParaRPr lang="en-US"/>
          </a:p>
        </p:txBody>
      </p:sp>
    </p:spTree>
    <p:extLst>
      <p:ext uri="{BB962C8B-B14F-4D97-AF65-F5344CB8AC3E}">
        <p14:creationId xmlns:p14="http://schemas.microsoft.com/office/powerpoint/2010/main" val="3618291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Graph-1</a:t>
            </a:r>
          </a:p>
          <a:p>
            <a:pPr>
              <a:buFont typeface="Arial" panose="020B0604020202020204" pitchFamily="34" charset="0"/>
              <a:buChar char="•"/>
            </a:pPr>
            <a:r>
              <a:rPr lang="en-US" b="0" dirty="0"/>
              <a:t>Each treatment group is evenly split between Treated and Placebo. This ensures fair comparisons between treatment effects.</a:t>
            </a:r>
          </a:p>
          <a:p>
            <a:pPr>
              <a:buFont typeface="Arial" panose="020B0604020202020204" pitchFamily="34" charset="0"/>
              <a:buChar char="•"/>
            </a:pPr>
            <a:r>
              <a:rPr lang="en-US" b="0" dirty="0"/>
              <a:t>No significant imbalance, meaning the study design is statistically valid.</a:t>
            </a:r>
          </a:p>
          <a:p>
            <a:r>
              <a:rPr lang="en-US" b="0" dirty="0"/>
              <a:t>Graph-2</a:t>
            </a:r>
          </a:p>
          <a:p>
            <a:pPr>
              <a:buFont typeface="Arial" panose="020B0604020202020204" pitchFamily="34" charset="0"/>
              <a:buChar char="•"/>
            </a:pPr>
            <a:r>
              <a:rPr lang="en-US" b="0" dirty="0"/>
              <a:t>This chart shows the distribution of stroke subtypes in the </a:t>
            </a:r>
            <a:r>
              <a:rPr lang="en-US" b="0" dirty="0" err="1"/>
              <a:t>dataset.PACS</a:t>
            </a:r>
            <a:r>
              <a:rPr lang="en-US" b="0" dirty="0"/>
              <a:t> (42.4%) and LACS (33.6%) are the most common subtypes, making up the majority of cases.</a:t>
            </a:r>
          </a:p>
          <a:p>
            <a:pPr>
              <a:buFont typeface="Arial" panose="020B0604020202020204" pitchFamily="34" charset="0"/>
              <a:buChar char="•"/>
            </a:pPr>
            <a:r>
              <a:rPr lang="en-US" b="0" dirty="0"/>
              <a:t>POCS and TACS account for 12.7% and 10.9%, while 'OTH' (Other) is rare at only 0.4%.</a:t>
            </a:r>
          </a:p>
        </p:txBody>
      </p:sp>
      <p:sp>
        <p:nvSpPr>
          <p:cNvPr id="4" name="Slide Number Placeholder 3"/>
          <p:cNvSpPr>
            <a:spLocks noGrp="1"/>
          </p:cNvSpPr>
          <p:nvPr>
            <p:ph type="sldNum" sz="quarter" idx="5"/>
          </p:nvPr>
        </p:nvSpPr>
        <p:spPr/>
        <p:txBody>
          <a:bodyPr/>
          <a:lstStyle/>
          <a:p>
            <a:fld id="{3AC6C0D6-3A41-7F48-935D-833BBC8E81A9}" type="slidenum">
              <a:rPr lang="en-US" smtClean="0"/>
              <a:t>6</a:t>
            </a:fld>
            <a:endParaRPr lang="en-US"/>
          </a:p>
        </p:txBody>
      </p:sp>
    </p:spTree>
    <p:extLst>
      <p:ext uri="{BB962C8B-B14F-4D97-AF65-F5344CB8AC3E}">
        <p14:creationId xmlns:p14="http://schemas.microsoft.com/office/powerpoint/2010/main" val="23396588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Gender Distribution:</a:t>
            </a:r>
            <a:endParaRPr lang="en-US" dirty="0"/>
          </a:p>
          <a:p>
            <a:r>
              <a:rPr lang="en-US" dirty="0"/>
              <a:t>We see a slightly higher proportion of males (56.1%) compared to females (43.9%). This distribution is fairly balanced, </a:t>
            </a:r>
            <a:r>
              <a:rPr lang="en-US" dirty="0" err="1"/>
              <a:t>minimising</a:t>
            </a:r>
            <a:r>
              <a:rPr lang="en-US" dirty="0"/>
              <a:t> gender bias in outcome analysis."</a:t>
            </a:r>
          </a:p>
          <a:p>
            <a:r>
              <a:rPr lang="en-US" b="1" dirty="0"/>
              <a:t>Atrial Fibrillation Distribution: </a:t>
            </a:r>
            <a:r>
              <a:rPr lang="en-US" dirty="0"/>
              <a:t>Most patients (86.1%) did not have Atrial Fibrillation, but 13.9% did. This is a relevant comorbidity that could influence treatment outcomes for this subgroup."</a:t>
            </a:r>
          </a:p>
        </p:txBody>
      </p:sp>
      <p:sp>
        <p:nvSpPr>
          <p:cNvPr id="4" name="Slide Number Placeholder 3"/>
          <p:cNvSpPr>
            <a:spLocks noGrp="1"/>
          </p:cNvSpPr>
          <p:nvPr>
            <p:ph type="sldNum" sz="quarter" idx="5"/>
          </p:nvPr>
        </p:nvSpPr>
        <p:spPr/>
        <p:txBody>
          <a:bodyPr/>
          <a:lstStyle/>
          <a:p>
            <a:fld id="{3AC6C0D6-3A41-7F48-935D-833BBC8E81A9}" type="slidenum">
              <a:rPr lang="en-US" smtClean="0"/>
              <a:t>7</a:t>
            </a:fld>
            <a:endParaRPr lang="en-US"/>
          </a:p>
        </p:txBody>
      </p:sp>
    </p:spTree>
    <p:extLst>
      <p:ext uri="{BB962C8B-B14F-4D97-AF65-F5344CB8AC3E}">
        <p14:creationId xmlns:p14="http://schemas.microsoft.com/office/powerpoint/2010/main" val="32336056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A3679-5AD3-B80F-6D72-9A666B3A78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E506F0-F725-02BE-0211-AD3E0B4DCF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E56097-BC05-F593-9158-FC9CBDEDDF0E}"/>
              </a:ext>
            </a:extLst>
          </p:cNvPr>
          <p:cNvSpPr>
            <a:spLocks noGrp="1"/>
          </p:cNvSpPr>
          <p:nvPr>
            <p:ph type="body" idx="1"/>
          </p:nvPr>
        </p:nvSpPr>
        <p:spPr/>
        <p:txBody>
          <a:bodyPr/>
          <a:lstStyle/>
          <a:p>
            <a:r>
              <a:rPr lang="en-US" dirty="0"/>
              <a:t>his heatmap shows the correlation between key numerical features and death outcome. Age has a weak positive correlation with death (0.1), suggesting older patients have slightly higher mortality risk. Delay and SBP (systolic blood pressure) have near-zero correlations, meaning they are not strong predictors on their own. This highlights the need for more complex models to capture interactions.</a:t>
            </a:r>
          </a:p>
        </p:txBody>
      </p:sp>
      <p:sp>
        <p:nvSpPr>
          <p:cNvPr id="4" name="Slide Number Placeholder 3">
            <a:extLst>
              <a:ext uri="{FF2B5EF4-FFF2-40B4-BE49-F238E27FC236}">
                <a16:creationId xmlns:a16="http://schemas.microsoft.com/office/drawing/2014/main" id="{D2DD27BD-10D6-28ED-A9A0-366E2462F0CA}"/>
              </a:ext>
            </a:extLst>
          </p:cNvPr>
          <p:cNvSpPr>
            <a:spLocks noGrp="1"/>
          </p:cNvSpPr>
          <p:nvPr>
            <p:ph type="sldNum" sz="quarter" idx="5"/>
          </p:nvPr>
        </p:nvSpPr>
        <p:spPr/>
        <p:txBody>
          <a:bodyPr/>
          <a:lstStyle/>
          <a:p>
            <a:fld id="{3AC6C0D6-3A41-7F48-935D-833BBC8E81A9}" type="slidenum">
              <a:rPr lang="en-US" smtClean="0"/>
              <a:t>8</a:t>
            </a:fld>
            <a:endParaRPr lang="en-US"/>
          </a:p>
        </p:txBody>
      </p:sp>
    </p:spTree>
    <p:extLst>
      <p:ext uri="{BB962C8B-B14F-4D97-AF65-F5344CB8AC3E}">
        <p14:creationId xmlns:p14="http://schemas.microsoft.com/office/powerpoint/2010/main" val="24311369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transformed categorical variables into numerical format using one-hot encoding ML-friendly and ensures accurate modeling.</a:t>
            </a:r>
          </a:p>
        </p:txBody>
      </p:sp>
      <p:sp>
        <p:nvSpPr>
          <p:cNvPr id="4" name="Slide Number Placeholder 3"/>
          <p:cNvSpPr>
            <a:spLocks noGrp="1"/>
          </p:cNvSpPr>
          <p:nvPr>
            <p:ph type="sldNum" sz="quarter" idx="5"/>
          </p:nvPr>
        </p:nvSpPr>
        <p:spPr/>
        <p:txBody>
          <a:bodyPr/>
          <a:lstStyle/>
          <a:p>
            <a:fld id="{3AC6C0D6-3A41-7F48-935D-833BBC8E81A9}" type="slidenum">
              <a:rPr lang="en-US" smtClean="0"/>
              <a:t>9</a:t>
            </a:fld>
            <a:endParaRPr lang="en-US"/>
          </a:p>
        </p:txBody>
      </p:sp>
    </p:spTree>
    <p:extLst>
      <p:ext uri="{BB962C8B-B14F-4D97-AF65-F5344CB8AC3E}">
        <p14:creationId xmlns:p14="http://schemas.microsoft.com/office/powerpoint/2010/main" val="28583643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applying SMOTE, we had an extreme imbalance—only </a:t>
            </a:r>
            <a:r>
              <a:rPr lang="en-US" b="1" dirty="0"/>
              <a:t>4.7% of cases were Death = 1</a:t>
            </a:r>
            <a:r>
              <a:rPr lang="en-US" dirty="0"/>
              <a:t> while the remaining </a:t>
            </a:r>
            <a:r>
              <a:rPr lang="en-US" b="1" dirty="0"/>
              <a:t>95.3% were Death = 0</a:t>
            </a:r>
            <a:r>
              <a:rPr lang="en-US" dirty="0"/>
              <a:t>.</a:t>
            </a:r>
          </a:p>
          <a:p>
            <a:r>
              <a:rPr lang="en-US" dirty="0"/>
              <a:t>This imbalance affects the model’s ability to accurately predict the minority class.</a:t>
            </a:r>
          </a:p>
          <a:p>
            <a:endParaRPr lang="en-US" dirty="0"/>
          </a:p>
          <a:p>
            <a:r>
              <a:rPr lang="en-US" dirty="0"/>
              <a:t>To improve the model’s learning on the minority class, we applied </a:t>
            </a:r>
            <a:r>
              <a:rPr lang="en-US" b="1" dirty="0"/>
              <a:t>Synthetic Minority Oversampling Technique (SMOTE)</a:t>
            </a:r>
            <a:r>
              <a:rPr lang="en-US" dirty="0"/>
              <a:t>.</a:t>
            </a:r>
          </a:p>
          <a:p>
            <a:r>
              <a:rPr lang="en-US" dirty="0"/>
              <a:t>This creates synthetic examples of the minority class while maintaining the overall data distribution.</a:t>
            </a:r>
          </a:p>
          <a:p>
            <a:endParaRPr lang="en-US" dirty="0"/>
          </a:p>
          <a:p>
            <a:r>
              <a:rPr lang="en-US" dirty="0"/>
              <a:t>SMOTE effectively improves model training while maintaining real-world distributions.</a:t>
            </a:r>
          </a:p>
          <a:p>
            <a:r>
              <a:rPr lang="en-US" dirty="0"/>
              <a:t>This is a crucial step for handling imbalanced datasets in medical research.</a:t>
            </a:r>
          </a:p>
        </p:txBody>
      </p:sp>
      <p:sp>
        <p:nvSpPr>
          <p:cNvPr id="4" name="Slide Number Placeholder 3"/>
          <p:cNvSpPr>
            <a:spLocks noGrp="1"/>
          </p:cNvSpPr>
          <p:nvPr>
            <p:ph type="sldNum" sz="quarter" idx="5"/>
          </p:nvPr>
        </p:nvSpPr>
        <p:spPr/>
        <p:txBody>
          <a:bodyPr/>
          <a:lstStyle/>
          <a:p>
            <a:fld id="{3AC6C0D6-3A41-7F48-935D-833BBC8E81A9}" type="slidenum">
              <a:rPr lang="en-US" smtClean="0"/>
              <a:t>10</a:t>
            </a:fld>
            <a:endParaRPr lang="en-US"/>
          </a:p>
        </p:txBody>
      </p:sp>
    </p:spTree>
    <p:extLst>
      <p:ext uri="{BB962C8B-B14F-4D97-AF65-F5344CB8AC3E}">
        <p14:creationId xmlns:p14="http://schemas.microsoft.com/office/powerpoint/2010/main" val="1729229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outcome variable is binary (death or survival), logistic regression was chosen. We used three variations: Lasso, Ridge, and Elastic Net. Lasso performs feature selection by shrinking some coefficients to zero, Ridge stabilizes the model by shrinking coefficients without eliminating them, and Elastic Net balances both approaches. This helps optimize model performance while addressing overfitting and multicollinearity.</a:t>
            </a:r>
          </a:p>
        </p:txBody>
      </p:sp>
      <p:sp>
        <p:nvSpPr>
          <p:cNvPr id="4" name="Slide Number Placeholder 3"/>
          <p:cNvSpPr>
            <a:spLocks noGrp="1"/>
          </p:cNvSpPr>
          <p:nvPr>
            <p:ph type="sldNum" sz="quarter" idx="5"/>
          </p:nvPr>
        </p:nvSpPr>
        <p:spPr/>
        <p:txBody>
          <a:bodyPr/>
          <a:lstStyle/>
          <a:p>
            <a:fld id="{3AC6C0D6-3A41-7F48-935D-833BBC8E81A9}" type="slidenum">
              <a:rPr lang="en-US" smtClean="0"/>
              <a:t>11</a:t>
            </a:fld>
            <a:endParaRPr lang="en-US"/>
          </a:p>
        </p:txBody>
      </p:sp>
    </p:spTree>
    <p:extLst>
      <p:ext uri="{BB962C8B-B14F-4D97-AF65-F5344CB8AC3E}">
        <p14:creationId xmlns:p14="http://schemas.microsoft.com/office/powerpoint/2010/main" val="41340084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The parameters were tuned to balance bias-variance tradeoff, prevent overfitting, and improve classification performance.</a:t>
            </a:r>
          </a:p>
          <a:p>
            <a:pPr>
              <a:buFont typeface="Arial" panose="020B0604020202020204" pitchFamily="34" charset="0"/>
              <a:buChar char="•"/>
            </a:pPr>
            <a:r>
              <a:rPr lang="el-GR" b="0" dirty="0"/>
              <a:t>λ (</a:t>
            </a:r>
            <a:r>
              <a:rPr lang="en-US" b="0" dirty="0"/>
              <a:t>Lambda) controls model complexity to avoid underfitting or overfitting.</a:t>
            </a:r>
          </a:p>
          <a:p>
            <a:pPr>
              <a:buFont typeface="Arial" panose="020B0604020202020204" pitchFamily="34" charset="0"/>
              <a:buChar char="•"/>
            </a:pPr>
            <a:r>
              <a:rPr lang="en-US" b="0" dirty="0"/>
              <a:t>Cross-validation ensures </a:t>
            </a:r>
            <a:r>
              <a:rPr lang="en-US" b="0" dirty="0" err="1"/>
              <a:t>generalisation</a:t>
            </a:r>
            <a:r>
              <a:rPr lang="en-US" b="0" dirty="0"/>
              <a:t> but may not always find the best threshold.</a:t>
            </a:r>
          </a:p>
          <a:p>
            <a:pPr>
              <a:buFont typeface="Arial" panose="020B0604020202020204" pitchFamily="34" charset="0"/>
              <a:buChar char="•"/>
            </a:pPr>
            <a:r>
              <a:rPr lang="en-US" b="0" dirty="0"/>
              <a:t>Log-loss helps with classification but is sensitive to outliers.</a:t>
            </a:r>
          </a:p>
          <a:p>
            <a:pPr>
              <a:buFont typeface="Arial" panose="020B0604020202020204" pitchFamily="34" charset="0"/>
              <a:buChar char="•"/>
            </a:pPr>
            <a:r>
              <a:rPr lang="en-US" b="0" dirty="0"/>
              <a:t>Threshold tuning </a:t>
            </a:r>
            <a:r>
              <a:rPr lang="en-US" b="0" dirty="0" err="1"/>
              <a:t>optimises</a:t>
            </a:r>
            <a:r>
              <a:rPr lang="en-US" b="0" dirty="0"/>
              <a:t> the trade-off between precision and recall, critical for medical predictions.</a:t>
            </a:r>
            <a:br>
              <a:rPr lang="en-US" b="0" dirty="0"/>
            </a:br>
            <a:r>
              <a:rPr lang="en-US" b="0" dirty="0"/>
              <a:t>These adjustments help models better differentiate between survival and mortality while maintaining performance consistency</a:t>
            </a:r>
          </a:p>
          <a:p>
            <a:endParaRPr lang="en-US" dirty="0"/>
          </a:p>
        </p:txBody>
      </p:sp>
      <p:sp>
        <p:nvSpPr>
          <p:cNvPr id="4" name="Slide Number Placeholder 3"/>
          <p:cNvSpPr>
            <a:spLocks noGrp="1"/>
          </p:cNvSpPr>
          <p:nvPr>
            <p:ph type="sldNum" sz="quarter" idx="5"/>
          </p:nvPr>
        </p:nvSpPr>
        <p:spPr/>
        <p:txBody>
          <a:bodyPr/>
          <a:lstStyle/>
          <a:p>
            <a:fld id="{3AC6C0D6-3A41-7F48-935D-833BBC8E81A9}" type="slidenum">
              <a:rPr lang="en-US" smtClean="0"/>
              <a:t>12</a:t>
            </a:fld>
            <a:endParaRPr lang="en-US"/>
          </a:p>
        </p:txBody>
      </p:sp>
    </p:spTree>
    <p:extLst>
      <p:ext uri="{BB962C8B-B14F-4D97-AF65-F5344CB8AC3E}">
        <p14:creationId xmlns:p14="http://schemas.microsoft.com/office/powerpoint/2010/main" val="17167782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CB3A0-24B9-1157-AFA7-19E17FC7AB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229071-1CE1-6746-8738-2C47EC54D8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8E6D84-9877-02CA-FAA7-BA417156D771}"/>
              </a:ext>
            </a:extLst>
          </p:cNvPr>
          <p:cNvSpPr>
            <a:spLocks noGrp="1"/>
          </p:cNvSpPr>
          <p:nvPr>
            <p:ph type="body" idx="1"/>
          </p:nvPr>
        </p:nvSpPr>
        <p:spPr/>
        <p:txBody>
          <a:bodyPr/>
          <a:lstStyle/>
          <a:p>
            <a:r>
              <a:rPr lang="en-US" dirty="0"/>
              <a:t>This slide compares the performance of Lasso, Ridge, and Elastic Net models using default vs. optimized thresholds. Optimized thresholds (yellow bars) generally improve recall and F1-score while maintaining accuracy and specificity. This shows the impact of threshold tuning in balancing false positives and false negatives, which is crucial in medical decision-making.</a:t>
            </a:r>
          </a:p>
        </p:txBody>
      </p:sp>
      <p:sp>
        <p:nvSpPr>
          <p:cNvPr id="4" name="Slide Number Placeholder 3">
            <a:extLst>
              <a:ext uri="{FF2B5EF4-FFF2-40B4-BE49-F238E27FC236}">
                <a16:creationId xmlns:a16="http://schemas.microsoft.com/office/drawing/2014/main" id="{EE7E1948-FAF7-A1A2-2FBC-86F396C5DF79}"/>
              </a:ext>
            </a:extLst>
          </p:cNvPr>
          <p:cNvSpPr>
            <a:spLocks noGrp="1"/>
          </p:cNvSpPr>
          <p:nvPr>
            <p:ph type="sldNum" sz="quarter" idx="5"/>
          </p:nvPr>
        </p:nvSpPr>
        <p:spPr/>
        <p:txBody>
          <a:bodyPr/>
          <a:lstStyle/>
          <a:p>
            <a:fld id="{3AC6C0D6-3A41-7F48-935D-833BBC8E81A9}" type="slidenum">
              <a:rPr lang="en-US" smtClean="0"/>
              <a:t>13</a:t>
            </a:fld>
            <a:endParaRPr lang="en-US"/>
          </a:p>
        </p:txBody>
      </p:sp>
    </p:spTree>
    <p:extLst>
      <p:ext uri="{BB962C8B-B14F-4D97-AF65-F5344CB8AC3E}">
        <p14:creationId xmlns:p14="http://schemas.microsoft.com/office/powerpoint/2010/main" val="23747805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top 10 important features identified by Lasso, Ridge, and Elastic Net models. Features like stroke subtype, symptoms, and age play a major role in mortality prediction. However, ‘Subtype Other’ may be a false positive due to sampling imbalance, highlighting the need for careful interpretation. Ridge distributes feature importance more evenly, while Lasso and Elastic tend to shrink less relevant features toward zero.</a:t>
            </a:r>
          </a:p>
          <a:p>
            <a:endParaRPr lang="en-US" dirty="0"/>
          </a:p>
          <a:p>
            <a:endParaRPr lang="en-US" dirty="0"/>
          </a:p>
        </p:txBody>
      </p:sp>
      <p:sp>
        <p:nvSpPr>
          <p:cNvPr id="4" name="Slide Number Placeholder 3"/>
          <p:cNvSpPr>
            <a:spLocks noGrp="1"/>
          </p:cNvSpPr>
          <p:nvPr>
            <p:ph type="sldNum" sz="quarter" idx="5"/>
          </p:nvPr>
        </p:nvSpPr>
        <p:spPr/>
        <p:txBody>
          <a:bodyPr/>
          <a:lstStyle/>
          <a:p>
            <a:fld id="{3AC6C0D6-3A41-7F48-935D-833BBC8E81A9}" type="slidenum">
              <a:rPr lang="en-US" smtClean="0"/>
              <a:t>14</a:t>
            </a:fld>
            <a:endParaRPr lang="en-US"/>
          </a:p>
        </p:txBody>
      </p:sp>
    </p:spTree>
    <p:extLst>
      <p:ext uri="{BB962C8B-B14F-4D97-AF65-F5344CB8AC3E}">
        <p14:creationId xmlns:p14="http://schemas.microsoft.com/office/powerpoint/2010/main" val="19884360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confusion matrices compare model performance before and after threshold optimization. Optimized models (bottom row) reduce false negatives (FN), improving recall, which is crucial for identifying high-risk patients. However, this comes at the cost of slightly increasing false positives (FP). This trade-off is essential in medical applications, where missing a critical case is more dangerous than a false alarm.</a:t>
            </a:r>
          </a:p>
        </p:txBody>
      </p:sp>
      <p:sp>
        <p:nvSpPr>
          <p:cNvPr id="4" name="Slide Number Placeholder 3"/>
          <p:cNvSpPr>
            <a:spLocks noGrp="1"/>
          </p:cNvSpPr>
          <p:nvPr>
            <p:ph type="sldNum" sz="quarter" idx="5"/>
          </p:nvPr>
        </p:nvSpPr>
        <p:spPr/>
        <p:txBody>
          <a:bodyPr/>
          <a:lstStyle/>
          <a:p>
            <a:fld id="{3AC6C0D6-3A41-7F48-935D-833BBC8E81A9}" type="slidenum">
              <a:rPr lang="en-US" smtClean="0"/>
              <a:t>15</a:t>
            </a:fld>
            <a:endParaRPr lang="en-US"/>
          </a:p>
        </p:txBody>
      </p:sp>
    </p:spTree>
    <p:extLst>
      <p:ext uri="{BB962C8B-B14F-4D97-AF65-F5344CB8AC3E}">
        <p14:creationId xmlns:p14="http://schemas.microsoft.com/office/powerpoint/2010/main" val="20864375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the AUC-ROC curves of Lasso, Ridge, and Elastic Net models. AUC-ROC measures how well a model distinguishes between death and survival. Ridge performed the best with an AUC of 0.785, meaning it has the strongest discriminatory power among </a:t>
            </a:r>
            <a:r>
              <a:rPr lang="en-US" dirty="0" err="1"/>
              <a:t>regularised</a:t>
            </a:r>
            <a:r>
              <a:rPr lang="en-US" dirty="0"/>
              <a:t> models. The similar AUC values across models indicate that all three perform comparably in distinguishing positive and negative cases.</a:t>
            </a:r>
          </a:p>
        </p:txBody>
      </p:sp>
      <p:sp>
        <p:nvSpPr>
          <p:cNvPr id="4" name="Slide Number Placeholder 3"/>
          <p:cNvSpPr>
            <a:spLocks noGrp="1"/>
          </p:cNvSpPr>
          <p:nvPr>
            <p:ph type="sldNum" sz="quarter" idx="5"/>
          </p:nvPr>
        </p:nvSpPr>
        <p:spPr/>
        <p:txBody>
          <a:bodyPr/>
          <a:lstStyle/>
          <a:p>
            <a:fld id="{3AC6C0D6-3A41-7F48-935D-833BBC8E81A9}" type="slidenum">
              <a:rPr lang="en-US" smtClean="0"/>
              <a:t>16</a:t>
            </a:fld>
            <a:endParaRPr lang="en-US"/>
          </a:p>
        </p:txBody>
      </p:sp>
    </p:spTree>
    <p:extLst>
      <p:ext uri="{BB962C8B-B14F-4D97-AF65-F5344CB8AC3E}">
        <p14:creationId xmlns:p14="http://schemas.microsoft.com/office/powerpoint/2010/main" val="23669990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Gradient Boosting was chosen because it learns iteratively from misclassifications, making it excellent for optimizing recall and specificity. Given our dataset’s complexity and imbalance, Boosting adapts well to these challenges. However, it has limitations, including longer training times and higher sensitivity to hyperparameters, requiring careful tuning.</a:t>
            </a:r>
          </a:p>
        </p:txBody>
      </p:sp>
      <p:sp>
        <p:nvSpPr>
          <p:cNvPr id="4" name="Slide Number Placeholder 3"/>
          <p:cNvSpPr>
            <a:spLocks noGrp="1"/>
          </p:cNvSpPr>
          <p:nvPr>
            <p:ph type="sldNum" sz="quarter" idx="5"/>
          </p:nvPr>
        </p:nvSpPr>
        <p:spPr/>
        <p:txBody>
          <a:bodyPr/>
          <a:lstStyle/>
          <a:p>
            <a:fld id="{3AC6C0D6-3A41-7F48-935D-833BBC8E81A9}" type="slidenum">
              <a:rPr lang="en-US" smtClean="0"/>
              <a:t>17</a:t>
            </a:fld>
            <a:endParaRPr lang="en-US"/>
          </a:p>
        </p:txBody>
      </p:sp>
    </p:spTree>
    <p:extLst>
      <p:ext uri="{BB962C8B-B14F-4D97-AF65-F5344CB8AC3E}">
        <p14:creationId xmlns:p14="http://schemas.microsoft.com/office/powerpoint/2010/main" val="18820774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Gradient Boosting requires careful tuning to optimize recall and precision while avoiding overfitting. </a:t>
            </a:r>
            <a:r>
              <a:rPr lang="en-US" dirty="0" err="1"/>
              <a:t>scale_pos_weight</a:t>
            </a:r>
            <a:r>
              <a:rPr lang="en-US" dirty="0"/>
              <a:t> was adjusted to handle class imbalance, significantly improving recall from 10% to 56.1%, ensuring fewer missed critical cases. eta (learning rate) was fine-tuned to stabilize learning, balancing accuracy and generalization, which resulted in higher specificity (83.61%) and precision (98.58%). </a:t>
            </a:r>
            <a:r>
              <a:rPr lang="en-US" dirty="0" err="1"/>
              <a:t>max_depth</a:t>
            </a:r>
            <a:r>
              <a:rPr lang="en-US" dirty="0"/>
              <a:t> and </a:t>
            </a:r>
            <a:r>
              <a:rPr lang="en-US" dirty="0" err="1"/>
              <a:t>min_child_weight</a:t>
            </a:r>
            <a:r>
              <a:rPr lang="en-US" dirty="0"/>
              <a:t> were optimized to prevent overfitting, leading to a model that captures complex relationships without excessive false positives. </a:t>
            </a:r>
            <a:r>
              <a:rPr lang="en-US" dirty="0" err="1"/>
              <a:t>early_stopping_rounds</a:t>
            </a:r>
            <a:r>
              <a:rPr lang="en-US" dirty="0"/>
              <a:t> ensured that training stopped at the optimal point, preventing unnecessary computations while maintaining performance. As seen in our optimized model, these hyperparameter adjustments led to a well-balanced classifier that prioritizes high-risk stroke patients while maintaining strong specificity.</a:t>
            </a:r>
          </a:p>
        </p:txBody>
      </p:sp>
      <p:sp>
        <p:nvSpPr>
          <p:cNvPr id="4" name="Slide Number Placeholder 3"/>
          <p:cNvSpPr>
            <a:spLocks noGrp="1"/>
          </p:cNvSpPr>
          <p:nvPr>
            <p:ph type="sldNum" sz="quarter" idx="5"/>
          </p:nvPr>
        </p:nvSpPr>
        <p:spPr/>
        <p:txBody>
          <a:bodyPr/>
          <a:lstStyle/>
          <a:p>
            <a:fld id="{3AC6C0D6-3A41-7F48-935D-833BBC8E81A9}" type="slidenum">
              <a:rPr lang="en-US" smtClean="0"/>
              <a:t>18</a:t>
            </a:fld>
            <a:endParaRPr lang="en-US"/>
          </a:p>
        </p:txBody>
      </p:sp>
    </p:spTree>
    <p:extLst>
      <p:ext uri="{BB962C8B-B14F-4D97-AF65-F5344CB8AC3E}">
        <p14:creationId xmlns:p14="http://schemas.microsoft.com/office/powerpoint/2010/main" val="579136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feature importance in default vs. optimized Gradient Boosting models. Key predictors include consciousness level (fully conscious vs. drowsy) and symptom-5, which play a crucial role in stroke mortality. Optimization refined feature importance, emphasizing clinically relevant variables. Unlike logistic regression, boosting captures complex, non-linear interactions between symptoms and outcomes, making it valuable for clinical decision-making.</a:t>
            </a:r>
          </a:p>
        </p:txBody>
      </p:sp>
      <p:sp>
        <p:nvSpPr>
          <p:cNvPr id="4" name="Slide Number Placeholder 3"/>
          <p:cNvSpPr>
            <a:spLocks noGrp="1"/>
          </p:cNvSpPr>
          <p:nvPr>
            <p:ph type="sldNum" sz="quarter" idx="5"/>
          </p:nvPr>
        </p:nvSpPr>
        <p:spPr/>
        <p:txBody>
          <a:bodyPr/>
          <a:lstStyle/>
          <a:p>
            <a:fld id="{3AC6C0D6-3A41-7F48-935D-833BBC8E81A9}" type="slidenum">
              <a:rPr lang="en-US" smtClean="0"/>
              <a:t>19</a:t>
            </a:fld>
            <a:endParaRPr lang="en-US"/>
          </a:p>
        </p:txBody>
      </p:sp>
    </p:spTree>
    <p:extLst>
      <p:ext uri="{BB962C8B-B14F-4D97-AF65-F5344CB8AC3E}">
        <p14:creationId xmlns:p14="http://schemas.microsoft.com/office/powerpoint/2010/main" val="36342347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This slide compares the ROC curves for the default vs. optimized </a:t>
            </a:r>
            <a:r>
              <a:rPr lang="en-US" b="0" dirty="0" err="1"/>
              <a:t>XGBoost</a:t>
            </a:r>
            <a:r>
              <a:rPr lang="en-US" b="0" dirty="0"/>
              <a:t> models. The AUC (Area Under Curve) for the default model is 0.776, while the optimized model achieves 0.771, indicating a very small difference in overall discrimination ability. The ROC curve shape remains similar, showing that the model maintains a consistent trade-off between sensitivity and specificity after optimization.</a:t>
            </a:r>
          </a:p>
        </p:txBody>
      </p:sp>
      <p:sp>
        <p:nvSpPr>
          <p:cNvPr id="4" name="Slide Number Placeholder 3"/>
          <p:cNvSpPr>
            <a:spLocks noGrp="1"/>
          </p:cNvSpPr>
          <p:nvPr>
            <p:ph type="sldNum" sz="quarter" idx="5"/>
          </p:nvPr>
        </p:nvSpPr>
        <p:spPr/>
        <p:txBody>
          <a:bodyPr/>
          <a:lstStyle/>
          <a:p>
            <a:fld id="{3AC6C0D6-3A41-7F48-935D-833BBC8E81A9}" type="slidenum">
              <a:rPr lang="en-US" smtClean="0"/>
              <a:t>20</a:t>
            </a:fld>
            <a:endParaRPr lang="en-US"/>
          </a:p>
        </p:txBody>
      </p:sp>
    </p:spTree>
    <p:extLst>
      <p:ext uri="{BB962C8B-B14F-4D97-AF65-F5344CB8AC3E}">
        <p14:creationId xmlns:p14="http://schemas.microsoft.com/office/powerpoint/2010/main" val="16114223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confusion matrices for default and optimized </a:t>
            </a:r>
            <a:r>
              <a:rPr lang="en-US" dirty="0" err="1"/>
              <a:t>XGBoost</a:t>
            </a:r>
            <a:r>
              <a:rPr lang="en-US" dirty="0"/>
              <a:t> models. In the default model, all deaths (positive cases) were misclassified as survivors, resulting in 0 true positives. After optimization, the model correctly identified 848 deaths while reducing false negatives from 122 to 27. This trade-off improves recall significantly, ensuring that high-risk patients are identified rather than overlooked.</a:t>
            </a:r>
          </a:p>
        </p:txBody>
      </p:sp>
      <p:sp>
        <p:nvSpPr>
          <p:cNvPr id="4" name="Slide Number Placeholder 3"/>
          <p:cNvSpPr>
            <a:spLocks noGrp="1"/>
          </p:cNvSpPr>
          <p:nvPr>
            <p:ph type="sldNum" sz="quarter" idx="5"/>
          </p:nvPr>
        </p:nvSpPr>
        <p:spPr/>
        <p:txBody>
          <a:bodyPr/>
          <a:lstStyle/>
          <a:p>
            <a:fld id="{3AC6C0D6-3A41-7F48-935D-833BBC8E81A9}" type="slidenum">
              <a:rPr lang="en-US" smtClean="0"/>
              <a:t>21</a:t>
            </a:fld>
            <a:endParaRPr lang="en-US"/>
          </a:p>
        </p:txBody>
      </p:sp>
    </p:spTree>
    <p:extLst>
      <p:ext uri="{BB962C8B-B14F-4D97-AF65-F5344CB8AC3E}">
        <p14:creationId xmlns:p14="http://schemas.microsoft.com/office/powerpoint/2010/main" val="31565332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This slide compares the default vs. optimized performance of </a:t>
            </a:r>
            <a:r>
              <a:rPr lang="en-US" b="0" dirty="0" err="1"/>
              <a:t>XGBoost</a:t>
            </a:r>
            <a:r>
              <a:rPr lang="en-US" b="0" dirty="0"/>
              <a:t>. The left graph shows baseline performance at a 0.5 threshold, while the right graph shows performance after optimization for better classification.</a:t>
            </a:r>
          </a:p>
          <a:p>
            <a:pPr>
              <a:buFont typeface="Arial" panose="020B0604020202020204" pitchFamily="34" charset="0"/>
              <a:buChar char="•"/>
            </a:pPr>
            <a:r>
              <a:rPr lang="en-US" b="0" dirty="0"/>
              <a:t>Optimized model improves Precision (98.59%) &amp; Specificity (83.61%) but slightly lowers Recall (56.1%).</a:t>
            </a:r>
          </a:p>
          <a:p>
            <a:pPr>
              <a:buFont typeface="Arial" panose="020B0604020202020204" pitchFamily="34" charset="0"/>
              <a:buChar char="•"/>
            </a:pPr>
            <a:r>
              <a:rPr lang="en-US" b="0" dirty="0"/>
              <a:t>Default model has 100% Recall but fails on Specificity (0%), leading to many false positives.</a:t>
            </a:r>
          </a:p>
          <a:p>
            <a:pPr>
              <a:buFont typeface="Arial" panose="020B0604020202020204" pitchFamily="34" charset="0"/>
              <a:buChar char="•"/>
            </a:pPr>
            <a:r>
              <a:rPr lang="en-US" b="0" dirty="0"/>
              <a:t>Balanced trade-offs were made to improve real-world applicability.</a:t>
            </a:r>
          </a:p>
          <a:p>
            <a:endParaRPr lang="en-US" dirty="0"/>
          </a:p>
        </p:txBody>
      </p:sp>
      <p:sp>
        <p:nvSpPr>
          <p:cNvPr id="4" name="Slide Number Placeholder 3"/>
          <p:cNvSpPr>
            <a:spLocks noGrp="1"/>
          </p:cNvSpPr>
          <p:nvPr>
            <p:ph type="sldNum" sz="quarter" idx="5"/>
          </p:nvPr>
        </p:nvSpPr>
        <p:spPr/>
        <p:txBody>
          <a:bodyPr/>
          <a:lstStyle/>
          <a:p>
            <a:fld id="{3AC6C0D6-3A41-7F48-935D-833BBC8E81A9}" type="slidenum">
              <a:rPr lang="en-US" smtClean="0"/>
              <a:t>22</a:t>
            </a:fld>
            <a:endParaRPr lang="en-US"/>
          </a:p>
        </p:txBody>
      </p:sp>
    </p:spTree>
    <p:extLst>
      <p:ext uri="{BB962C8B-B14F-4D97-AF65-F5344CB8AC3E}">
        <p14:creationId xmlns:p14="http://schemas.microsoft.com/office/powerpoint/2010/main" val="40986956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As Data Scientists, we would go with Ridge and Boosting:</a:t>
            </a:r>
          </a:p>
          <a:p>
            <a:r>
              <a:rPr lang="en-US" b="0" dirty="0"/>
              <a:t>Ridge: Ridge → Best AUC-ROC, MCC, and Youden’s Index (most stable and generalizable model).</a:t>
            </a:r>
          </a:p>
          <a:p>
            <a:r>
              <a:rPr lang="en-US" b="0" dirty="0"/>
              <a:t>While Lasso and Elastic, though they have good general scores, but not selected because they have lower recall, AUC-ROC, and MCC, meaning they are less effective in predicting actual deaths and less stable overall</a:t>
            </a:r>
          </a:p>
          <a:p>
            <a:endParaRPr lang="en-US" b="0" dirty="0"/>
          </a:p>
          <a:p>
            <a:r>
              <a:rPr lang="en-US" b="0" dirty="0"/>
              <a:t>Boosting → Best Recall, Precision, and F1 Score and good at identification</a:t>
            </a:r>
          </a:p>
        </p:txBody>
      </p:sp>
      <p:sp>
        <p:nvSpPr>
          <p:cNvPr id="4" name="Slide Number Placeholder 3"/>
          <p:cNvSpPr>
            <a:spLocks noGrp="1"/>
          </p:cNvSpPr>
          <p:nvPr>
            <p:ph type="sldNum" sz="quarter" idx="5"/>
          </p:nvPr>
        </p:nvSpPr>
        <p:spPr/>
        <p:txBody>
          <a:bodyPr/>
          <a:lstStyle/>
          <a:p>
            <a:fld id="{3AC6C0D6-3A41-7F48-935D-833BBC8E81A9}" type="slidenum">
              <a:rPr lang="en-US" smtClean="0"/>
              <a:t>23</a:t>
            </a:fld>
            <a:endParaRPr lang="en-US"/>
          </a:p>
        </p:txBody>
      </p:sp>
    </p:spTree>
    <p:extLst>
      <p:ext uri="{BB962C8B-B14F-4D97-AF65-F5344CB8AC3E}">
        <p14:creationId xmlns:p14="http://schemas.microsoft.com/office/powerpoint/2010/main" val="24967117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Ridge and Boosting models based on their strengths. Ridge provides high accuracy (88.97%) and strong interpretability, making it ideal for understanding factors influencing death. Boosting, however, has the best recall (56.1%) and high precision (98.58%), ensuring high-risk patients are identified. Clinicians prefer Boosting for its ability to detect critical cases, while data scientists may favor Ridge for its stability and transparency.</a:t>
            </a:r>
          </a:p>
        </p:txBody>
      </p:sp>
      <p:sp>
        <p:nvSpPr>
          <p:cNvPr id="4" name="Slide Number Placeholder 3"/>
          <p:cNvSpPr>
            <a:spLocks noGrp="1"/>
          </p:cNvSpPr>
          <p:nvPr>
            <p:ph type="sldNum" sz="quarter" idx="5"/>
          </p:nvPr>
        </p:nvSpPr>
        <p:spPr/>
        <p:txBody>
          <a:bodyPr/>
          <a:lstStyle/>
          <a:p>
            <a:fld id="{3AC6C0D6-3A41-7F48-935D-833BBC8E81A9}" type="slidenum">
              <a:rPr lang="en-US" smtClean="0"/>
              <a:t>24</a:t>
            </a:fld>
            <a:endParaRPr lang="en-US"/>
          </a:p>
        </p:txBody>
      </p:sp>
    </p:spTree>
    <p:extLst>
      <p:ext uri="{BB962C8B-B14F-4D97-AF65-F5344CB8AC3E}">
        <p14:creationId xmlns:p14="http://schemas.microsoft.com/office/powerpoint/2010/main" val="1203286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6EF4F-91AE-D0A1-5AC0-7E2A2C9D71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DFC8A57-97D6-B6B1-291E-451A4D4547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46AC0C-7A8F-C09B-C982-2B40A1FB5C76}"/>
              </a:ext>
            </a:extLst>
          </p:cNvPr>
          <p:cNvSpPr>
            <a:spLocks noGrp="1"/>
          </p:cNvSpPr>
          <p:nvPr>
            <p:ph type="dt" sz="half" idx="10"/>
          </p:nvPr>
        </p:nvSpPr>
        <p:spPr/>
        <p:txBody>
          <a:bodyPr/>
          <a:lstStyle/>
          <a:p>
            <a:fld id="{DC5B4047-8178-8A44-9487-7FF05E207C22}" type="datetimeFigureOut">
              <a:rPr lang="en-US" smtClean="0"/>
              <a:t>2/21/25</a:t>
            </a:fld>
            <a:endParaRPr lang="en-US"/>
          </a:p>
        </p:txBody>
      </p:sp>
      <p:sp>
        <p:nvSpPr>
          <p:cNvPr id="5" name="Footer Placeholder 4">
            <a:extLst>
              <a:ext uri="{FF2B5EF4-FFF2-40B4-BE49-F238E27FC236}">
                <a16:creationId xmlns:a16="http://schemas.microsoft.com/office/drawing/2014/main" id="{00B3100D-F688-22F9-48EA-971606AFE1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42BDE7-BA44-A7C7-0E71-AD9BA6AC395F}"/>
              </a:ext>
            </a:extLst>
          </p:cNvPr>
          <p:cNvSpPr>
            <a:spLocks noGrp="1"/>
          </p:cNvSpPr>
          <p:nvPr>
            <p:ph type="sldNum" sz="quarter" idx="12"/>
          </p:nvPr>
        </p:nvSpPr>
        <p:spPr/>
        <p:txBody>
          <a:bodyPr/>
          <a:lstStyle/>
          <a:p>
            <a:fld id="{7AF912A3-9EA6-954F-B573-E83AB95CB107}" type="slidenum">
              <a:rPr lang="en-US" smtClean="0"/>
              <a:t>‹#›</a:t>
            </a:fld>
            <a:endParaRPr lang="en-US"/>
          </a:p>
        </p:txBody>
      </p:sp>
    </p:spTree>
    <p:extLst>
      <p:ext uri="{BB962C8B-B14F-4D97-AF65-F5344CB8AC3E}">
        <p14:creationId xmlns:p14="http://schemas.microsoft.com/office/powerpoint/2010/main" val="2461412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87BAE-8C26-99DC-ABBA-58E9A110A9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03BF75-C426-F648-38F2-D9462AFB66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634988-3523-C92C-388D-84EE6AD7F817}"/>
              </a:ext>
            </a:extLst>
          </p:cNvPr>
          <p:cNvSpPr>
            <a:spLocks noGrp="1"/>
          </p:cNvSpPr>
          <p:nvPr>
            <p:ph type="dt" sz="half" idx="10"/>
          </p:nvPr>
        </p:nvSpPr>
        <p:spPr/>
        <p:txBody>
          <a:bodyPr/>
          <a:lstStyle/>
          <a:p>
            <a:fld id="{DC5B4047-8178-8A44-9487-7FF05E207C22}" type="datetimeFigureOut">
              <a:rPr lang="en-US" smtClean="0"/>
              <a:t>2/21/25</a:t>
            </a:fld>
            <a:endParaRPr lang="en-US"/>
          </a:p>
        </p:txBody>
      </p:sp>
      <p:sp>
        <p:nvSpPr>
          <p:cNvPr id="5" name="Footer Placeholder 4">
            <a:extLst>
              <a:ext uri="{FF2B5EF4-FFF2-40B4-BE49-F238E27FC236}">
                <a16:creationId xmlns:a16="http://schemas.microsoft.com/office/drawing/2014/main" id="{610BD1F1-21C6-3071-9BC1-55912BBA2B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074739-6371-F529-49AC-AEBF217DD5D0}"/>
              </a:ext>
            </a:extLst>
          </p:cNvPr>
          <p:cNvSpPr>
            <a:spLocks noGrp="1"/>
          </p:cNvSpPr>
          <p:nvPr>
            <p:ph type="sldNum" sz="quarter" idx="12"/>
          </p:nvPr>
        </p:nvSpPr>
        <p:spPr/>
        <p:txBody>
          <a:bodyPr/>
          <a:lstStyle/>
          <a:p>
            <a:fld id="{7AF912A3-9EA6-954F-B573-E83AB95CB107}" type="slidenum">
              <a:rPr lang="en-US" smtClean="0"/>
              <a:t>‹#›</a:t>
            </a:fld>
            <a:endParaRPr lang="en-US"/>
          </a:p>
        </p:txBody>
      </p:sp>
    </p:spTree>
    <p:extLst>
      <p:ext uri="{BB962C8B-B14F-4D97-AF65-F5344CB8AC3E}">
        <p14:creationId xmlns:p14="http://schemas.microsoft.com/office/powerpoint/2010/main" val="2081280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64F14-DDD0-3A0F-93B1-E0628DFE8A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8A88DD0-FDB5-6C94-BB92-37B15EBFFEE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564CF0-037F-AED6-87E8-71D794205B04}"/>
              </a:ext>
            </a:extLst>
          </p:cNvPr>
          <p:cNvSpPr>
            <a:spLocks noGrp="1"/>
          </p:cNvSpPr>
          <p:nvPr>
            <p:ph type="dt" sz="half" idx="10"/>
          </p:nvPr>
        </p:nvSpPr>
        <p:spPr/>
        <p:txBody>
          <a:bodyPr/>
          <a:lstStyle/>
          <a:p>
            <a:fld id="{DC5B4047-8178-8A44-9487-7FF05E207C22}" type="datetimeFigureOut">
              <a:rPr lang="en-US" smtClean="0"/>
              <a:t>2/21/25</a:t>
            </a:fld>
            <a:endParaRPr lang="en-US"/>
          </a:p>
        </p:txBody>
      </p:sp>
      <p:sp>
        <p:nvSpPr>
          <p:cNvPr id="5" name="Footer Placeholder 4">
            <a:extLst>
              <a:ext uri="{FF2B5EF4-FFF2-40B4-BE49-F238E27FC236}">
                <a16:creationId xmlns:a16="http://schemas.microsoft.com/office/drawing/2014/main" id="{ED2F5C7A-2306-1464-34E7-EC20D2EDD8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349974-A08D-4177-B714-2882F1B68490}"/>
              </a:ext>
            </a:extLst>
          </p:cNvPr>
          <p:cNvSpPr>
            <a:spLocks noGrp="1"/>
          </p:cNvSpPr>
          <p:nvPr>
            <p:ph type="sldNum" sz="quarter" idx="12"/>
          </p:nvPr>
        </p:nvSpPr>
        <p:spPr/>
        <p:txBody>
          <a:bodyPr/>
          <a:lstStyle/>
          <a:p>
            <a:fld id="{7AF912A3-9EA6-954F-B573-E83AB95CB107}" type="slidenum">
              <a:rPr lang="en-US" smtClean="0"/>
              <a:t>‹#›</a:t>
            </a:fld>
            <a:endParaRPr lang="en-US"/>
          </a:p>
        </p:txBody>
      </p:sp>
    </p:spTree>
    <p:extLst>
      <p:ext uri="{BB962C8B-B14F-4D97-AF65-F5344CB8AC3E}">
        <p14:creationId xmlns:p14="http://schemas.microsoft.com/office/powerpoint/2010/main" val="3748783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1842B-D76F-75FD-CE4F-5FC6926941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23B09C-B764-C352-A81C-8737ABE567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72A792-00A4-4AF6-9069-5E6BA8877E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C231DD-E088-1174-BD7B-4440C46D7B55}"/>
              </a:ext>
            </a:extLst>
          </p:cNvPr>
          <p:cNvSpPr>
            <a:spLocks noGrp="1"/>
          </p:cNvSpPr>
          <p:nvPr>
            <p:ph type="dt" sz="half" idx="10"/>
          </p:nvPr>
        </p:nvSpPr>
        <p:spPr/>
        <p:txBody>
          <a:bodyPr/>
          <a:lstStyle/>
          <a:p>
            <a:fld id="{DC5B4047-8178-8A44-9487-7FF05E207C22}" type="datetimeFigureOut">
              <a:rPr lang="en-US" smtClean="0"/>
              <a:t>2/21/25</a:t>
            </a:fld>
            <a:endParaRPr lang="en-US"/>
          </a:p>
        </p:txBody>
      </p:sp>
      <p:sp>
        <p:nvSpPr>
          <p:cNvPr id="6" name="Footer Placeholder 5">
            <a:extLst>
              <a:ext uri="{FF2B5EF4-FFF2-40B4-BE49-F238E27FC236}">
                <a16:creationId xmlns:a16="http://schemas.microsoft.com/office/drawing/2014/main" id="{FD3F8E94-F7ED-4FD3-846E-CCFCB6C549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82BF75-C2EB-316C-E386-1EC22C68CA7C}"/>
              </a:ext>
            </a:extLst>
          </p:cNvPr>
          <p:cNvSpPr>
            <a:spLocks noGrp="1"/>
          </p:cNvSpPr>
          <p:nvPr>
            <p:ph type="sldNum" sz="quarter" idx="12"/>
          </p:nvPr>
        </p:nvSpPr>
        <p:spPr/>
        <p:txBody>
          <a:bodyPr/>
          <a:lstStyle/>
          <a:p>
            <a:fld id="{7AF912A3-9EA6-954F-B573-E83AB95CB107}" type="slidenum">
              <a:rPr lang="en-US" smtClean="0"/>
              <a:t>‹#›</a:t>
            </a:fld>
            <a:endParaRPr lang="en-US"/>
          </a:p>
        </p:txBody>
      </p:sp>
    </p:spTree>
    <p:extLst>
      <p:ext uri="{BB962C8B-B14F-4D97-AF65-F5344CB8AC3E}">
        <p14:creationId xmlns:p14="http://schemas.microsoft.com/office/powerpoint/2010/main" val="235747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A65BD-7819-A3FB-62C2-D0D9D83822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F0144B7-FF4D-C3A6-7E2C-A511028297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371973-E6D4-58F2-CB97-EE30AE2A76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AADDECF-4DEB-50AA-78DC-336E6E7EF4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D71E73-75AB-4190-9F28-6052DCA0C9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DD7964-8D1D-55D0-9B5B-78E64C2E72F3}"/>
              </a:ext>
            </a:extLst>
          </p:cNvPr>
          <p:cNvSpPr>
            <a:spLocks noGrp="1"/>
          </p:cNvSpPr>
          <p:nvPr>
            <p:ph type="dt" sz="half" idx="10"/>
          </p:nvPr>
        </p:nvSpPr>
        <p:spPr/>
        <p:txBody>
          <a:bodyPr/>
          <a:lstStyle/>
          <a:p>
            <a:fld id="{DC5B4047-8178-8A44-9487-7FF05E207C22}" type="datetimeFigureOut">
              <a:rPr lang="en-US" smtClean="0"/>
              <a:t>2/21/25</a:t>
            </a:fld>
            <a:endParaRPr lang="en-US"/>
          </a:p>
        </p:txBody>
      </p:sp>
      <p:sp>
        <p:nvSpPr>
          <p:cNvPr id="8" name="Footer Placeholder 7">
            <a:extLst>
              <a:ext uri="{FF2B5EF4-FFF2-40B4-BE49-F238E27FC236}">
                <a16:creationId xmlns:a16="http://schemas.microsoft.com/office/drawing/2014/main" id="{5BBE3FE1-F669-0FC4-B109-B26C5040074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D6C3C2-BFF6-9BB5-D199-24431D9D0C8B}"/>
              </a:ext>
            </a:extLst>
          </p:cNvPr>
          <p:cNvSpPr>
            <a:spLocks noGrp="1"/>
          </p:cNvSpPr>
          <p:nvPr>
            <p:ph type="sldNum" sz="quarter" idx="12"/>
          </p:nvPr>
        </p:nvSpPr>
        <p:spPr/>
        <p:txBody>
          <a:bodyPr/>
          <a:lstStyle/>
          <a:p>
            <a:fld id="{7AF912A3-9EA6-954F-B573-E83AB95CB107}" type="slidenum">
              <a:rPr lang="en-US" smtClean="0"/>
              <a:t>‹#›</a:t>
            </a:fld>
            <a:endParaRPr lang="en-US"/>
          </a:p>
        </p:txBody>
      </p:sp>
    </p:spTree>
    <p:extLst>
      <p:ext uri="{BB962C8B-B14F-4D97-AF65-F5344CB8AC3E}">
        <p14:creationId xmlns:p14="http://schemas.microsoft.com/office/powerpoint/2010/main" val="2218051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FE45E-D4C4-2CF8-FCBD-AA5BCAA7C4D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55825D-704E-9905-C3EB-582FDAF3D280}"/>
              </a:ext>
            </a:extLst>
          </p:cNvPr>
          <p:cNvSpPr>
            <a:spLocks noGrp="1"/>
          </p:cNvSpPr>
          <p:nvPr>
            <p:ph type="dt" sz="half" idx="10"/>
          </p:nvPr>
        </p:nvSpPr>
        <p:spPr/>
        <p:txBody>
          <a:bodyPr/>
          <a:lstStyle/>
          <a:p>
            <a:fld id="{DC5B4047-8178-8A44-9487-7FF05E207C22}" type="datetimeFigureOut">
              <a:rPr lang="en-US" smtClean="0"/>
              <a:t>2/21/25</a:t>
            </a:fld>
            <a:endParaRPr lang="en-US"/>
          </a:p>
        </p:txBody>
      </p:sp>
      <p:sp>
        <p:nvSpPr>
          <p:cNvPr id="4" name="Footer Placeholder 3">
            <a:extLst>
              <a:ext uri="{FF2B5EF4-FFF2-40B4-BE49-F238E27FC236}">
                <a16:creationId xmlns:a16="http://schemas.microsoft.com/office/drawing/2014/main" id="{E87BD838-B9FC-C2C2-A05F-61E1210E26F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A8326B0-8F57-0132-B009-D9E7EBAB1E59}"/>
              </a:ext>
            </a:extLst>
          </p:cNvPr>
          <p:cNvSpPr>
            <a:spLocks noGrp="1"/>
          </p:cNvSpPr>
          <p:nvPr>
            <p:ph type="sldNum" sz="quarter" idx="12"/>
          </p:nvPr>
        </p:nvSpPr>
        <p:spPr/>
        <p:txBody>
          <a:bodyPr/>
          <a:lstStyle/>
          <a:p>
            <a:fld id="{7AF912A3-9EA6-954F-B573-E83AB95CB107}" type="slidenum">
              <a:rPr lang="en-US" smtClean="0"/>
              <a:t>‹#›</a:t>
            </a:fld>
            <a:endParaRPr lang="en-US"/>
          </a:p>
        </p:txBody>
      </p:sp>
    </p:spTree>
    <p:extLst>
      <p:ext uri="{BB962C8B-B14F-4D97-AF65-F5344CB8AC3E}">
        <p14:creationId xmlns:p14="http://schemas.microsoft.com/office/powerpoint/2010/main" val="2541763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E98220-5476-D057-099A-CE7F50391B07}"/>
              </a:ext>
            </a:extLst>
          </p:cNvPr>
          <p:cNvSpPr>
            <a:spLocks noGrp="1"/>
          </p:cNvSpPr>
          <p:nvPr>
            <p:ph type="dt" sz="half" idx="10"/>
          </p:nvPr>
        </p:nvSpPr>
        <p:spPr/>
        <p:txBody>
          <a:bodyPr/>
          <a:lstStyle/>
          <a:p>
            <a:fld id="{DC5B4047-8178-8A44-9487-7FF05E207C22}" type="datetimeFigureOut">
              <a:rPr lang="en-US" smtClean="0"/>
              <a:t>2/21/25</a:t>
            </a:fld>
            <a:endParaRPr lang="en-US"/>
          </a:p>
        </p:txBody>
      </p:sp>
      <p:sp>
        <p:nvSpPr>
          <p:cNvPr id="3" name="Footer Placeholder 2">
            <a:extLst>
              <a:ext uri="{FF2B5EF4-FFF2-40B4-BE49-F238E27FC236}">
                <a16:creationId xmlns:a16="http://schemas.microsoft.com/office/drawing/2014/main" id="{08692219-F504-C8D7-0198-BB161D72E6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9941672-B176-B774-40FF-172D4132130B}"/>
              </a:ext>
            </a:extLst>
          </p:cNvPr>
          <p:cNvSpPr>
            <a:spLocks noGrp="1"/>
          </p:cNvSpPr>
          <p:nvPr>
            <p:ph type="sldNum" sz="quarter" idx="12"/>
          </p:nvPr>
        </p:nvSpPr>
        <p:spPr/>
        <p:txBody>
          <a:bodyPr/>
          <a:lstStyle/>
          <a:p>
            <a:fld id="{7AF912A3-9EA6-954F-B573-E83AB95CB107}" type="slidenum">
              <a:rPr lang="en-US" smtClean="0"/>
              <a:t>‹#›</a:t>
            </a:fld>
            <a:endParaRPr lang="en-US"/>
          </a:p>
        </p:txBody>
      </p:sp>
    </p:spTree>
    <p:extLst>
      <p:ext uri="{BB962C8B-B14F-4D97-AF65-F5344CB8AC3E}">
        <p14:creationId xmlns:p14="http://schemas.microsoft.com/office/powerpoint/2010/main" val="687634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17BF7-32C1-43FD-FE59-641BE8A116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BA49B3-E4AA-8BFE-39F6-8759AF04B5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FD2678-8462-10AA-385E-A7E535D883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58F00C-E932-F953-5279-E5DC4B22A719}"/>
              </a:ext>
            </a:extLst>
          </p:cNvPr>
          <p:cNvSpPr>
            <a:spLocks noGrp="1"/>
          </p:cNvSpPr>
          <p:nvPr>
            <p:ph type="dt" sz="half" idx="10"/>
          </p:nvPr>
        </p:nvSpPr>
        <p:spPr/>
        <p:txBody>
          <a:bodyPr/>
          <a:lstStyle/>
          <a:p>
            <a:fld id="{DC5B4047-8178-8A44-9487-7FF05E207C22}" type="datetimeFigureOut">
              <a:rPr lang="en-US" smtClean="0"/>
              <a:t>2/21/25</a:t>
            </a:fld>
            <a:endParaRPr lang="en-US"/>
          </a:p>
        </p:txBody>
      </p:sp>
      <p:sp>
        <p:nvSpPr>
          <p:cNvPr id="6" name="Footer Placeholder 5">
            <a:extLst>
              <a:ext uri="{FF2B5EF4-FFF2-40B4-BE49-F238E27FC236}">
                <a16:creationId xmlns:a16="http://schemas.microsoft.com/office/drawing/2014/main" id="{9BF8B036-DA8B-B978-BF27-23FCA558F7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07CEDD-3FFB-8861-C982-B9D405D1907B}"/>
              </a:ext>
            </a:extLst>
          </p:cNvPr>
          <p:cNvSpPr>
            <a:spLocks noGrp="1"/>
          </p:cNvSpPr>
          <p:nvPr>
            <p:ph type="sldNum" sz="quarter" idx="12"/>
          </p:nvPr>
        </p:nvSpPr>
        <p:spPr/>
        <p:txBody>
          <a:bodyPr/>
          <a:lstStyle/>
          <a:p>
            <a:fld id="{7AF912A3-9EA6-954F-B573-E83AB95CB107}" type="slidenum">
              <a:rPr lang="en-US" smtClean="0"/>
              <a:t>‹#›</a:t>
            </a:fld>
            <a:endParaRPr lang="en-US"/>
          </a:p>
        </p:txBody>
      </p:sp>
    </p:spTree>
    <p:extLst>
      <p:ext uri="{BB962C8B-B14F-4D97-AF65-F5344CB8AC3E}">
        <p14:creationId xmlns:p14="http://schemas.microsoft.com/office/powerpoint/2010/main" val="3870775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AFA0C-E2F4-867A-D549-9C897D4555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4D480C-31B0-1300-1D30-14DB17175E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9175828-3D84-7E2E-0F6F-710ACFE6A5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15BD87-09CB-ECFF-BC22-B8ACB5529366}"/>
              </a:ext>
            </a:extLst>
          </p:cNvPr>
          <p:cNvSpPr>
            <a:spLocks noGrp="1"/>
          </p:cNvSpPr>
          <p:nvPr>
            <p:ph type="dt" sz="half" idx="10"/>
          </p:nvPr>
        </p:nvSpPr>
        <p:spPr/>
        <p:txBody>
          <a:bodyPr/>
          <a:lstStyle/>
          <a:p>
            <a:fld id="{DC5B4047-8178-8A44-9487-7FF05E207C22}" type="datetimeFigureOut">
              <a:rPr lang="en-US" smtClean="0"/>
              <a:t>2/21/25</a:t>
            </a:fld>
            <a:endParaRPr lang="en-US"/>
          </a:p>
        </p:txBody>
      </p:sp>
      <p:sp>
        <p:nvSpPr>
          <p:cNvPr id="6" name="Footer Placeholder 5">
            <a:extLst>
              <a:ext uri="{FF2B5EF4-FFF2-40B4-BE49-F238E27FC236}">
                <a16:creationId xmlns:a16="http://schemas.microsoft.com/office/drawing/2014/main" id="{3F72CD16-0D2D-EB83-59C7-F0D5A93AE1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FDDD1A-064C-505C-3F33-F81099D57AC1}"/>
              </a:ext>
            </a:extLst>
          </p:cNvPr>
          <p:cNvSpPr>
            <a:spLocks noGrp="1"/>
          </p:cNvSpPr>
          <p:nvPr>
            <p:ph type="sldNum" sz="quarter" idx="12"/>
          </p:nvPr>
        </p:nvSpPr>
        <p:spPr/>
        <p:txBody>
          <a:bodyPr/>
          <a:lstStyle/>
          <a:p>
            <a:fld id="{7AF912A3-9EA6-954F-B573-E83AB95CB107}" type="slidenum">
              <a:rPr lang="en-US" smtClean="0"/>
              <a:t>‹#›</a:t>
            </a:fld>
            <a:endParaRPr lang="en-US"/>
          </a:p>
        </p:txBody>
      </p:sp>
    </p:spTree>
    <p:extLst>
      <p:ext uri="{BB962C8B-B14F-4D97-AF65-F5344CB8AC3E}">
        <p14:creationId xmlns:p14="http://schemas.microsoft.com/office/powerpoint/2010/main" val="3183657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4B28A-8089-CC9F-8A04-3AF9CE2922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9F11C1-DC02-9E36-EAA8-37808DEF64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0523BE-6C7B-8709-9C99-B2FC10E1163C}"/>
              </a:ext>
            </a:extLst>
          </p:cNvPr>
          <p:cNvSpPr>
            <a:spLocks noGrp="1"/>
          </p:cNvSpPr>
          <p:nvPr>
            <p:ph type="dt" sz="half" idx="10"/>
          </p:nvPr>
        </p:nvSpPr>
        <p:spPr/>
        <p:txBody>
          <a:bodyPr/>
          <a:lstStyle/>
          <a:p>
            <a:fld id="{DC5B4047-8178-8A44-9487-7FF05E207C22}" type="datetimeFigureOut">
              <a:rPr lang="en-US" smtClean="0"/>
              <a:t>2/21/25</a:t>
            </a:fld>
            <a:endParaRPr lang="en-US"/>
          </a:p>
        </p:txBody>
      </p:sp>
      <p:sp>
        <p:nvSpPr>
          <p:cNvPr id="5" name="Footer Placeholder 4">
            <a:extLst>
              <a:ext uri="{FF2B5EF4-FFF2-40B4-BE49-F238E27FC236}">
                <a16:creationId xmlns:a16="http://schemas.microsoft.com/office/drawing/2014/main" id="{5BA89B1A-8E1C-2FB0-90C4-9E5CB47B9F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9F8306-245D-7CC5-F318-1AD62E557157}"/>
              </a:ext>
            </a:extLst>
          </p:cNvPr>
          <p:cNvSpPr>
            <a:spLocks noGrp="1"/>
          </p:cNvSpPr>
          <p:nvPr>
            <p:ph type="sldNum" sz="quarter" idx="12"/>
          </p:nvPr>
        </p:nvSpPr>
        <p:spPr/>
        <p:txBody>
          <a:bodyPr/>
          <a:lstStyle/>
          <a:p>
            <a:fld id="{7AF912A3-9EA6-954F-B573-E83AB95CB107}" type="slidenum">
              <a:rPr lang="en-US" smtClean="0"/>
              <a:t>‹#›</a:t>
            </a:fld>
            <a:endParaRPr lang="en-US"/>
          </a:p>
        </p:txBody>
      </p:sp>
    </p:spTree>
    <p:extLst>
      <p:ext uri="{BB962C8B-B14F-4D97-AF65-F5344CB8AC3E}">
        <p14:creationId xmlns:p14="http://schemas.microsoft.com/office/powerpoint/2010/main" val="949422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FFD2D6-35A4-C625-F3EF-66D6A7259E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9BAF3CA-A792-269B-9CC9-FA29AAE9D7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244EDF-87DF-3C66-7BEE-2D758DE802AD}"/>
              </a:ext>
            </a:extLst>
          </p:cNvPr>
          <p:cNvSpPr>
            <a:spLocks noGrp="1"/>
          </p:cNvSpPr>
          <p:nvPr>
            <p:ph type="dt" sz="half" idx="10"/>
          </p:nvPr>
        </p:nvSpPr>
        <p:spPr/>
        <p:txBody>
          <a:bodyPr/>
          <a:lstStyle/>
          <a:p>
            <a:fld id="{DC5B4047-8178-8A44-9487-7FF05E207C22}" type="datetimeFigureOut">
              <a:rPr lang="en-US" smtClean="0"/>
              <a:t>2/21/25</a:t>
            </a:fld>
            <a:endParaRPr lang="en-US"/>
          </a:p>
        </p:txBody>
      </p:sp>
      <p:sp>
        <p:nvSpPr>
          <p:cNvPr id="5" name="Footer Placeholder 4">
            <a:extLst>
              <a:ext uri="{FF2B5EF4-FFF2-40B4-BE49-F238E27FC236}">
                <a16:creationId xmlns:a16="http://schemas.microsoft.com/office/drawing/2014/main" id="{7BD50A3B-1FA8-C10F-2F9A-2724E581EA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A77946-3E50-FA9D-AE8F-8A50D21BCC03}"/>
              </a:ext>
            </a:extLst>
          </p:cNvPr>
          <p:cNvSpPr>
            <a:spLocks noGrp="1"/>
          </p:cNvSpPr>
          <p:nvPr>
            <p:ph type="sldNum" sz="quarter" idx="12"/>
          </p:nvPr>
        </p:nvSpPr>
        <p:spPr/>
        <p:txBody>
          <a:bodyPr/>
          <a:lstStyle/>
          <a:p>
            <a:fld id="{7AF912A3-9EA6-954F-B573-E83AB95CB107}" type="slidenum">
              <a:rPr lang="en-US" smtClean="0"/>
              <a:t>‹#›</a:t>
            </a:fld>
            <a:endParaRPr lang="en-US"/>
          </a:p>
        </p:txBody>
      </p:sp>
    </p:spTree>
    <p:extLst>
      <p:ext uri="{BB962C8B-B14F-4D97-AF65-F5344CB8AC3E}">
        <p14:creationId xmlns:p14="http://schemas.microsoft.com/office/powerpoint/2010/main" val="1905712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B9078E-A3A4-1770-86A3-5BEEBADF5E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A8D142-473A-1A7C-8E1F-960C502FF7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27FA08-FBA2-F079-B12C-1B86FA13E9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5B4047-8178-8A44-9487-7FF05E207C22}" type="datetimeFigureOut">
              <a:rPr lang="en-US" smtClean="0"/>
              <a:t>2/21/25</a:t>
            </a:fld>
            <a:endParaRPr lang="en-US"/>
          </a:p>
        </p:txBody>
      </p:sp>
      <p:sp>
        <p:nvSpPr>
          <p:cNvPr id="5" name="Footer Placeholder 4">
            <a:extLst>
              <a:ext uri="{FF2B5EF4-FFF2-40B4-BE49-F238E27FC236}">
                <a16:creationId xmlns:a16="http://schemas.microsoft.com/office/drawing/2014/main" id="{29A83A39-CEC0-26E2-4E3A-1373B41C57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F2DC468-6481-E9E0-65B7-CF3A5A7C24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AF912A3-9EA6-954F-B573-E83AB95CB107}" type="slidenum">
              <a:rPr lang="en-US" smtClean="0"/>
              <a:t>‹#›</a:t>
            </a:fld>
            <a:endParaRPr lang="en-US"/>
          </a:p>
        </p:txBody>
      </p:sp>
    </p:spTree>
    <p:extLst>
      <p:ext uri="{BB962C8B-B14F-4D97-AF65-F5344CB8AC3E}">
        <p14:creationId xmlns:p14="http://schemas.microsoft.com/office/powerpoint/2010/main" val="34269481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19.jpeg"/><Relationship Id="rId4" Type="http://schemas.openxmlformats.org/officeDocument/2006/relationships/image" Target="../media/image18.jpeg"/></Relationships>
</file>

<file path=ppt/slides/_rels/slide15.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0.jpeg"/><Relationship Id="rId7" Type="http://schemas.openxmlformats.org/officeDocument/2006/relationships/image" Target="../media/image24.jpe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29.jpeg"/><Relationship Id="rId4" Type="http://schemas.openxmlformats.org/officeDocument/2006/relationships/image" Target="../media/image28.jpeg"/></Relationships>
</file>

<file path=ppt/slides/_rels/slide2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2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48267D-204A-66D2-512B-825D679652BA}"/>
              </a:ext>
            </a:extLst>
          </p:cNvPr>
          <p:cNvSpPr>
            <a:spLocks noGrp="1"/>
          </p:cNvSpPr>
          <p:nvPr>
            <p:ph type="ctrTitle"/>
          </p:nvPr>
        </p:nvSpPr>
        <p:spPr>
          <a:xfrm>
            <a:off x="823442" y="921715"/>
            <a:ext cx="5163022" cy="2635993"/>
          </a:xfrm>
        </p:spPr>
        <p:txBody>
          <a:bodyPr anchor="b">
            <a:normAutofit/>
          </a:bodyPr>
          <a:lstStyle/>
          <a:p>
            <a:pPr algn="l"/>
            <a:r>
              <a:rPr lang="en-US" sz="4800"/>
              <a:t>﻿MACHINE LEARNING ASSIGNMENT 2025</a:t>
            </a:r>
          </a:p>
        </p:txBody>
      </p:sp>
      <p:sp>
        <p:nvSpPr>
          <p:cNvPr id="21" name="Rectangle 20">
            <a:extLst>
              <a:ext uri="{FF2B5EF4-FFF2-40B4-BE49-F238E27FC236}">
                <a16:creationId xmlns:a16="http://schemas.microsoft.com/office/drawing/2014/main" id="{BC05CA36-AD6A-4ABF-9A05-52E5A143D2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022214"/>
            <a:ext cx="12192000" cy="2835786"/>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4331EE8-85A4-4588-8D9E-70E534D47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4022220"/>
            <a:ext cx="8153398" cy="2835780"/>
          </a:xfrm>
          <a:prstGeom prst="rect">
            <a:avLst/>
          </a:prstGeom>
          <a:gradFill>
            <a:gsLst>
              <a:gs pos="0">
                <a:srgbClr val="000000">
                  <a:alpha val="63000"/>
                </a:srgbClr>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D6C862-61CC-4B46-8080-96583D653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022219"/>
            <a:ext cx="12253472" cy="2835781"/>
          </a:xfrm>
          <a:prstGeom prst="rect">
            <a:avLst/>
          </a:prstGeom>
          <a:gradFill>
            <a:gsLst>
              <a:gs pos="39000">
                <a:schemeClr val="accent1">
                  <a:lumMod val="50000"/>
                  <a:alpha val="0"/>
                </a:schemeClr>
              </a:gs>
              <a:gs pos="100000">
                <a:srgbClr val="000000">
                  <a:alpha val="72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28D528D5-8952-4A2F-8F08-A4593F41174D}"/>
              </a:ext>
            </a:extLst>
          </p:cNvPr>
          <p:cNvSpPr>
            <a:spLocks noGrp="1"/>
          </p:cNvSpPr>
          <p:nvPr>
            <p:ph type="subTitle" idx="1"/>
          </p:nvPr>
        </p:nvSpPr>
        <p:spPr>
          <a:xfrm>
            <a:off x="823442" y="4541263"/>
            <a:ext cx="4662957" cy="1395022"/>
          </a:xfrm>
        </p:spPr>
        <p:txBody>
          <a:bodyPr anchor="t">
            <a:normAutofit/>
          </a:bodyPr>
          <a:lstStyle/>
          <a:p>
            <a:pPr algn="l"/>
            <a:r>
              <a:rPr lang="en-US">
                <a:solidFill>
                  <a:srgbClr val="FFFFFF"/>
                </a:solidFill>
              </a:rPr>
              <a:t>SUMMATIVE ASSIGNMENT</a:t>
            </a:r>
          </a:p>
          <a:p>
            <a:pPr algn="l"/>
            <a:r>
              <a:rPr lang="en-US">
                <a:solidFill>
                  <a:srgbClr val="FFFFFF"/>
                </a:solidFill>
              </a:rPr>
              <a:t>MACHINE LEARNING MODEL</a:t>
            </a:r>
          </a:p>
        </p:txBody>
      </p:sp>
      <p:pic>
        <p:nvPicPr>
          <p:cNvPr id="7" name="Graphic 6" descr="Head with Gears">
            <a:extLst>
              <a:ext uri="{FF2B5EF4-FFF2-40B4-BE49-F238E27FC236}">
                <a16:creationId xmlns:a16="http://schemas.microsoft.com/office/drawing/2014/main" id="{2E233F93-CBB9-0BCD-B43E-012B6443A89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73907" y="658489"/>
            <a:ext cx="5163022" cy="5163022"/>
          </a:xfrm>
          <a:prstGeom prst="rect">
            <a:avLst/>
          </a:prstGeom>
        </p:spPr>
      </p:pic>
      <p:sp>
        <p:nvSpPr>
          <p:cNvPr id="20" name="Rectangle 19">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0797"/>
            <a:ext cx="12191998" cy="457203"/>
          </a:xfrm>
          <a:prstGeom prst="rect">
            <a:avLst/>
          </a:prstGeom>
          <a:gradFill>
            <a:gsLst>
              <a:gs pos="0">
                <a:srgbClr val="000000">
                  <a:alpha val="43000"/>
                </a:srgbClr>
              </a:gs>
              <a:gs pos="79000">
                <a:schemeClr val="accent1">
                  <a:lumMod val="75000"/>
                  <a:alpha val="22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752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3829D-1A2E-6C5B-EBD3-173CE2497D1F}"/>
              </a:ext>
            </a:extLst>
          </p:cNvPr>
          <p:cNvSpPr>
            <a:spLocks noGrp="1"/>
          </p:cNvSpPr>
          <p:nvPr>
            <p:ph type="title"/>
          </p:nvPr>
        </p:nvSpPr>
        <p:spPr>
          <a:xfrm>
            <a:off x="249383" y="115744"/>
            <a:ext cx="11685318" cy="786782"/>
          </a:xfrm>
        </p:spPr>
        <p:txBody>
          <a:bodyPr>
            <a:normAutofit/>
          </a:bodyPr>
          <a:lstStyle/>
          <a:p>
            <a:r>
              <a:rPr lang="en-US" sz="3200" b="1" dirty="0">
                <a:solidFill>
                  <a:schemeClr val="tx2"/>
                </a:solidFill>
                <a:latin typeface="Arial" panose="020B0604020202020204" pitchFamily="34" charset="0"/>
                <a:cs typeface="Arial" panose="020B0604020202020204" pitchFamily="34" charset="0"/>
              </a:rPr>
              <a:t>TABLE OF CONTENTS</a:t>
            </a:r>
          </a:p>
        </p:txBody>
      </p:sp>
      <p:graphicFrame>
        <p:nvGraphicFramePr>
          <p:cNvPr id="4" name="Content Placeholder 3">
            <a:extLst>
              <a:ext uri="{FF2B5EF4-FFF2-40B4-BE49-F238E27FC236}">
                <a16:creationId xmlns:a16="http://schemas.microsoft.com/office/drawing/2014/main" id="{C1A5A222-0FC6-2CBC-92EA-396F9A087C8F}"/>
              </a:ext>
            </a:extLst>
          </p:cNvPr>
          <p:cNvGraphicFramePr>
            <a:graphicFrameLocks noGrp="1"/>
          </p:cNvGraphicFramePr>
          <p:nvPr>
            <p:ph idx="1"/>
            <p:extLst>
              <p:ext uri="{D42A27DB-BD31-4B8C-83A1-F6EECF244321}">
                <p14:modId xmlns:p14="http://schemas.microsoft.com/office/powerpoint/2010/main" val="2137734456"/>
              </p:ext>
            </p:extLst>
          </p:nvPr>
        </p:nvGraphicFramePr>
        <p:xfrm>
          <a:off x="249383" y="876022"/>
          <a:ext cx="11685318" cy="52744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96030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9A52-2A03-2C94-F699-5F3D762453D0}"/>
              </a:ext>
            </a:extLst>
          </p:cNvPr>
          <p:cNvSpPr>
            <a:spLocks noGrp="1"/>
          </p:cNvSpPr>
          <p:nvPr>
            <p:ph type="title"/>
          </p:nvPr>
        </p:nvSpPr>
        <p:spPr>
          <a:xfrm>
            <a:off x="318052" y="179596"/>
            <a:ext cx="11542644" cy="787814"/>
          </a:xfrm>
        </p:spPr>
        <p:txBody>
          <a:bodyPr>
            <a:normAutofit/>
          </a:bodyPr>
          <a:lstStyle/>
          <a:p>
            <a:pPr algn="ctr"/>
            <a:r>
              <a:rPr lang="en-US" sz="3200" b="1" dirty="0">
                <a:solidFill>
                  <a:srgbClr val="002060"/>
                </a:solidFill>
                <a:latin typeface="Arial" panose="020B0604020202020204" pitchFamily="34" charset="0"/>
                <a:cs typeface="Arial" panose="020B0604020202020204" pitchFamily="34" charset="0"/>
              </a:rPr>
              <a:t>KEY ASPECTS OF MACHINE LEARNING MODEL</a:t>
            </a:r>
          </a:p>
        </p:txBody>
      </p:sp>
      <p:sp>
        <p:nvSpPr>
          <p:cNvPr id="3" name="Content Placeholder 2">
            <a:extLst>
              <a:ext uri="{FF2B5EF4-FFF2-40B4-BE49-F238E27FC236}">
                <a16:creationId xmlns:a16="http://schemas.microsoft.com/office/drawing/2014/main" id="{FDB5CD54-46C2-C195-635C-09137C2BD1DF}"/>
              </a:ext>
            </a:extLst>
          </p:cNvPr>
          <p:cNvSpPr>
            <a:spLocks noGrp="1"/>
          </p:cNvSpPr>
          <p:nvPr>
            <p:ph idx="1"/>
          </p:nvPr>
        </p:nvSpPr>
        <p:spPr>
          <a:xfrm>
            <a:off x="318052" y="1113183"/>
            <a:ext cx="11542644" cy="5499652"/>
          </a:xfrm>
        </p:spPr>
        <p:txBody>
          <a:bodyPr anchor="ctr">
            <a:normAutofit/>
          </a:bodyPr>
          <a:lstStyle/>
          <a:p>
            <a:pPr marL="0" indent="0">
              <a:lnSpc>
                <a:spcPct val="150000"/>
              </a:lnSpc>
              <a:buNone/>
            </a:pPr>
            <a:r>
              <a:rPr lang="en-US" sz="2400" dirty="0">
                <a:latin typeface="Arial" panose="020B0604020202020204" pitchFamily="34" charset="0"/>
                <a:cs typeface="Arial" panose="020B0604020202020204" pitchFamily="34" charset="0"/>
              </a:rPr>
              <a:t>Predict the probability of death within 2 weeks of stroke treatment using 22 baseline variables.</a:t>
            </a:r>
          </a:p>
          <a:p>
            <a:pPr marL="0" indent="0">
              <a:lnSpc>
                <a:spcPct val="150000"/>
              </a:lnSpc>
              <a:buNone/>
            </a:pPr>
            <a:r>
              <a:rPr lang="en-US" sz="2400" dirty="0">
                <a:latin typeface="Arial" panose="020B0604020202020204" pitchFamily="34" charset="0"/>
                <a:cs typeface="Arial" panose="020B0604020202020204" pitchFamily="34" charset="0"/>
              </a:rPr>
              <a:t>Identify the main predictors influencing the cause of death.</a:t>
            </a:r>
          </a:p>
          <a:p>
            <a:pPr marL="0" indent="0">
              <a:lnSpc>
                <a:spcPct val="150000"/>
              </a:lnSpc>
              <a:buNone/>
            </a:pPr>
            <a:r>
              <a:rPr lang="en-US" sz="2400" dirty="0">
                <a:latin typeface="Arial" panose="020B0604020202020204" pitchFamily="34" charset="0"/>
                <a:cs typeface="Arial" panose="020B0604020202020204" pitchFamily="34" charset="0"/>
              </a:rPr>
              <a:t>Compare </a:t>
            </a:r>
            <a:r>
              <a:rPr lang="en-US" sz="2400" dirty="0" err="1">
                <a:latin typeface="Arial" panose="020B0604020202020204" pitchFamily="34" charset="0"/>
                <a:cs typeface="Arial" panose="020B0604020202020204" pitchFamily="34" charset="0"/>
              </a:rPr>
              <a:t>regularised</a:t>
            </a:r>
            <a:r>
              <a:rPr lang="en-US" sz="2400" dirty="0">
                <a:latin typeface="Arial" panose="020B0604020202020204" pitchFamily="34" charset="0"/>
                <a:cs typeface="Arial" panose="020B0604020202020204" pitchFamily="34" charset="0"/>
              </a:rPr>
              <a:t> regression models (Lasso, Ridge, Elastic Net) and tree-based models (Boosting) based on the following;</a:t>
            </a:r>
          </a:p>
          <a:p>
            <a:pPr marL="514350" indent="-514350">
              <a:lnSpc>
                <a:spcPct val="150000"/>
              </a:lnSpc>
              <a:buFont typeface="+mj-lt"/>
              <a:buAutoNum type="arabicPeriod"/>
            </a:pPr>
            <a:r>
              <a:rPr lang="en-US" sz="2400" dirty="0">
                <a:latin typeface="Arial" panose="020B0604020202020204" pitchFamily="34" charset="0"/>
                <a:cs typeface="Arial" panose="020B0604020202020204" pitchFamily="34" charset="0"/>
              </a:rPr>
              <a:t>Performance on the validation set.</a:t>
            </a:r>
          </a:p>
          <a:p>
            <a:pPr marL="514350" indent="-514350">
              <a:lnSpc>
                <a:spcPct val="150000"/>
              </a:lnSpc>
              <a:buFont typeface="+mj-lt"/>
              <a:buAutoNum type="arabicPeriod"/>
            </a:pPr>
            <a:r>
              <a:rPr lang="en-US" sz="2400" dirty="0">
                <a:latin typeface="Arial" panose="020B0604020202020204" pitchFamily="34" charset="0"/>
                <a:cs typeface="Arial" panose="020B0604020202020204" pitchFamily="34" charset="0"/>
              </a:rPr>
              <a:t>Variable importance across models.</a:t>
            </a:r>
          </a:p>
        </p:txBody>
      </p:sp>
    </p:spTree>
    <p:extLst>
      <p:ext uri="{BB962C8B-B14F-4D97-AF65-F5344CB8AC3E}">
        <p14:creationId xmlns:p14="http://schemas.microsoft.com/office/powerpoint/2010/main" val="803863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EC3E9-F2C8-A77B-9AB9-36A4F3C6A398}"/>
              </a:ext>
            </a:extLst>
          </p:cNvPr>
          <p:cNvSpPr>
            <a:spLocks noGrp="1"/>
          </p:cNvSpPr>
          <p:nvPr>
            <p:ph type="title"/>
          </p:nvPr>
        </p:nvSpPr>
        <p:spPr>
          <a:xfrm>
            <a:off x="159027" y="179596"/>
            <a:ext cx="11781182" cy="787814"/>
          </a:xfrm>
        </p:spPr>
        <p:txBody>
          <a:bodyPr vert="horz" lIns="91440" tIns="45720" rIns="91440" bIns="45720" rtlCol="0" anchor="ctr">
            <a:normAutofit/>
          </a:bodyPr>
          <a:lstStyle/>
          <a:p>
            <a:pPr algn="ctr"/>
            <a:r>
              <a:rPr lang="en-US" sz="3200" b="1" kern="1200">
                <a:solidFill>
                  <a:srgbClr val="002060"/>
                </a:solidFill>
                <a:latin typeface="+mj-lt"/>
                <a:ea typeface="+mj-ea"/>
                <a:cs typeface="+mj-cs"/>
              </a:rPr>
              <a:t>TASK 1-A: EXPLORATORY ANALYSIS OF THE DATA SET</a:t>
            </a:r>
          </a:p>
        </p:txBody>
      </p:sp>
      <p:pic>
        <p:nvPicPr>
          <p:cNvPr id="7" name="Picture 6" descr="A graph showing a number of times&#10;&#10;Description automatically generated with medium confidence">
            <a:extLst>
              <a:ext uri="{FF2B5EF4-FFF2-40B4-BE49-F238E27FC236}">
                <a16:creationId xmlns:a16="http://schemas.microsoft.com/office/drawing/2014/main" id="{3593A9D8-09CF-F383-303B-7A66929FBD83}"/>
              </a:ext>
            </a:extLst>
          </p:cNvPr>
          <p:cNvPicPr>
            <a:picLocks noChangeAspect="1"/>
          </p:cNvPicPr>
          <p:nvPr/>
        </p:nvPicPr>
        <p:blipFill>
          <a:blip r:embed="rId3"/>
          <a:stretch>
            <a:fillRect/>
          </a:stretch>
        </p:blipFill>
        <p:spPr>
          <a:xfrm>
            <a:off x="189222" y="1722783"/>
            <a:ext cx="5744523" cy="4581258"/>
          </a:xfrm>
          <a:prstGeom prst="rect">
            <a:avLst/>
          </a:prstGeom>
        </p:spPr>
      </p:pic>
      <p:pic>
        <p:nvPicPr>
          <p:cNvPr id="5" name="Picture 4" descr="A graph of distribution of age&#10;&#10;Description automatically generated">
            <a:extLst>
              <a:ext uri="{FF2B5EF4-FFF2-40B4-BE49-F238E27FC236}">
                <a16:creationId xmlns:a16="http://schemas.microsoft.com/office/drawing/2014/main" id="{48A9B4C0-2E1F-DD15-700B-7667AE20C088}"/>
              </a:ext>
            </a:extLst>
          </p:cNvPr>
          <p:cNvPicPr>
            <a:picLocks noChangeAspect="1"/>
          </p:cNvPicPr>
          <p:nvPr/>
        </p:nvPicPr>
        <p:blipFill>
          <a:blip r:embed="rId4"/>
          <a:stretch>
            <a:fillRect/>
          </a:stretch>
        </p:blipFill>
        <p:spPr>
          <a:xfrm>
            <a:off x="6275289" y="1722783"/>
            <a:ext cx="5744523" cy="4581258"/>
          </a:xfrm>
          <a:prstGeom prst="rect">
            <a:avLst/>
          </a:prstGeom>
        </p:spPr>
      </p:pic>
    </p:spTree>
    <p:extLst>
      <p:ext uri="{BB962C8B-B14F-4D97-AF65-F5344CB8AC3E}">
        <p14:creationId xmlns:p14="http://schemas.microsoft.com/office/powerpoint/2010/main" val="2769899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B0C395-AB4B-F14F-8AC4-743D6EA33B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B0C401-BFD3-BC36-6D1B-B8AF812962BA}"/>
              </a:ext>
            </a:extLst>
          </p:cNvPr>
          <p:cNvSpPr>
            <a:spLocks noGrp="1"/>
          </p:cNvSpPr>
          <p:nvPr>
            <p:ph type="title"/>
          </p:nvPr>
        </p:nvSpPr>
        <p:spPr>
          <a:xfrm>
            <a:off x="1113810" y="498764"/>
            <a:ext cx="4036334" cy="5910200"/>
          </a:xfrm>
        </p:spPr>
        <p:txBody>
          <a:bodyPr vert="horz" lIns="91440" tIns="45720" rIns="91440" bIns="45720" rtlCol="0" anchor="ctr">
            <a:normAutofit/>
          </a:bodyPr>
          <a:lstStyle/>
          <a:p>
            <a:pPr algn="ctr"/>
            <a:r>
              <a:rPr lang="en-US" sz="3800" b="1" kern="1200" dirty="0">
                <a:solidFill>
                  <a:srgbClr val="002060"/>
                </a:solidFill>
                <a:latin typeface="Arial" panose="020B0604020202020204" pitchFamily="34" charset="0"/>
                <a:cs typeface="Arial" panose="020B0604020202020204" pitchFamily="34" charset="0"/>
              </a:rPr>
              <a:t>Outcome (Death) Distribution</a:t>
            </a:r>
          </a:p>
        </p:txBody>
      </p:sp>
      <p:pic>
        <p:nvPicPr>
          <p:cNvPr id="6" name="Picture 5" descr="A blue rectangle with a number of numbers&#10;&#10;Description automatically generated">
            <a:extLst>
              <a:ext uri="{FF2B5EF4-FFF2-40B4-BE49-F238E27FC236}">
                <a16:creationId xmlns:a16="http://schemas.microsoft.com/office/drawing/2014/main" id="{366F75DE-9A50-0E50-5BCA-46803EA26D6C}"/>
              </a:ext>
            </a:extLst>
          </p:cNvPr>
          <p:cNvPicPr>
            <a:picLocks noChangeAspect="1"/>
          </p:cNvPicPr>
          <p:nvPr/>
        </p:nvPicPr>
        <p:blipFill>
          <a:blip r:embed="rId3"/>
          <a:stretch>
            <a:fillRect/>
          </a:stretch>
        </p:blipFill>
        <p:spPr>
          <a:xfrm>
            <a:off x="5685809" y="498764"/>
            <a:ext cx="5992761" cy="5597236"/>
          </a:xfrm>
          <a:prstGeom prst="rect">
            <a:avLst/>
          </a:prstGeom>
        </p:spPr>
      </p:pic>
    </p:spTree>
    <p:extLst>
      <p:ext uri="{BB962C8B-B14F-4D97-AF65-F5344CB8AC3E}">
        <p14:creationId xmlns:p14="http://schemas.microsoft.com/office/powerpoint/2010/main" val="1076809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6EB25D-7B9A-65D6-394D-A936BA046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0DD470-2B1A-4ED4-55FA-1B9584608121}"/>
              </a:ext>
            </a:extLst>
          </p:cNvPr>
          <p:cNvSpPr>
            <a:spLocks noGrp="1"/>
          </p:cNvSpPr>
          <p:nvPr>
            <p:ph type="title"/>
          </p:nvPr>
        </p:nvSpPr>
        <p:spPr>
          <a:xfrm>
            <a:off x="212035" y="192848"/>
            <a:ext cx="11767930" cy="840823"/>
          </a:xfrm>
        </p:spPr>
        <p:txBody>
          <a:bodyPr vert="horz" lIns="91440" tIns="45720" rIns="91440" bIns="45720" rtlCol="0" anchor="ctr">
            <a:normAutofit/>
          </a:bodyPr>
          <a:lstStyle/>
          <a:p>
            <a:pPr algn="ctr"/>
            <a:r>
              <a:rPr lang="en-US" sz="3200" b="1" kern="1200" dirty="0">
                <a:solidFill>
                  <a:srgbClr val="002060"/>
                </a:solidFill>
                <a:latin typeface="+mj-lt"/>
                <a:ea typeface="+mj-ea"/>
                <a:cs typeface="+mj-cs"/>
              </a:rPr>
              <a:t>EXPLORATORY ANALYSIS OF THE DATA SET</a:t>
            </a:r>
          </a:p>
        </p:txBody>
      </p:sp>
      <p:pic>
        <p:nvPicPr>
          <p:cNvPr id="8" name="Picture 7" descr="A diagram of treatment distribution&#10;&#10;Description automatically generated">
            <a:extLst>
              <a:ext uri="{FF2B5EF4-FFF2-40B4-BE49-F238E27FC236}">
                <a16:creationId xmlns:a16="http://schemas.microsoft.com/office/drawing/2014/main" id="{4518E16D-BEE9-92A3-214C-67AD5E47C4D6}"/>
              </a:ext>
            </a:extLst>
          </p:cNvPr>
          <p:cNvPicPr>
            <a:picLocks noChangeAspect="1"/>
          </p:cNvPicPr>
          <p:nvPr/>
        </p:nvPicPr>
        <p:blipFill>
          <a:blip r:embed="rId3"/>
          <a:stretch>
            <a:fillRect/>
          </a:stretch>
        </p:blipFill>
        <p:spPr>
          <a:xfrm>
            <a:off x="169238" y="1775792"/>
            <a:ext cx="5678055" cy="4528250"/>
          </a:xfrm>
          <a:prstGeom prst="rect">
            <a:avLst/>
          </a:prstGeom>
        </p:spPr>
      </p:pic>
      <p:pic>
        <p:nvPicPr>
          <p:cNvPr id="10" name="Picture 9" descr="A graph of stroke subtype distribution&#10;&#10;Description automatically generated">
            <a:extLst>
              <a:ext uri="{FF2B5EF4-FFF2-40B4-BE49-F238E27FC236}">
                <a16:creationId xmlns:a16="http://schemas.microsoft.com/office/drawing/2014/main" id="{AD00AFE6-F245-C214-B11F-97ECADC36032}"/>
              </a:ext>
            </a:extLst>
          </p:cNvPr>
          <p:cNvPicPr>
            <a:picLocks noChangeAspect="1"/>
          </p:cNvPicPr>
          <p:nvPr/>
        </p:nvPicPr>
        <p:blipFill>
          <a:blip r:embed="rId4"/>
          <a:stretch>
            <a:fillRect/>
          </a:stretch>
        </p:blipFill>
        <p:spPr>
          <a:xfrm>
            <a:off x="6344705" y="1775792"/>
            <a:ext cx="5678055" cy="4528250"/>
          </a:xfrm>
          <a:prstGeom prst="rect">
            <a:avLst/>
          </a:prstGeom>
        </p:spPr>
      </p:pic>
    </p:spTree>
    <p:extLst>
      <p:ext uri="{BB962C8B-B14F-4D97-AF65-F5344CB8AC3E}">
        <p14:creationId xmlns:p14="http://schemas.microsoft.com/office/powerpoint/2010/main" val="2045065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695F1-C1D6-8E64-2A55-6C4D2326EFF9}"/>
              </a:ext>
            </a:extLst>
          </p:cNvPr>
          <p:cNvSpPr>
            <a:spLocks noGrp="1"/>
          </p:cNvSpPr>
          <p:nvPr>
            <p:ph type="title"/>
          </p:nvPr>
        </p:nvSpPr>
        <p:spPr>
          <a:xfrm>
            <a:off x="172279" y="179595"/>
            <a:ext cx="11807686" cy="1013101"/>
          </a:xfrm>
        </p:spPr>
        <p:txBody>
          <a:bodyPr vert="horz" lIns="91440" tIns="45720" rIns="91440" bIns="45720" rtlCol="0" anchor="ctr">
            <a:normAutofit/>
          </a:bodyPr>
          <a:lstStyle/>
          <a:p>
            <a:pPr algn="ctr"/>
            <a:r>
              <a:rPr lang="en-US" sz="3200" b="1" kern="1200" dirty="0">
                <a:solidFill>
                  <a:srgbClr val="002060"/>
                </a:solidFill>
                <a:latin typeface="Arial" panose="020B0604020202020204" pitchFamily="34" charset="0"/>
                <a:cs typeface="Arial" panose="020B0604020202020204" pitchFamily="34" charset="0"/>
              </a:rPr>
              <a:t>PATIENT DEMOGRAPHICS AND COMORBIDITIES</a:t>
            </a:r>
          </a:p>
        </p:txBody>
      </p:sp>
      <p:pic>
        <p:nvPicPr>
          <p:cNvPr id="5" name="Content Placeholder 4" descr="A graph of a number of fibrillation distribution&#10;&#10;Description automatically generated">
            <a:extLst>
              <a:ext uri="{FF2B5EF4-FFF2-40B4-BE49-F238E27FC236}">
                <a16:creationId xmlns:a16="http://schemas.microsoft.com/office/drawing/2014/main" id="{D4906D95-4B2F-F1FB-C090-7B5FFF560A97}"/>
              </a:ext>
            </a:extLst>
          </p:cNvPr>
          <p:cNvPicPr>
            <a:picLocks noGrp="1" noChangeAspect="1"/>
          </p:cNvPicPr>
          <p:nvPr>
            <p:ph idx="1"/>
          </p:nvPr>
        </p:nvPicPr>
        <p:blipFill>
          <a:blip r:embed="rId3"/>
          <a:stretch>
            <a:fillRect/>
          </a:stretch>
        </p:blipFill>
        <p:spPr>
          <a:xfrm>
            <a:off x="169238" y="1722784"/>
            <a:ext cx="5744523" cy="4581258"/>
          </a:xfrm>
          <a:prstGeom prst="rect">
            <a:avLst/>
          </a:prstGeom>
        </p:spPr>
      </p:pic>
      <p:pic>
        <p:nvPicPr>
          <p:cNvPr id="7" name="Picture 6" descr="A blue and red squares with black text&#10;&#10;Description automatically generated">
            <a:extLst>
              <a:ext uri="{FF2B5EF4-FFF2-40B4-BE49-F238E27FC236}">
                <a16:creationId xmlns:a16="http://schemas.microsoft.com/office/drawing/2014/main" id="{F64E8A74-E7E4-4878-BBFE-107007B149BA}"/>
              </a:ext>
            </a:extLst>
          </p:cNvPr>
          <p:cNvPicPr>
            <a:picLocks noChangeAspect="1"/>
          </p:cNvPicPr>
          <p:nvPr/>
        </p:nvPicPr>
        <p:blipFill>
          <a:blip r:embed="rId4"/>
          <a:stretch>
            <a:fillRect/>
          </a:stretch>
        </p:blipFill>
        <p:spPr>
          <a:xfrm>
            <a:off x="6411173" y="1722783"/>
            <a:ext cx="5744523" cy="4581258"/>
          </a:xfrm>
          <a:prstGeom prst="rect">
            <a:avLst/>
          </a:prstGeom>
        </p:spPr>
      </p:pic>
    </p:spTree>
    <p:extLst>
      <p:ext uri="{BB962C8B-B14F-4D97-AF65-F5344CB8AC3E}">
        <p14:creationId xmlns:p14="http://schemas.microsoft.com/office/powerpoint/2010/main" val="885907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0F64AE-2BA7-74FA-24FF-2D1D8AE620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C68B98-98B2-C02F-9BEB-3CA639844615}"/>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b="1" kern="1200">
                <a:solidFill>
                  <a:srgbClr val="FFFFFF"/>
                </a:solidFill>
                <a:latin typeface="+mj-lt"/>
                <a:ea typeface="+mj-ea"/>
                <a:cs typeface="+mj-cs"/>
              </a:rPr>
              <a:t>Correlation</a:t>
            </a:r>
          </a:p>
        </p:txBody>
      </p:sp>
      <p:pic>
        <p:nvPicPr>
          <p:cNvPr id="8" name="Content Placeholder 7" descr="A graph showing the heatmap and the relationship between heatmap and death&#10;&#10;Description automatically generated">
            <a:extLst>
              <a:ext uri="{FF2B5EF4-FFF2-40B4-BE49-F238E27FC236}">
                <a16:creationId xmlns:a16="http://schemas.microsoft.com/office/drawing/2014/main" id="{74AAF3A8-23EE-6123-B064-E7348C81EA1B}"/>
              </a:ext>
            </a:extLst>
          </p:cNvPr>
          <p:cNvPicPr>
            <a:picLocks noGrp="1" noChangeAspect="1"/>
          </p:cNvPicPr>
          <p:nvPr>
            <p:ph idx="1"/>
          </p:nvPr>
        </p:nvPicPr>
        <p:blipFill>
          <a:blip r:embed="rId3"/>
          <a:srcRect t="8565" b="9653"/>
          <a:stretch/>
        </p:blipFill>
        <p:spPr>
          <a:xfrm>
            <a:off x="4143840" y="755374"/>
            <a:ext cx="7928890" cy="5257204"/>
          </a:xfrm>
          <a:prstGeom prst="rect">
            <a:avLst/>
          </a:prstGeom>
        </p:spPr>
      </p:pic>
    </p:spTree>
    <p:extLst>
      <p:ext uri="{BB962C8B-B14F-4D97-AF65-F5344CB8AC3E}">
        <p14:creationId xmlns:p14="http://schemas.microsoft.com/office/powerpoint/2010/main" val="1468267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F53C7-A90A-9BAA-93E9-995F078B88CC}"/>
              </a:ext>
            </a:extLst>
          </p:cNvPr>
          <p:cNvSpPr>
            <a:spLocks noGrp="1"/>
          </p:cNvSpPr>
          <p:nvPr>
            <p:ph type="title"/>
          </p:nvPr>
        </p:nvSpPr>
        <p:spPr>
          <a:xfrm>
            <a:off x="357810" y="228149"/>
            <a:ext cx="11529390" cy="739260"/>
          </a:xfrm>
        </p:spPr>
        <p:txBody>
          <a:bodyPr anchor="ctr">
            <a:normAutofit/>
          </a:bodyPr>
          <a:lstStyle/>
          <a:p>
            <a:pPr algn="ctr"/>
            <a:r>
              <a:rPr lang="en-US" sz="3200" b="1" dirty="0">
                <a:solidFill>
                  <a:srgbClr val="002060"/>
                </a:solidFill>
                <a:latin typeface="Arial" panose="020B0604020202020204" pitchFamily="34" charset="0"/>
                <a:cs typeface="Arial" panose="020B0604020202020204" pitchFamily="34" charset="0"/>
              </a:rPr>
              <a:t>TASK 1-B (ONE-HOT ENCODING)</a:t>
            </a:r>
          </a:p>
        </p:txBody>
      </p:sp>
      <p:graphicFrame>
        <p:nvGraphicFramePr>
          <p:cNvPr id="8" name="Content Placeholder 7">
            <a:extLst>
              <a:ext uri="{FF2B5EF4-FFF2-40B4-BE49-F238E27FC236}">
                <a16:creationId xmlns:a16="http://schemas.microsoft.com/office/drawing/2014/main" id="{6F53722C-6F54-3377-AB5F-D60C28EF8AA7}"/>
              </a:ext>
            </a:extLst>
          </p:cNvPr>
          <p:cNvGraphicFramePr>
            <a:graphicFrameLocks noGrp="1"/>
          </p:cNvGraphicFramePr>
          <p:nvPr>
            <p:ph idx="1"/>
            <p:extLst>
              <p:ext uri="{D42A27DB-BD31-4B8C-83A1-F6EECF244321}">
                <p14:modId xmlns:p14="http://schemas.microsoft.com/office/powerpoint/2010/main" val="1942953352"/>
              </p:ext>
            </p:extLst>
          </p:nvPr>
        </p:nvGraphicFramePr>
        <p:xfrm>
          <a:off x="357809" y="1219200"/>
          <a:ext cx="11529389" cy="5234606"/>
        </p:xfrm>
        <a:graphic>
          <a:graphicData uri="http://schemas.openxmlformats.org/drawingml/2006/table">
            <a:tbl>
              <a:tblPr firstRow="1" bandRow="1">
                <a:tableStyleId>{5940675A-B579-460E-94D1-54222C63F5DA}</a:tableStyleId>
              </a:tblPr>
              <a:tblGrid>
                <a:gridCol w="2557804">
                  <a:extLst>
                    <a:ext uri="{9D8B030D-6E8A-4147-A177-3AD203B41FA5}">
                      <a16:colId xmlns:a16="http://schemas.microsoft.com/office/drawing/2014/main" val="2660672358"/>
                    </a:ext>
                  </a:extLst>
                </a:gridCol>
                <a:gridCol w="2710166">
                  <a:extLst>
                    <a:ext uri="{9D8B030D-6E8A-4147-A177-3AD203B41FA5}">
                      <a16:colId xmlns:a16="http://schemas.microsoft.com/office/drawing/2014/main" val="3759377663"/>
                    </a:ext>
                  </a:extLst>
                </a:gridCol>
                <a:gridCol w="2698484">
                  <a:extLst>
                    <a:ext uri="{9D8B030D-6E8A-4147-A177-3AD203B41FA5}">
                      <a16:colId xmlns:a16="http://schemas.microsoft.com/office/drawing/2014/main" val="2072118948"/>
                    </a:ext>
                  </a:extLst>
                </a:gridCol>
                <a:gridCol w="3562935">
                  <a:extLst>
                    <a:ext uri="{9D8B030D-6E8A-4147-A177-3AD203B41FA5}">
                      <a16:colId xmlns:a16="http://schemas.microsoft.com/office/drawing/2014/main" val="1032230885"/>
                    </a:ext>
                  </a:extLst>
                </a:gridCol>
              </a:tblGrid>
              <a:tr h="713003">
                <a:tc>
                  <a:txBody>
                    <a:bodyPr/>
                    <a:lstStyle/>
                    <a:p>
                      <a:pPr algn="ctr" fontAlgn="b"/>
                      <a:r>
                        <a:rPr lang="en-US" sz="1800" b="1" u="none" strike="noStrike">
                          <a:solidFill>
                            <a:srgbClr val="000000"/>
                          </a:solidFill>
                          <a:effectLst/>
                          <a:latin typeface="Arial" panose="020B0604020202020204" pitchFamily="34" charset="0"/>
                          <a:cs typeface="Arial" panose="020B0604020202020204" pitchFamily="34" charset="0"/>
                        </a:rPr>
                        <a:t>Original Variable</a:t>
                      </a:r>
                      <a:endParaRPr lang="en-US" sz="1800" b="1"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1" u="none" strike="noStrike">
                          <a:solidFill>
                            <a:srgbClr val="000000"/>
                          </a:solidFill>
                          <a:effectLst/>
                          <a:latin typeface="Arial" panose="020B0604020202020204" pitchFamily="34" charset="0"/>
                          <a:cs typeface="Arial" panose="020B0604020202020204" pitchFamily="34" charset="0"/>
                        </a:rPr>
                        <a:t>Unique Categories</a:t>
                      </a:r>
                    </a:p>
                    <a:p>
                      <a:pPr algn="ctr" fontAlgn="b"/>
                      <a:r>
                        <a:rPr lang="en-US" sz="1800" b="1" u="none" strike="noStrike">
                          <a:solidFill>
                            <a:srgbClr val="000000"/>
                          </a:solidFill>
                          <a:effectLst/>
                          <a:latin typeface="Arial" panose="020B0604020202020204" pitchFamily="34" charset="0"/>
                          <a:cs typeface="Arial" panose="020B0604020202020204" pitchFamily="34" charset="0"/>
                        </a:rPr>
                        <a:t>Before Encoding.</a:t>
                      </a:r>
                      <a:endParaRPr lang="en-US" sz="1800" b="1"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1" u="none" strike="noStrike">
                          <a:solidFill>
                            <a:srgbClr val="000000"/>
                          </a:solidFill>
                          <a:effectLst/>
                          <a:latin typeface="Arial" panose="020B0604020202020204" pitchFamily="34" charset="0"/>
                          <a:cs typeface="Arial" panose="020B0604020202020204" pitchFamily="34" charset="0"/>
                        </a:rPr>
                        <a:t>New Binary Columns</a:t>
                      </a:r>
                    </a:p>
                    <a:p>
                      <a:pPr algn="ctr" fontAlgn="b"/>
                      <a:r>
                        <a:rPr lang="en-US" sz="1800" b="1" u="none" strike="noStrike">
                          <a:solidFill>
                            <a:srgbClr val="000000"/>
                          </a:solidFill>
                          <a:effectLst/>
                          <a:latin typeface="Arial" panose="020B0604020202020204" pitchFamily="34" charset="0"/>
                          <a:cs typeface="Arial" panose="020B0604020202020204" pitchFamily="34" charset="0"/>
                        </a:rPr>
                        <a:t>After Encoding</a:t>
                      </a:r>
                      <a:endParaRPr lang="en-US" sz="1800" b="1"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1" dirty="0"/>
                        <a:t>Expected Encoded Columns in </a:t>
                      </a:r>
                      <a:r>
                        <a:rPr lang="en-US" sz="1800" b="1" dirty="0" err="1"/>
                        <a:t>df_encoded</a:t>
                      </a:r>
                      <a:endParaRPr lang="en-US" sz="1800" b="1" i="0" u="none" strike="noStrike" dirty="0">
                        <a:solidFill>
                          <a:srgbClr val="000000"/>
                        </a:solidFill>
                        <a:effectLst/>
                        <a:latin typeface="Arial" panose="020B0604020202020204" pitchFamily="34" charset="0"/>
                        <a:cs typeface="Arial" panose="020B0604020202020204" pitchFamily="34" charset="0"/>
                      </a:endParaRPr>
                    </a:p>
                  </a:txBody>
                  <a:tcPr marL="5963" marR="5963" marT="5963" marB="0" anchor="ctr"/>
                </a:tc>
                <a:extLst>
                  <a:ext uri="{0D108BD9-81ED-4DB2-BD59-A6C34878D82A}">
                    <a16:rowId xmlns:a16="http://schemas.microsoft.com/office/drawing/2014/main" val="1182002350"/>
                  </a:ext>
                </a:extLst>
              </a:tr>
              <a:tr h="380860">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consc</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2</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2</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dirty="0" err="1"/>
                        <a:t>conscD</a:t>
                      </a:r>
                      <a:r>
                        <a:rPr lang="en-US" sz="1800" dirty="0"/>
                        <a:t>, </a:t>
                      </a:r>
                      <a:r>
                        <a:rPr lang="en-US" sz="1800" dirty="0" err="1"/>
                        <a:t>conscF</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5963" marR="5963" marT="5963" marB="0" anchor="ctr"/>
                </a:tc>
                <a:extLst>
                  <a:ext uri="{0D108BD9-81ED-4DB2-BD59-A6C34878D82A}">
                    <a16:rowId xmlns:a16="http://schemas.microsoft.com/office/drawing/2014/main" val="1542650957"/>
                  </a:ext>
                </a:extLst>
              </a:tr>
              <a:tr h="380860">
                <a:tc>
                  <a:txBody>
                    <a:bodyPr/>
                    <a:lstStyle/>
                    <a:p>
                      <a:pPr algn="ctr" fontAlgn="b"/>
                      <a:r>
                        <a:rPr lang="en-US" sz="1800" b="0" u="none" strike="noStrike" dirty="0">
                          <a:solidFill>
                            <a:srgbClr val="000000"/>
                          </a:solidFill>
                          <a:effectLst/>
                          <a:latin typeface="Arial" panose="020B0604020202020204" pitchFamily="34" charset="0"/>
                          <a:cs typeface="Arial" panose="020B0604020202020204" pitchFamily="34" charset="0"/>
                        </a:rPr>
                        <a:t>gender</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2</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1</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a:t>genderM</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extLst>
                  <a:ext uri="{0D108BD9-81ED-4DB2-BD59-A6C34878D82A}">
                    <a16:rowId xmlns:a16="http://schemas.microsoft.com/office/drawing/2014/main" val="4219610820"/>
                  </a:ext>
                </a:extLst>
              </a:tr>
              <a:tr h="380860">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wakesym</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2</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1</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a:t>wakesymY</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extLst>
                  <a:ext uri="{0D108BD9-81ED-4DB2-BD59-A6C34878D82A}">
                    <a16:rowId xmlns:a16="http://schemas.microsoft.com/office/drawing/2014/main" val="764130671"/>
                  </a:ext>
                </a:extLst>
              </a:tr>
              <a:tr h="380860">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atrial</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2</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1</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a:t>atrialY</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extLst>
                  <a:ext uri="{0D108BD9-81ED-4DB2-BD59-A6C34878D82A}">
                    <a16:rowId xmlns:a16="http://schemas.microsoft.com/office/drawing/2014/main" val="2473416173"/>
                  </a:ext>
                </a:extLst>
              </a:tr>
              <a:tr h="380860">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CTScan</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2</a:t>
                      </a:r>
                    </a:p>
                  </a:txBody>
                  <a:tcPr marL="5963" marR="5963" marT="5963" marB="0" anchor="ctr"/>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1</a:t>
                      </a:r>
                    </a:p>
                  </a:txBody>
                  <a:tcPr marL="5963" marR="5963" marT="5963" marB="0" anchor="ctr"/>
                </a:tc>
                <a:tc>
                  <a:txBody>
                    <a:bodyPr/>
                    <a:lstStyle/>
                    <a:p>
                      <a:pPr algn="ctr" fontAlgn="b"/>
                      <a:r>
                        <a:rPr lang="en-US" sz="1800"/>
                        <a:t>CTY</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extLst>
                  <a:ext uri="{0D108BD9-81ED-4DB2-BD59-A6C34878D82A}">
                    <a16:rowId xmlns:a16="http://schemas.microsoft.com/office/drawing/2014/main" val="2522779978"/>
                  </a:ext>
                </a:extLst>
              </a:tr>
              <a:tr h="380860">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Infarction</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0</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1</a:t>
                      </a:r>
                    </a:p>
                  </a:txBody>
                  <a:tcPr marL="5963" marR="5963" marT="5963" marB="0" anchor="ctr"/>
                </a:tc>
                <a:tc>
                  <a:txBody>
                    <a:bodyPr/>
                    <a:lstStyle/>
                    <a:p>
                      <a:pPr algn="ctr" fontAlgn="b"/>
                      <a:r>
                        <a:rPr lang="en-US" sz="1800"/>
                        <a:t>InfarcY</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extLst>
                  <a:ext uri="{0D108BD9-81ED-4DB2-BD59-A6C34878D82A}">
                    <a16:rowId xmlns:a16="http://schemas.microsoft.com/office/drawing/2014/main" val="1908680599"/>
                  </a:ext>
                </a:extLst>
              </a:tr>
              <a:tr h="380860">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hep24</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2</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1</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a:t>hep24Y</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extLst>
                  <a:ext uri="{0D108BD9-81ED-4DB2-BD59-A6C34878D82A}">
                    <a16:rowId xmlns:a16="http://schemas.microsoft.com/office/drawing/2014/main" val="3166506210"/>
                  </a:ext>
                </a:extLst>
              </a:tr>
              <a:tr h="380860">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asp3</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2</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1</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a:t>asp3Y</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extLst>
                  <a:ext uri="{0D108BD9-81ED-4DB2-BD59-A6C34878D82A}">
                    <a16:rowId xmlns:a16="http://schemas.microsoft.com/office/drawing/2014/main" val="2137902341"/>
                  </a:ext>
                </a:extLst>
              </a:tr>
              <a:tr h="713003">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Subtype</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5</a:t>
                      </a:r>
                    </a:p>
                  </a:txBody>
                  <a:tcPr marL="5963" marR="5963" marT="5963" marB="0" anchor="ctr"/>
                </a:tc>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4</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a:t>subtypeOTH, subtypePACS, subtypePOCS, subtypeTACS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extLst>
                  <a:ext uri="{0D108BD9-81ED-4DB2-BD59-A6C34878D82A}">
                    <a16:rowId xmlns:a16="http://schemas.microsoft.com/office/drawing/2014/main" val="3214906826"/>
                  </a:ext>
                </a:extLst>
              </a:tr>
              <a:tr h="380860">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Treatment 1</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3</a:t>
                      </a:r>
                    </a:p>
                  </a:txBody>
                  <a:tcPr marL="5963" marR="5963" marT="5963" marB="0" anchor="ctr"/>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2</a:t>
                      </a:r>
                    </a:p>
                  </a:txBody>
                  <a:tcPr marL="5963" marR="5963" marT="5963" marB="0" anchor="ctr"/>
                </a:tc>
                <a:tc>
                  <a:txBody>
                    <a:bodyPr/>
                    <a:lstStyle/>
                    <a:p>
                      <a:pPr algn="ctr" fontAlgn="b"/>
                      <a:r>
                        <a:rPr lang="en-US" sz="1800"/>
                        <a:t>treat1M, treat1N</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extLst>
                  <a:ext uri="{0D108BD9-81ED-4DB2-BD59-A6C34878D82A}">
                    <a16:rowId xmlns:a16="http://schemas.microsoft.com/office/drawing/2014/main" val="342771322"/>
                  </a:ext>
                </a:extLst>
              </a:tr>
              <a:tr h="380860">
                <a:tc>
                  <a:txBody>
                    <a:bodyPr/>
                    <a:lstStyle/>
                    <a:p>
                      <a:pPr algn="ctr" fontAlgn="b"/>
                      <a:r>
                        <a:rPr lang="en-US" sz="1800" b="0" u="none" strike="noStrike">
                          <a:solidFill>
                            <a:srgbClr val="000000"/>
                          </a:solidFill>
                          <a:effectLst/>
                          <a:latin typeface="Arial" panose="020B0604020202020204" pitchFamily="34" charset="0"/>
                          <a:cs typeface="Arial" panose="020B0604020202020204" pitchFamily="34" charset="0"/>
                        </a:rPr>
                        <a:t>Treatment 2</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5963" marR="5963" marT="5963" marB="0" anchor="ctr"/>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2</a:t>
                      </a:r>
                    </a:p>
                  </a:txBody>
                  <a:tcPr marL="5963" marR="5963" marT="5963" marB="0" anchor="ctr"/>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1</a:t>
                      </a:r>
                    </a:p>
                  </a:txBody>
                  <a:tcPr marL="5963" marR="5963" marT="5963" marB="0" anchor="ctr"/>
                </a:tc>
                <a:tc>
                  <a:txBody>
                    <a:bodyPr/>
                    <a:lstStyle/>
                    <a:p>
                      <a:pPr algn="ctr" fontAlgn="b"/>
                      <a:r>
                        <a:rPr lang="en-US" sz="1800" dirty="0"/>
                        <a:t>treat2Y</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5963" marR="5963" marT="5963" marB="0" anchor="ctr"/>
                </a:tc>
                <a:extLst>
                  <a:ext uri="{0D108BD9-81ED-4DB2-BD59-A6C34878D82A}">
                    <a16:rowId xmlns:a16="http://schemas.microsoft.com/office/drawing/2014/main" val="950494758"/>
                  </a:ext>
                </a:extLst>
              </a:tr>
            </a:tbl>
          </a:graphicData>
        </a:graphic>
      </p:graphicFrame>
    </p:spTree>
    <p:extLst>
      <p:ext uri="{BB962C8B-B14F-4D97-AF65-F5344CB8AC3E}">
        <p14:creationId xmlns:p14="http://schemas.microsoft.com/office/powerpoint/2010/main" val="644082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B59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63E88A-529C-AFE3-222A-40A8433021D4}"/>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b="1" kern="1200">
                <a:solidFill>
                  <a:srgbClr val="FFFFFF"/>
                </a:solidFill>
                <a:latin typeface="+mj-lt"/>
                <a:ea typeface="+mj-ea"/>
                <a:cs typeface="+mj-cs"/>
              </a:rPr>
              <a:t>TASK 1-B</a:t>
            </a:r>
            <a:br>
              <a:rPr lang="en-US" sz="2600" b="1" kern="1200">
                <a:solidFill>
                  <a:srgbClr val="FFFFFF"/>
                </a:solidFill>
                <a:latin typeface="+mj-lt"/>
                <a:ea typeface="+mj-ea"/>
                <a:cs typeface="+mj-cs"/>
              </a:rPr>
            </a:br>
            <a:r>
              <a:rPr lang="en-US" sz="2600" b="1" kern="1200">
                <a:solidFill>
                  <a:srgbClr val="FFFFFF"/>
                </a:solidFill>
                <a:latin typeface="+mj-lt"/>
                <a:ea typeface="+mj-ea"/>
                <a:cs typeface="+mj-cs"/>
              </a:rPr>
              <a:t>STRATIED SPLIT AND SMOTE</a:t>
            </a:r>
          </a:p>
        </p:txBody>
      </p:sp>
      <p:pic>
        <p:nvPicPr>
          <p:cNvPr id="36" name="Content Placeholder 35" descr="A graph showing a number of smotes&#10;&#10;Description automatically generated">
            <a:extLst>
              <a:ext uri="{FF2B5EF4-FFF2-40B4-BE49-F238E27FC236}">
                <a16:creationId xmlns:a16="http://schemas.microsoft.com/office/drawing/2014/main" id="{D5B14893-F3BF-7762-B782-949BD72EAC58}"/>
              </a:ext>
            </a:extLst>
          </p:cNvPr>
          <p:cNvPicPr>
            <a:picLocks noGrp="1" noChangeAspect="1"/>
          </p:cNvPicPr>
          <p:nvPr>
            <p:ph idx="1"/>
          </p:nvPr>
        </p:nvPicPr>
        <p:blipFill>
          <a:blip r:embed="rId3"/>
          <a:stretch>
            <a:fillRect/>
          </a:stretch>
        </p:blipFill>
        <p:spPr>
          <a:xfrm>
            <a:off x="4541172" y="397565"/>
            <a:ext cx="6868950" cy="6082747"/>
          </a:xfrm>
          <a:prstGeom prst="rect">
            <a:avLst/>
          </a:prstGeom>
        </p:spPr>
      </p:pic>
    </p:spTree>
    <p:extLst>
      <p:ext uri="{BB962C8B-B14F-4D97-AF65-F5344CB8AC3E}">
        <p14:creationId xmlns:p14="http://schemas.microsoft.com/office/powerpoint/2010/main" val="2966355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5FF3B-0E93-20A4-FFEF-85EF2AF2396A}"/>
              </a:ext>
            </a:extLst>
          </p:cNvPr>
          <p:cNvSpPr>
            <a:spLocks noGrp="1"/>
          </p:cNvSpPr>
          <p:nvPr>
            <p:ph type="title"/>
          </p:nvPr>
        </p:nvSpPr>
        <p:spPr>
          <a:xfrm>
            <a:off x="253340" y="127618"/>
            <a:ext cx="11685320" cy="660889"/>
          </a:xfrm>
        </p:spPr>
        <p:txBody>
          <a:bodyPr>
            <a:normAutofit/>
          </a:bodyPr>
          <a:lstStyle/>
          <a:p>
            <a:pPr algn="ctr"/>
            <a:r>
              <a:rPr lang="en-US" sz="3200" b="1" dirty="0">
                <a:solidFill>
                  <a:srgbClr val="002060"/>
                </a:solidFill>
                <a:latin typeface="Arial" panose="020B0604020202020204" pitchFamily="34" charset="0"/>
                <a:cs typeface="Arial" panose="020B0604020202020204" pitchFamily="34" charset="0"/>
              </a:rPr>
              <a:t>LOGISTIC REGRESSION</a:t>
            </a:r>
          </a:p>
        </p:txBody>
      </p:sp>
      <p:sp>
        <p:nvSpPr>
          <p:cNvPr id="3" name="Content Placeholder 2">
            <a:extLst>
              <a:ext uri="{FF2B5EF4-FFF2-40B4-BE49-F238E27FC236}">
                <a16:creationId xmlns:a16="http://schemas.microsoft.com/office/drawing/2014/main" id="{11E54233-2D62-3707-C7DD-4FA4C6DDB89B}"/>
              </a:ext>
            </a:extLst>
          </p:cNvPr>
          <p:cNvSpPr>
            <a:spLocks noGrp="1"/>
          </p:cNvSpPr>
          <p:nvPr>
            <p:ph idx="1"/>
          </p:nvPr>
        </p:nvSpPr>
        <p:spPr>
          <a:xfrm>
            <a:off x="97181" y="1033671"/>
            <a:ext cx="11841477" cy="853044"/>
          </a:xfrm>
        </p:spPr>
        <p:txBody>
          <a:bodyPr anchor="ctr">
            <a:normAutofit lnSpcReduction="10000"/>
          </a:bodyPr>
          <a:lstStyle/>
          <a:p>
            <a:pPr marL="0" indent="0">
              <a:buNone/>
            </a:pPr>
            <a:r>
              <a:rPr lang="en-US" dirty="0">
                <a:latin typeface="Arial" panose="020B0604020202020204" pitchFamily="34" charset="0"/>
                <a:cs typeface="Arial" panose="020B0604020202020204" pitchFamily="34" charset="0"/>
              </a:rPr>
              <a:t>As data was binary, logistic regression was used. The three models below were used to check the prediction performance.</a:t>
            </a:r>
          </a:p>
        </p:txBody>
      </p:sp>
      <p:graphicFrame>
        <p:nvGraphicFramePr>
          <p:cNvPr id="4" name="Table 3">
            <a:extLst>
              <a:ext uri="{FF2B5EF4-FFF2-40B4-BE49-F238E27FC236}">
                <a16:creationId xmlns:a16="http://schemas.microsoft.com/office/drawing/2014/main" id="{F011A445-5C89-E19B-2369-3B63C122F42D}"/>
              </a:ext>
            </a:extLst>
          </p:cNvPr>
          <p:cNvGraphicFramePr>
            <a:graphicFrameLocks noGrp="1"/>
          </p:cNvGraphicFramePr>
          <p:nvPr>
            <p:extLst>
              <p:ext uri="{D42A27DB-BD31-4B8C-83A1-F6EECF244321}">
                <p14:modId xmlns:p14="http://schemas.microsoft.com/office/powerpoint/2010/main" val="1299593203"/>
              </p:ext>
            </p:extLst>
          </p:nvPr>
        </p:nvGraphicFramePr>
        <p:xfrm>
          <a:off x="97182" y="2019234"/>
          <a:ext cx="11841477" cy="4050259"/>
        </p:xfrm>
        <a:graphic>
          <a:graphicData uri="http://schemas.openxmlformats.org/drawingml/2006/table">
            <a:tbl>
              <a:tblPr firstRow="1" bandRow="1">
                <a:tableStyleId>{C083E6E3-FA7D-4D7B-A595-EF9225AFEA82}</a:tableStyleId>
              </a:tblPr>
              <a:tblGrid>
                <a:gridCol w="3947159">
                  <a:extLst>
                    <a:ext uri="{9D8B030D-6E8A-4147-A177-3AD203B41FA5}">
                      <a16:colId xmlns:a16="http://schemas.microsoft.com/office/drawing/2014/main" val="2630151843"/>
                    </a:ext>
                  </a:extLst>
                </a:gridCol>
                <a:gridCol w="3947159">
                  <a:extLst>
                    <a:ext uri="{9D8B030D-6E8A-4147-A177-3AD203B41FA5}">
                      <a16:colId xmlns:a16="http://schemas.microsoft.com/office/drawing/2014/main" val="1850740662"/>
                    </a:ext>
                  </a:extLst>
                </a:gridCol>
                <a:gridCol w="3947159">
                  <a:extLst>
                    <a:ext uri="{9D8B030D-6E8A-4147-A177-3AD203B41FA5}">
                      <a16:colId xmlns:a16="http://schemas.microsoft.com/office/drawing/2014/main" val="150945206"/>
                    </a:ext>
                  </a:extLst>
                </a:gridCol>
              </a:tblGrid>
              <a:tr h="4050259">
                <a:tc>
                  <a:txBody>
                    <a:bodyPr/>
                    <a:lstStyle/>
                    <a:p>
                      <a:r>
                        <a:rPr lang="en-US" b="1" dirty="0"/>
                        <a:t>Lasso Regression</a:t>
                      </a:r>
                    </a:p>
                    <a:p>
                      <a:r>
                        <a:rPr lang="en-US" b="1" dirty="0"/>
                        <a:t>(L1 </a:t>
                      </a:r>
                      <a:r>
                        <a:rPr lang="en-US" b="1" dirty="0" err="1"/>
                        <a:t>Regularisation</a:t>
                      </a:r>
                      <a:r>
                        <a:rPr lang="en-US" b="1" dirty="0"/>
                        <a:t>)</a:t>
                      </a:r>
                    </a:p>
                    <a:p>
                      <a:endParaRPr lang="en-US" b="1" dirty="0"/>
                    </a:p>
                    <a:p>
                      <a:r>
                        <a:rPr lang="en-US" b="1" dirty="0"/>
                        <a:t>Key Feature: </a:t>
                      </a:r>
                      <a:r>
                        <a:rPr lang="en-US" b="0" dirty="0"/>
                        <a:t>Feature selection capability</a:t>
                      </a:r>
                    </a:p>
                    <a:p>
                      <a:endParaRPr lang="en-US" b="0" dirty="0"/>
                    </a:p>
                    <a:p>
                      <a:r>
                        <a:rPr lang="en-US" b="1" dirty="0"/>
                        <a:t>Mechanism: </a:t>
                      </a:r>
                      <a:r>
                        <a:rPr lang="en-US" b="0" dirty="0"/>
                        <a:t>Uses L1 penalty</a:t>
                      </a:r>
                    </a:p>
                    <a:p>
                      <a:endParaRPr lang="en-US" b="0" dirty="0"/>
                    </a:p>
                    <a:p>
                      <a:r>
                        <a:rPr lang="en-US" b="1" dirty="0"/>
                        <a:t>Limitation: </a:t>
                      </a:r>
                      <a:r>
                        <a:rPr lang="en-US" b="0" dirty="0"/>
                        <a:t>Can be unstable when features are highly correlated</a:t>
                      </a:r>
                    </a:p>
                    <a:p>
                      <a:endParaRPr lang="en-US" b="0" dirty="0">
                        <a:latin typeface="Arial" panose="020B0604020202020204" pitchFamily="34" charset="0"/>
                        <a:cs typeface="Arial" panose="020B0604020202020204" pitchFamily="34" charset="0"/>
                      </a:endParaRPr>
                    </a:p>
                  </a:txBody>
                  <a:tcPr anchor="ctr"/>
                </a:tc>
                <a:tc>
                  <a:txBody>
                    <a:bodyPr/>
                    <a:lstStyle/>
                    <a:p>
                      <a:r>
                        <a:rPr lang="en-US" b="1" dirty="0"/>
                        <a:t>Ridge Regression</a:t>
                      </a:r>
                    </a:p>
                    <a:p>
                      <a:r>
                        <a:rPr lang="en-US" b="1" dirty="0"/>
                        <a:t>(L2 </a:t>
                      </a:r>
                      <a:r>
                        <a:rPr lang="en-US" b="1" dirty="0" err="1"/>
                        <a:t>Regularisation</a:t>
                      </a:r>
                      <a:r>
                        <a:rPr lang="en-US" b="1" dirty="0"/>
                        <a:t>)</a:t>
                      </a:r>
                    </a:p>
                    <a:p>
                      <a:endParaRPr lang="en-US" b="1" dirty="0"/>
                    </a:p>
                    <a:p>
                      <a:r>
                        <a:rPr lang="en-US" b="1" dirty="0"/>
                        <a:t>Key Feature: </a:t>
                      </a:r>
                      <a:r>
                        <a:rPr lang="en-US" b="0" dirty="0"/>
                        <a:t>Shrinks coefficients but does not set them to zero.</a:t>
                      </a:r>
                    </a:p>
                    <a:p>
                      <a:endParaRPr lang="en-US" b="0" dirty="0"/>
                    </a:p>
                    <a:p>
                      <a:r>
                        <a:rPr lang="en-US" b="1" dirty="0"/>
                        <a:t>Mechanism:</a:t>
                      </a:r>
                      <a:r>
                        <a:rPr lang="en-US" b="0" dirty="0"/>
                        <a:t> Uses L2 penalty</a:t>
                      </a:r>
                    </a:p>
                    <a:p>
                      <a:endParaRPr lang="en-US" b="0" dirty="0"/>
                    </a:p>
                    <a:p>
                      <a:r>
                        <a:rPr lang="en-US" b="1" dirty="0"/>
                        <a:t>Limitation:</a:t>
                      </a:r>
                      <a:r>
                        <a:rPr lang="en-US" b="0" dirty="0"/>
                        <a:t> Doesn’t perform feature selection</a:t>
                      </a:r>
                      <a:endParaRPr lang="en-US" b="0" dirty="0">
                        <a:latin typeface="Arial" panose="020B0604020202020204" pitchFamily="34" charset="0"/>
                        <a:cs typeface="Arial" panose="020B0604020202020204" pitchFamily="34" charset="0"/>
                      </a:endParaRPr>
                    </a:p>
                  </a:txBody>
                  <a:tcPr anchor="ctr"/>
                </a:tc>
                <a:tc>
                  <a:txBody>
                    <a:bodyPr/>
                    <a:lstStyle/>
                    <a:p>
                      <a:r>
                        <a:rPr lang="en-US" b="1" dirty="0"/>
                        <a:t>Elastic Net Regression</a:t>
                      </a:r>
                    </a:p>
                    <a:p>
                      <a:r>
                        <a:rPr lang="en-US" b="1" dirty="0"/>
                        <a:t>(Combination of L1 &amp; L2)</a:t>
                      </a:r>
                    </a:p>
                    <a:p>
                      <a:endParaRPr lang="en-US" b="1" dirty="0"/>
                    </a:p>
                    <a:p>
                      <a:r>
                        <a:rPr lang="en-US" b="1" dirty="0"/>
                        <a:t>Key Feature:</a:t>
                      </a:r>
                      <a:r>
                        <a:rPr lang="en-US" b="0" dirty="0"/>
                        <a:t> Combines the benefits of Lasso (feature selection) and Ridge (handles multicollinearity).</a:t>
                      </a:r>
                    </a:p>
                    <a:p>
                      <a:endParaRPr lang="en-US" b="0" dirty="0"/>
                    </a:p>
                    <a:p>
                      <a:r>
                        <a:rPr lang="en-US" b="1" dirty="0"/>
                        <a:t>Mechanism:</a:t>
                      </a:r>
                      <a:r>
                        <a:rPr lang="en-US" b="0" dirty="0"/>
                        <a:t> Uses a mix of L1 and L2 penalties</a:t>
                      </a:r>
                    </a:p>
                    <a:p>
                      <a:endParaRPr lang="en-US" b="0" dirty="0"/>
                    </a:p>
                    <a:p>
                      <a:r>
                        <a:rPr lang="en-US" b="1" dirty="0"/>
                        <a:t>Limitation: </a:t>
                      </a:r>
                      <a:r>
                        <a:rPr lang="en-US" b="0" dirty="0"/>
                        <a:t>Requires tuning of </a:t>
                      </a:r>
                      <a:r>
                        <a:rPr lang="el-GR" b="0" dirty="0"/>
                        <a:t>α </a:t>
                      </a:r>
                      <a:r>
                        <a:rPr lang="en-US" b="0" dirty="0"/>
                        <a:t>and </a:t>
                      </a:r>
                      <a:r>
                        <a:rPr lang="el-GR" b="0" dirty="0"/>
                        <a:t>λ </a:t>
                      </a:r>
                      <a:r>
                        <a:rPr lang="en-US" b="0" dirty="0"/>
                        <a:t>parameters</a:t>
                      </a:r>
                    </a:p>
                    <a:p>
                      <a:endParaRPr lang="en-US" b="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794900484"/>
                  </a:ext>
                </a:extLst>
              </a:tr>
            </a:tbl>
          </a:graphicData>
        </a:graphic>
      </p:graphicFrame>
    </p:spTree>
    <p:extLst>
      <p:ext uri="{BB962C8B-B14F-4D97-AF65-F5344CB8AC3E}">
        <p14:creationId xmlns:p14="http://schemas.microsoft.com/office/powerpoint/2010/main" val="3786161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08AFB-981F-3164-02D9-6C54722DDBC3}"/>
              </a:ext>
            </a:extLst>
          </p:cNvPr>
          <p:cNvSpPr>
            <a:spLocks noGrp="1"/>
          </p:cNvSpPr>
          <p:nvPr>
            <p:ph type="title"/>
          </p:nvPr>
        </p:nvSpPr>
        <p:spPr>
          <a:xfrm>
            <a:off x="248563" y="163246"/>
            <a:ext cx="11583389" cy="968366"/>
          </a:xfrm>
        </p:spPr>
        <p:txBody>
          <a:bodyPr>
            <a:normAutofit/>
          </a:bodyPr>
          <a:lstStyle/>
          <a:p>
            <a:pPr algn="ctr"/>
            <a:r>
              <a:rPr lang="en-US" sz="3200" b="1" dirty="0">
                <a:solidFill>
                  <a:srgbClr val="002060"/>
                </a:solidFill>
                <a:latin typeface="Arial" panose="020B0604020202020204" pitchFamily="34" charset="0"/>
                <a:cs typeface="Arial" panose="020B0604020202020204" pitchFamily="34" charset="0"/>
              </a:rPr>
              <a:t>PARAMETERS TUNED BASED ON DEFAULT RESULTS</a:t>
            </a:r>
          </a:p>
        </p:txBody>
      </p:sp>
      <p:graphicFrame>
        <p:nvGraphicFramePr>
          <p:cNvPr id="4" name="Table 3">
            <a:extLst>
              <a:ext uri="{FF2B5EF4-FFF2-40B4-BE49-F238E27FC236}">
                <a16:creationId xmlns:a16="http://schemas.microsoft.com/office/drawing/2014/main" id="{51D11496-1BB5-A3E4-1C14-214CB30162A2}"/>
              </a:ext>
            </a:extLst>
          </p:cNvPr>
          <p:cNvGraphicFramePr>
            <a:graphicFrameLocks noGrp="1"/>
          </p:cNvGraphicFramePr>
          <p:nvPr>
            <p:extLst>
              <p:ext uri="{D42A27DB-BD31-4B8C-83A1-F6EECF244321}">
                <p14:modId xmlns:p14="http://schemas.microsoft.com/office/powerpoint/2010/main" val="191805045"/>
              </p:ext>
            </p:extLst>
          </p:nvPr>
        </p:nvGraphicFramePr>
        <p:xfrm>
          <a:off x="248563" y="1553312"/>
          <a:ext cx="11583389" cy="4516183"/>
        </p:xfrm>
        <a:graphic>
          <a:graphicData uri="http://schemas.openxmlformats.org/drawingml/2006/table">
            <a:tbl>
              <a:tblPr firstRow="1" bandRow="1">
                <a:tableStyleId>{6E25E649-3F16-4E02-A733-19D2CDBF48F0}</a:tableStyleId>
              </a:tblPr>
              <a:tblGrid>
                <a:gridCol w="2783836">
                  <a:extLst>
                    <a:ext uri="{9D8B030D-6E8A-4147-A177-3AD203B41FA5}">
                      <a16:colId xmlns:a16="http://schemas.microsoft.com/office/drawing/2014/main" val="1736966736"/>
                    </a:ext>
                  </a:extLst>
                </a:gridCol>
                <a:gridCol w="4328758">
                  <a:extLst>
                    <a:ext uri="{9D8B030D-6E8A-4147-A177-3AD203B41FA5}">
                      <a16:colId xmlns:a16="http://schemas.microsoft.com/office/drawing/2014/main" val="3906091362"/>
                    </a:ext>
                  </a:extLst>
                </a:gridCol>
                <a:gridCol w="4470795">
                  <a:extLst>
                    <a:ext uri="{9D8B030D-6E8A-4147-A177-3AD203B41FA5}">
                      <a16:colId xmlns:a16="http://schemas.microsoft.com/office/drawing/2014/main" val="1415789796"/>
                    </a:ext>
                  </a:extLst>
                </a:gridCol>
              </a:tblGrid>
              <a:tr h="642648">
                <a:tc>
                  <a:txBody>
                    <a:bodyPr/>
                    <a:lstStyle/>
                    <a:p>
                      <a:r>
                        <a:rPr lang="en-US" sz="2000" dirty="0">
                          <a:latin typeface="Arial" panose="020B0604020202020204" pitchFamily="34" charset="0"/>
                          <a:cs typeface="Arial" panose="020B0604020202020204" pitchFamily="34" charset="0"/>
                        </a:rPr>
                        <a:t>Tuning Parameters</a:t>
                      </a:r>
                    </a:p>
                  </a:txBody>
                  <a:tcPr anchor="ctr"/>
                </a:tc>
                <a:tc>
                  <a:txBody>
                    <a:bodyPr/>
                    <a:lstStyle/>
                    <a:p>
                      <a:r>
                        <a:rPr lang="en-US" sz="2000" dirty="0">
                          <a:latin typeface="Arial" panose="020B0604020202020204" pitchFamily="34" charset="0"/>
                          <a:cs typeface="Arial" panose="020B0604020202020204" pitchFamily="34" charset="0"/>
                        </a:rPr>
                        <a:t>Pros</a:t>
                      </a:r>
                    </a:p>
                  </a:txBody>
                  <a:tcPr anchor="ctr"/>
                </a:tc>
                <a:tc>
                  <a:txBody>
                    <a:bodyPr/>
                    <a:lstStyle/>
                    <a:p>
                      <a:r>
                        <a:rPr lang="en-US" sz="2000" dirty="0">
                          <a:latin typeface="Arial" panose="020B0604020202020204" pitchFamily="34" charset="0"/>
                          <a:cs typeface="Arial" panose="020B0604020202020204" pitchFamily="34" charset="0"/>
                        </a:rPr>
                        <a:t>Cons</a:t>
                      </a:r>
                    </a:p>
                  </a:txBody>
                  <a:tcPr anchor="ctr"/>
                </a:tc>
                <a:extLst>
                  <a:ext uri="{0D108BD9-81ED-4DB2-BD59-A6C34878D82A}">
                    <a16:rowId xmlns:a16="http://schemas.microsoft.com/office/drawing/2014/main" val="3661798073"/>
                  </a:ext>
                </a:extLst>
              </a:tr>
              <a:tr h="642648">
                <a:tc>
                  <a:txBody>
                    <a:bodyPr/>
                    <a:lstStyle/>
                    <a:p>
                      <a:r>
                        <a:rPr lang="el-GR" sz="2000" b="1" dirty="0">
                          <a:latin typeface="Arial" panose="020B0604020202020204" pitchFamily="34" charset="0"/>
                          <a:cs typeface="Arial" panose="020B0604020202020204" pitchFamily="34" charset="0"/>
                        </a:rPr>
                        <a:t>λ (</a:t>
                      </a:r>
                      <a:r>
                        <a:rPr lang="en-US" sz="2000" b="1" dirty="0">
                          <a:latin typeface="Arial" panose="020B0604020202020204" pitchFamily="34" charset="0"/>
                          <a:cs typeface="Arial" panose="020B0604020202020204" pitchFamily="34" charset="0"/>
                        </a:rPr>
                        <a:t>lambda)</a:t>
                      </a:r>
                      <a:endParaRPr lang="en-US" sz="2000" dirty="0">
                        <a:latin typeface="Arial" panose="020B0604020202020204" pitchFamily="34" charset="0"/>
                        <a:cs typeface="Arial" panose="020B0604020202020204" pitchFamily="34" charset="0"/>
                      </a:endParaRPr>
                    </a:p>
                  </a:txBody>
                  <a:tcPr anchor="ctr"/>
                </a:tc>
                <a:tc>
                  <a:txBody>
                    <a:bodyPr/>
                    <a:lstStyle/>
                    <a:p>
                      <a:r>
                        <a:rPr lang="en-US" sz="2000" dirty="0">
                          <a:latin typeface="Arial" panose="020B0604020202020204" pitchFamily="34" charset="0"/>
                          <a:cs typeface="Arial" panose="020B0604020202020204" pitchFamily="34" charset="0"/>
                        </a:rPr>
                        <a:t>Controls model complexity</a:t>
                      </a:r>
                    </a:p>
                  </a:txBody>
                  <a:tcPr anchor="ctr"/>
                </a:tc>
                <a:tc>
                  <a:txBody>
                    <a:bodyPr/>
                    <a:lstStyle/>
                    <a:p>
                      <a:r>
                        <a:rPr lang="en-US" sz="2000" dirty="0">
                          <a:latin typeface="Arial" panose="020B0604020202020204" pitchFamily="34" charset="0"/>
                          <a:cs typeface="Arial" panose="020B0604020202020204" pitchFamily="34" charset="0"/>
                        </a:rPr>
                        <a:t>Overfitting and Underfitting</a:t>
                      </a:r>
                    </a:p>
                  </a:txBody>
                  <a:tcPr anchor="ctr"/>
                </a:tc>
                <a:extLst>
                  <a:ext uri="{0D108BD9-81ED-4DB2-BD59-A6C34878D82A}">
                    <a16:rowId xmlns:a16="http://schemas.microsoft.com/office/drawing/2014/main" val="3210425641"/>
                  </a:ext>
                </a:extLst>
              </a:tr>
              <a:tr h="871395">
                <a:tc>
                  <a:txBody>
                    <a:bodyPr/>
                    <a:lstStyle/>
                    <a:p>
                      <a:r>
                        <a:rPr lang="en-US" sz="2000" b="1" dirty="0">
                          <a:latin typeface="Arial" panose="020B0604020202020204" pitchFamily="34" charset="0"/>
                          <a:cs typeface="Arial" panose="020B0604020202020204" pitchFamily="34" charset="0"/>
                        </a:rPr>
                        <a:t>cross-validation (</a:t>
                      </a:r>
                      <a:r>
                        <a:rPr lang="en-US" sz="2000" b="1" dirty="0" err="1">
                          <a:latin typeface="Arial" panose="020B0604020202020204" pitchFamily="34" charset="0"/>
                          <a:cs typeface="Arial" panose="020B0604020202020204" pitchFamily="34" charset="0"/>
                        </a:rPr>
                        <a:t>cv.glmnet</a:t>
                      </a:r>
                      <a:r>
                        <a:rPr lang="en-US" sz="2000" b="1"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a:t>
                      </a:r>
                    </a:p>
                  </a:txBody>
                  <a:tcPr anchor="ctr"/>
                </a:tc>
                <a:tc>
                  <a:txBody>
                    <a:bodyPr/>
                    <a:lstStyle/>
                    <a:p>
                      <a:r>
                        <a:rPr lang="en-US" sz="2000" dirty="0">
                          <a:latin typeface="Arial" panose="020B0604020202020204" pitchFamily="34" charset="0"/>
                          <a:cs typeface="Arial" panose="020B0604020202020204" pitchFamily="34" charset="0"/>
                        </a:rPr>
                        <a:t>Prevents overfitting &amp; improves </a:t>
                      </a:r>
                      <a:r>
                        <a:rPr lang="en-US" sz="2000" dirty="0" err="1">
                          <a:latin typeface="Arial" panose="020B0604020202020204" pitchFamily="34" charset="0"/>
                          <a:cs typeface="Arial" panose="020B0604020202020204" pitchFamily="34" charset="0"/>
                        </a:rPr>
                        <a:t>generalisation</a:t>
                      </a:r>
                      <a:r>
                        <a:rPr lang="en-US" sz="2000" dirty="0">
                          <a:latin typeface="Arial" panose="020B0604020202020204" pitchFamily="34" charset="0"/>
                          <a:cs typeface="Arial" panose="020B0604020202020204" pitchFamily="34" charset="0"/>
                        </a:rPr>
                        <a:t>.</a:t>
                      </a:r>
                    </a:p>
                  </a:txBody>
                  <a:tcPr anchor="ctr"/>
                </a:tc>
                <a:tc>
                  <a:txBody>
                    <a:bodyPr/>
                    <a:lstStyle/>
                    <a:p>
                      <a:r>
                        <a:rPr lang="en-US" sz="2000" dirty="0">
                          <a:latin typeface="Arial" panose="020B0604020202020204" pitchFamily="34" charset="0"/>
                          <a:cs typeface="Arial" panose="020B0604020202020204" pitchFamily="34" charset="0"/>
                        </a:rPr>
                        <a:t>Might not always capture the best threshold for classification.</a:t>
                      </a:r>
                    </a:p>
                  </a:txBody>
                  <a:tcPr anchor="ctr"/>
                </a:tc>
                <a:extLst>
                  <a:ext uri="{0D108BD9-81ED-4DB2-BD59-A6C34878D82A}">
                    <a16:rowId xmlns:a16="http://schemas.microsoft.com/office/drawing/2014/main" val="2518296460"/>
                  </a:ext>
                </a:extLst>
              </a:tr>
              <a:tr h="1109229">
                <a:tc>
                  <a:txBody>
                    <a:bodyPr/>
                    <a:lstStyle/>
                    <a:p>
                      <a:r>
                        <a:rPr lang="en-US" sz="2000" b="1" dirty="0">
                          <a:latin typeface="Arial" panose="020B0604020202020204" pitchFamily="34" charset="0"/>
                          <a:cs typeface="Arial" panose="020B0604020202020204" pitchFamily="34" charset="0"/>
                        </a:rPr>
                        <a:t>Log-loss</a:t>
                      </a:r>
                    </a:p>
                  </a:txBody>
                  <a:tcPr anchor="ctr"/>
                </a:tc>
                <a:tc>
                  <a:txBody>
                    <a:bodyPr/>
                    <a:lstStyle/>
                    <a:p>
                      <a:r>
                        <a:rPr lang="en-US" sz="2000" dirty="0">
                          <a:latin typeface="Arial" panose="020B0604020202020204" pitchFamily="34" charset="0"/>
                          <a:cs typeface="Arial" panose="020B0604020202020204" pitchFamily="34" charset="0"/>
                        </a:rPr>
                        <a:t>Effective for classification problems</a:t>
                      </a:r>
                    </a:p>
                  </a:txBody>
                  <a:tcPr anchor="ctr"/>
                </a:tc>
                <a:tc>
                  <a:txBody>
                    <a:bodyPr/>
                    <a:lstStyle/>
                    <a:p>
                      <a:r>
                        <a:rPr lang="en-US" sz="2000" dirty="0">
                          <a:latin typeface="Arial" panose="020B0604020202020204" pitchFamily="34" charset="0"/>
                          <a:cs typeface="Arial" panose="020B0604020202020204" pitchFamily="34" charset="0"/>
                        </a:rPr>
                        <a:t>Can be sensitive to outliers, leading to instability in model training.</a:t>
                      </a:r>
                    </a:p>
                  </a:txBody>
                  <a:tcPr anchor="ctr"/>
                </a:tc>
                <a:extLst>
                  <a:ext uri="{0D108BD9-81ED-4DB2-BD59-A6C34878D82A}">
                    <a16:rowId xmlns:a16="http://schemas.microsoft.com/office/drawing/2014/main" val="2154889292"/>
                  </a:ext>
                </a:extLst>
              </a:tr>
              <a:tr h="1250263">
                <a:tc>
                  <a:txBody>
                    <a:bodyPr/>
                    <a:lstStyle/>
                    <a:p>
                      <a:r>
                        <a:rPr lang="en-US" sz="2000" b="1" dirty="0">
                          <a:latin typeface="Arial" panose="020B0604020202020204" pitchFamily="34" charset="0"/>
                          <a:cs typeface="Arial" panose="020B0604020202020204" pitchFamily="34" charset="0"/>
                        </a:rPr>
                        <a:t>Threshold Tuning</a:t>
                      </a:r>
                    </a:p>
                  </a:txBody>
                  <a:tcPr anchor="ctr"/>
                </a:tc>
                <a:tc>
                  <a:txBody>
                    <a:bodyPr/>
                    <a:lstStyle/>
                    <a:p>
                      <a:r>
                        <a:rPr lang="en-US" sz="2000" dirty="0">
                          <a:latin typeface="Arial" panose="020B0604020202020204" pitchFamily="34" charset="0"/>
                          <a:cs typeface="Arial" panose="020B0604020202020204" pitchFamily="34" charset="0"/>
                        </a:rPr>
                        <a:t>Optimizes trade-off between false positives and false negative</a:t>
                      </a:r>
                    </a:p>
                  </a:txBody>
                  <a:tcPr anchor="ctr"/>
                </a:tc>
                <a:tc>
                  <a:txBody>
                    <a:bodyPr/>
                    <a:lstStyle/>
                    <a:p>
                      <a:r>
                        <a:rPr lang="en-US" sz="2000" dirty="0">
                          <a:latin typeface="Arial" panose="020B0604020202020204" pitchFamily="34" charset="0"/>
                          <a:cs typeface="Arial" panose="020B0604020202020204" pitchFamily="34" charset="0"/>
                        </a:rPr>
                        <a:t>May sacrifice accuracy for recall/precision balance</a:t>
                      </a:r>
                    </a:p>
                  </a:txBody>
                  <a:tcPr anchor="ctr"/>
                </a:tc>
                <a:extLst>
                  <a:ext uri="{0D108BD9-81ED-4DB2-BD59-A6C34878D82A}">
                    <a16:rowId xmlns:a16="http://schemas.microsoft.com/office/drawing/2014/main" val="16953520"/>
                  </a:ext>
                </a:extLst>
              </a:tr>
            </a:tbl>
          </a:graphicData>
        </a:graphic>
      </p:graphicFrame>
    </p:spTree>
    <p:extLst>
      <p:ext uri="{BB962C8B-B14F-4D97-AF65-F5344CB8AC3E}">
        <p14:creationId xmlns:p14="http://schemas.microsoft.com/office/powerpoint/2010/main" val="14073199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6F174-4847-E3DF-EF04-F0EF6849CF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1854F2-C299-9B77-4A69-00D7693440F1}"/>
              </a:ext>
            </a:extLst>
          </p:cNvPr>
          <p:cNvSpPr>
            <a:spLocks noGrp="1"/>
          </p:cNvSpPr>
          <p:nvPr>
            <p:ph type="title"/>
          </p:nvPr>
        </p:nvSpPr>
        <p:spPr>
          <a:xfrm>
            <a:off x="98251" y="133119"/>
            <a:ext cx="11891958" cy="794533"/>
          </a:xfrm>
        </p:spPr>
        <p:txBody>
          <a:bodyPr vert="horz" lIns="91440" tIns="45720" rIns="91440" bIns="45720" rtlCol="0" anchor="ctr">
            <a:normAutofit fontScale="90000"/>
          </a:bodyPr>
          <a:lstStyle/>
          <a:p>
            <a:pPr algn="ctr"/>
            <a:r>
              <a:rPr lang="en-US" sz="3200" b="1" dirty="0">
                <a:solidFill>
                  <a:srgbClr val="002060"/>
                </a:solidFill>
                <a:latin typeface="Arial" panose="020B0604020202020204" pitchFamily="34" charset="0"/>
                <a:cs typeface="Arial" panose="020B0604020202020204" pitchFamily="34" charset="0"/>
              </a:rPr>
              <a:t>MODELS DEFAULT AND OPTIMIZED PERFORMANCE MEASURES</a:t>
            </a:r>
          </a:p>
        </p:txBody>
      </p:sp>
      <p:graphicFrame>
        <p:nvGraphicFramePr>
          <p:cNvPr id="24" name="Table 23">
            <a:extLst>
              <a:ext uri="{FF2B5EF4-FFF2-40B4-BE49-F238E27FC236}">
                <a16:creationId xmlns:a16="http://schemas.microsoft.com/office/drawing/2014/main" id="{F6A309EA-A084-80A2-D680-FFE77ECF2C3F}"/>
              </a:ext>
            </a:extLst>
          </p:cNvPr>
          <p:cNvGraphicFramePr>
            <a:graphicFrameLocks noGrp="1"/>
          </p:cNvGraphicFramePr>
          <p:nvPr>
            <p:extLst>
              <p:ext uri="{D42A27DB-BD31-4B8C-83A1-F6EECF244321}">
                <p14:modId xmlns:p14="http://schemas.microsoft.com/office/powerpoint/2010/main" val="2025628755"/>
              </p:ext>
            </p:extLst>
          </p:nvPr>
        </p:nvGraphicFramePr>
        <p:xfrm>
          <a:off x="201791" y="927651"/>
          <a:ext cx="11788416" cy="5692092"/>
        </p:xfrm>
        <a:graphic>
          <a:graphicData uri="http://schemas.openxmlformats.org/drawingml/2006/table">
            <a:tbl>
              <a:tblPr firstRow="1" bandRow="1">
                <a:tableStyleId>{ED083AE6-46FA-4A59-8FB0-9F97EB10719F}</a:tableStyleId>
              </a:tblPr>
              <a:tblGrid>
                <a:gridCol w="1473552">
                  <a:extLst>
                    <a:ext uri="{9D8B030D-6E8A-4147-A177-3AD203B41FA5}">
                      <a16:colId xmlns:a16="http://schemas.microsoft.com/office/drawing/2014/main" val="3445815429"/>
                    </a:ext>
                  </a:extLst>
                </a:gridCol>
                <a:gridCol w="1698922">
                  <a:extLst>
                    <a:ext uri="{9D8B030D-6E8A-4147-A177-3AD203B41FA5}">
                      <a16:colId xmlns:a16="http://schemas.microsoft.com/office/drawing/2014/main" val="2330974040"/>
                    </a:ext>
                  </a:extLst>
                </a:gridCol>
                <a:gridCol w="1390918">
                  <a:extLst>
                    <a:ext uri="{9D8B030D-6E8A-4147-A177-3AD203B41FA5}">
                      <a16:colId xmlns:a16="http://schemas.microsoft.com/office/drawing/2014/main" val="285531707"/>
                    </a:ext>
                  </a:extLst>
                </a:gridCol>
                <a:gridCol w="1429555">
                  <a:extLst>
                    <a:ext uri="{9D8B030D-6E8A-4147-A177-3AD203B41FA5}">
                      <a16:colId xmlns:a16="http://schemas.microsoft.com/office/drawing/2014/main" val="1440765539"/>
                    </a:ext>
                  </a:extLst>
                </a:gridCol>
                <a:gridCol w="1455313">
                  <a:extLst>
                    <a:ext uri="{9D8B030D-6E8A-4147-A177-3AD203B41FA5}">
                      <a16:colId xmlns:a16="http://schemas.microsoft.com/office/drawing/2014/main" val="4287456853"/>
                    </a:ext>
                  </a:extLst>
                </a:gridCol>
                <a:gridCol w="1481070">
                  <a:extLst>
                    <a:ext uri="{9D8B030D-6E8A-4147-A177-3AD203B41FA5}">
                      <a16:colId xmlns:a16="http://schemas.microsoft.com/office/drawing/2014/main" val="356414126"/>
                    </a:ext>
                  </a:extLst>
                </a:gridCol>
                <a:gridCol w="1455313">
                  <a:extLst>
                    <a:ext uri="{9D8B030D-6E8A-4147-A177-3AD203B41FA5}">
                      <a16:colId xmlns:a16="http://schemas.microsoft.com/office/drawing/2014/main" val="2999923959"/>
                    </a:ext>
                  </a:extLst>
                </a:gridCol>
                <a:gridCol w="1403773">
                  <a:extLst>
                    <a:ext uri="{9D8B030D-6E8A-4147-A177-3AD203B41FA5}">
                      <a16:colId xmlns:a16="http://schemas.microsoft.com/office/drawing/2014/main" val="3276133979"/>
                    </a:ext>
                  </a:extLst>
                </a:gridCol>
              </a:tblGrid>
              <a:tr h="813156">
                <a:tc>
                  <a:txBody>
                    <a:bodyPr/>
                    <a:lstStyle/>
                    <a:p>
                      <a:pPr algn="ctr" fontAlgn="b"/>
                      <a:r>
                        <a:rPr lang="en-US" sz="2000" b="1" u="none" strike="noStrike" dirty="0">
                          <a:solidFill>
                            <a:schemeClr val="tx1"/>
                          </a:solidFill>
                          <a:effectLst/>
                        </a:rPr>
                        <a:t>Model</a:t>
                      </a:r>
                      <a:endParaRPr lang="en-US" sz="20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1" u="none" strike="noStrike" dirty="0" err="1">
                          <a:solidFill>
                            <a:schemeClr val="tx1"/>
                          </a:solidFill>
                          <a:effectLst/>
                        </a:rPr>
                        <a:t>Threshold_Type</a:t>
                      </a:r>
                      <a:endParaRPr lang="en-US" sz="18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1" u="none" strike="noStrike" dirty="0">
                          <a:solidFill>
                            <a:schemeClr val="tx1"/>
                          </a:solidFill>
                          <a:effectLst/>
                        </a:rPr>
                        <a:t>Accuracy</a:t>
                      </a:r>
                      <a:endParaRPr lang="en-US" sz="18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1" u="none" strike="noStrike" dirty="0">
                          <a:solidFill>
                            <a:schemeClr val="tx1"/>
                          </a:solidFill>
                          <a:effectLst/>
                        </a:rPr>
                        <a:t>Recall</a:t>
                      </a:r>
                      <a:endParaRPr lang="en-US" sz="18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1" u="none" strike="noStrike" dirty="0">
                          <a:solidFill>
                            <a:schemeClr val="tx1"/>
                          </a:solidFill>
                          <a:effectLst/>
                        </a:rPr>
                        <a:t>Specificity</a:t>
                      </a:r>
                      <a:endParaRPr lang="en-US" sz="18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1" u="none" strike="noStrike" dirty="0">
                          <a:solidFill>
                            <a:schemeClr val="tx1"/>
                          </a:solidFill>
                          <a:effectLst/>
                        </a:rPr>
                        <a:t>Precision</a:t>
                      </a:r>
                      <a:endParaRPr lang="en-US" sz="18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1" u="none" strike="noStrike" dirty="0">
                          <a:solidFill>
                            <a:schemeClr val="tx1"/>
                          </a:solidFill>
                          <a:effectLst/>
                        </a:rPr>
                        <a:t>F1_Score</a:t>
                      </a:r>
                      <a:endParaRPr lang="en-US" sz="18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1" u="none" strike="noStrike" dirty="0">
                          <a:solidFill>
                            <a:schemeClr val="tx1"/>
                          </a:solidFill>
                          <a:effectLst/>
                        </a:rPr>
                        <a:t>MCC</a:t>
                      </a:r>
                      <a:endParaRPr lang="en-US" sz="18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86793405"/>
                  </a:ext>
                </a:extLst>
              </a:tr>
              <a:tr h="813156">
                <a:tc>
                  <a:txBody>
                    <a:bodyPr/>
                    <a:lstStyle/>
                    <a:p>
                      <a:pPr algn="ctr" fontAlgn="b"/>
                      <a:r>
                        <a:rPr lang="en-US" sz="1800" b="1" u="none" strike="noStrike" dirty="0">
                          <a:solidFill>
                            <a:schemeClr val="tx1"/>
                          </a:solidFill>
                          <a:effectLst/>
                        </a:rPr>
                        <a:t>Lasso</a:t>
                      </a:r>
                      <a:endParaRPr lang="en-US" sz="18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a:solidFill>
                            <a:schemeClr val="tx1"/>
                          </a:solidFill>
                          <a:effectLst/>
                        </a:rPr>
                        <a:t>Default (0.5)</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a:solidFill>
                            <a:schemeClr val="tx1"/>
                          </a:solidFill>
                          <a:effectLst/>
                        </a:rPr>
                        <a:t>90.9%</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a:solidFill>
                            <a:schemeClr val="tx1"/>
                          </a:solidFill>
                          <a:effectLst/>
                        </a:rPr>
                        <a:t>32.0%</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a:solidFill>
                            <a:schemeClr val="tx1"/>
                          </a:solidFill>
                          <a:effectLst/>
                        </a:rPr>
                        <a:t>93.8%</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a:solidFill>
                            <a:schemeClr val="tx1"/>
                          </a:solidFill>
                          <a:effectLst/>
                        </a:rPr>
                        <a:t>20.1%</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a:solidFill>
                            <a:schemeClr val="tx1"/>
                          </a:solidFill>
                          <a:effectLst/>
                        </a:rPr>
                        <a:t>0.25</a:t>
                      </a:r>
                      <a:endParaRPr lang="en-US" sz="18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a:solidFill>
                            <a:schemeClr val="tx1"/>
                          </a:solidFill>
                          <a:effectLst/>
                        </a:rPr>
                        <a:t>0.21</a:t>
                      </a:r>
                      <a:endParaRPr lang="en-US" sz="18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486910449"/>
                  </a:ext>
                </a:extLst>
              </a:tr>
              <a:tr h="813156">
                <a:tc>
                  <a:txBody>
                    <a:bodyPr/>
                    <a:lstStyle/>
                    <a:p>
                      <a:pPr algn="ctr" fontAlgn="b"/>
                      <a:r>
                        <a:rPr lang="en-US" sz="1800" b="1" u="none" strike="noStrike" dirty="0">
                          <a:solidFill>
                            <a:schemeClr val="tx1"/>
                          </a:solidFill>
                          <a:effectLst/>
                        </a:rPr>
                        <a:t>Lasso</a:t>
                      </a:r>
                      <a:endParaRPr lang="en-US" sz="18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err="1">
                          <a:solidFill>
                            <a:schemeClr val="tx1"/>
                          </a:solidFill>
                          <a:effectLst/>
                        </a:rPr>
                        <a:t>Optimised</a:t>
                      </a:r>
                      <a:r>
                        <a:rPr lang="en-US" sz="1800" b="0" u="none" strike="noStrike" dirty="0">
                          <a:solidFill>
                            <a:schemeClr val="tx1"/>
                          </a:solidFill>
                          <a:effectLst/>
                        </a:rPr>
                        <a:t> (F1) </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a:solidFill>
                            <a:schemeClr val="tx1"/>
                          </a:solidFill>
                          <a:effectLst/>
                        </a:rPr>
                        <a:t>89.1%</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a:solidFill>
                            <a:schemeClr val="tx1"/>
                          </a:solidFill>
                          <a:effectLst/>
                        </a:rPr>
                        <a:t>38.5%</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a:solidFill>
                            <a:schemeClr val="tx1"/>
                          </a:solidFill>
                          <a:effectLst/>
                        </a:rPr>
                        <a:t>91.6%</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a:solidFill>
                            <a:schemeClr val="tx1"/>
                          </a:solidFill>
                          <a:effectLst/>
                        </a:rPr>
                        <a:t>18.3%</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a:solidFill>
                            <a:schemeClr val="tx1"/>
                          </a:solidFill>
                          <a:effectLst/>
                        </a:rPr>
                        <a:t>0.25</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a:solidFill>
                            <a:schemeClr val="tx1"/>
                          </a:solidFill>
                          <a:effectLst/>
                        </a:rPr>
                        <a:t>0.21</a:t>
                      </a:r>
                      <a:endParaRPr lang="en-US" sz="18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582901676"/>
                  </a:ext>
                </a:extLst>
              </a:tr>
              <a:tr h="813156">
                <a:tc>
                  <a:txBody>
                    <a:bodyPr/>
                    <a:lstStyle/>
                    <a:p>
                      <a:pPr algn="ctr" fontAlgn="b"/>
                      <a:r>
                        <a:rPr lang="en-US" sz="1800" b="1" u="none" strike="noStrike" dirty="0">
                          <a:solidFill>
                            <a:schemeClr val="tx1"/>
                          </a:solidFill>
                          <a:effectLst/>
                        </a:rPr>
                        <a:t>Ridge</a:t>
                      </a:r>
                      <a:endParaRPr lang="en-US" sz="18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a:solidFill>
                            <a:schemeClr val="tx1"/>
                          </a:solidFill>
                          <a:effectLst/>
                        </a:rPr>
                        <a:t>Default (0.5)</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a:solidFill>
                            <a:schemeClr val="tx1"/>
                          </a:solidFill>
                          <a:effectLst/>
                        </a:rPr>
                        <a:t>91.0%</a:t>
                      </a:r>
                      <a:endParaRPr lang="en-US" sz="18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a:solidFill>
                            <a:schemeClr val="tx1"/>
                          </a:solidFill>
                          <a:effectLst/>
                        </a:rPr>
                        <a:t>30.3%</a:t>
                      </a:r>
                      <a:endParaRPr lang="en-US" sz="18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a:solidFill>
                            <a:schemeClr val="tx1"/>
                          </a:solidFill>
                          <a:effectLst/>
                        </a:rPr>
                        <a:t>93.9%</a:t>
                      </a:r>
                      <a:endParaRPr lang="en-US" sz="18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a:solidFill>
                            <a:schemeClr val="tx1"/>
                          </a:solidFill>
                          <a:effectLst/>
                        </a:rPr>
                        <a:t>19.7%</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a:solidFill>
                            <a:schemeClr val="tx1"/>
                          </a:solidFill>
                          <a:effectLst/>
                        </a:rPr>
                        <a:t>0.24</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a:solidFill>
                            <a:schemeClr val="tx1"/>
                          </a:solidFill>
                          <a:effectLst/>
                        </a:rPr>
                        <a:t>0.20</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584280858"/>
                  </a:ext>
                </a:extLst>
              </a:tr>
              <a:tr h="813156">
                <a:tc>
                  <a:txBody>
                    <a:bodyPr/>
                    <a:lstStyle/>
                    <a:p>
                      <a:pPr algn="ctr" fontAlgn="b"/>
                      <a:r>
                        <a:rPr lang="en-US" sz="1800" b="1" u="none" strike="noStrike" dirty="0">
                          <a:solidFill>
                            <a:schemeClr val="tx1"/>
                          </a:solidFill>
                          <a:effectLst/>
                        </a:rPr>
                        <a:t>Ridge</a:t>
                      </a:r>
                      <a:endParaRPr lang="en-US" sz="18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err="1">
                          <a:solidFill>
                            <a:schemeClr val="tx1"/>
                          </a:solidFill>
                          <a:effectLst/>
                        </a:rPr>
                        <a:t>Optimised</a:t>
                      </a:r>
                      <a:r>
                        <a:rPr lang="en-US" sz="1800" b="0" u="none" strike="noStrike" dirty="0">
                          <a:solidFill>
                            <a:schemeClr val="tx1"/>
                          </a:solidFill>
                          <a:effectLst/>
                        </a:rPr>
                        <a:t> (F1) </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a:solidFill>
                            <a:schemeClr val="tx1"/>
                          </a:solidFill>
                          <a:effectLst/>
                        </a:rPr>
                        <a:t>89.0%</a:t>
                      </a:r>
                      <a:endParaRPr lang="en-US" sz="18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a:solidFill>
                            <a:schemeClr val="tx1"/>
                          </a:solidFill>
                          <a:effectLst/>
                        </a:rPr>
                        <a:t>39.3%</a:t>
                      </a:r>
                      <a:endParaRPr lang="en-US" sz="18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a:solidFill>
                            <a:schemeClr val="tx1"/>
                          </a:solidFill>
                          <a:effectLst/>
                        </a:rPr>
                        <a:t>91.4%</a:t>
                      </a:r>
                      <a:endParaRPr lang="en-US" sz="18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a:solidFill>
                            <a:schemeClr val="tx1"/>
                          </a:solidFill>
                          <a:effectLst/>
                        </a:rPr>
                        <a:t>18.3%</a:t>
                      </a:r>
                      <a:endParaRPr lang="en-US" sz="18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a:solidFill>
                            <a:schemeClr val="tx1"/>
                          </a:solidFill>
                          <a:effectLst/>
                        </a:rPr>
                        <a:t>0.25</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a:solidFill>
                            <a:schemeClr val="tx1"/>
                          </a:solidFill>
                          <a:effectLst/>
                        </a:rPr>
                        <a:t>0.22</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467206466"/>
                  </a:ext>
                </a:extLst>
              </a:tr>
              <a:tr h="813156">
                <a:tc>
                  <a:txBody>
                    <a:bodyPr/>
                    <a:lstStyle/>
                    <a:p>
                      <a:pPr algn="ctr" fontAlgn="b"/>
                      <a:r>
                        <a:rPr lang="en-US" sz="1800" b="1" u="none" strike="noStrike" dirty="0">
                          <a:solidFill>
                            <a:schemeClr val="tx1"/>
                          </a:solidFill>
                          <a:effectLst/>
                        </a:rPr>
                        <a:t>Elastic Net</a:t>
                      </a:r>
                      <a:endParaRPr lang="en-US" sz="18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a:solidFill>
                            <a:schemeClr val="tx1"/>
                          </a:solidFill>
                          <a:effectLst/>
                        </a:rPr>
                        <a:t>Default (0.5)</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a:solidFill>
                            <a:schemeClr val="tx1"/>
                          </a:solidFill>
                          <a:effectLst/>
                        </a:rPr>
                        <a:t>90.9%</a:t>
                      </a:r>
                      <a:endParaRPr lang="en-US" sz="18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a:solidFill>
                            <a:schemeClr val="tx1"/>
                          </a:solidFill>
                          <a:effectLst/>
                        </a:rPr>
                        <a:t>32.0%</a:t>
                      </a:r>
                      <a:endParaRPr lang="en-US" sz="18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a:solidFill>
                            <a:schemeClr val="tx1"/>
                          </a:solidFill>
                          <a:effectLst/>
                        </a:rPr>
                        <a:t>93.8%</a:t>
                      </a:r>
                      <a:endParaRPr lang="en-US" sz="18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a:solidFill>
                            <a:schemeClr val="tx1"/>
                          </a:solidFill>
                          <a:effectLst/>
                        </a:rPr>
                        <a:t>20.1%</a:t>
                      </a:r>
                      <a:endParaRPr lang="en-US" sz="18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a:solidFill>
                            <a:schemeClr val="tx1"/>
                          </a:solidFill>
                          <a:effectLst/>
                        </a:rPr>
                        <a:t>0.25</a:t>
                      </a:r>
                      <a:endParaRPr lang="en-US" sz="18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a:solidFill>
                            <a:schemeClr val="tx1"/>
                          </a:solidFill>
                          <a:effectLst/>
                        </a:rPr>
                        <a:t>0.21</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06678996"/>
                  </a:ext>
                </a:extLst>
              </a:tr>
              <a:tr h="813156">
                <a:tc>
                  <a:txBody>
                    <a:bodyPr/>
                    <a:lstStyle/>
                    <a:p>
                      <a:pPr algn="ctr" fontAlgn="b"/>
                      <a:r>
                        <a:rPr lang="en-US" sz="1800" b="1" u="none" strike="noStrike" dirty="0">
                          <a:solidFill>
                            <a:schemeClr val="tx1"/>
                          </a:solidFill>
                          <a:effectLst/>
                        </a:rPr>
                        <a:t>Elastic Net</a:t>
                      </a:r>
                      <a:endParaRPr lang="en-US" sz="1800" b="1"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err="1">
                          <a:solidFill>
                            <a:schemeClr val="tx1"/>
                          </a:solidFill>
                          <a:effectLst/>
                        </a:rPr>
                        <a:t>Optimised</a:t>
                      </a:r>
                      <a:r>
                        <a:rPr lang="en-US" sz="1800" b="0" u="none" strike="noStrike" dirty="0">
                          <a:solidFill>
                            <a:schemeClr val="tx1"/>
                          </a:solidFill>
                          <a:effectLst/>
                        </a:rPr>
                        <a:t> (F1) </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a:solidFill>
                            <a:schemeClr val="tx1"/>
                          </a:solidFill>
                          <a:effectLst/>
                        </a:rPr>
                        <a:t>89.1%</a:t>
                      </a:r>
                      <a:endParaRPr lang="en-US" sz="18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a:solidFill>
                            <a:schemeClr val="tx1"/>
                          </a:solidFill>
                          <a:effectLst/>
                        </a:rPr>
                        <a:t>38.5%</a:t>
                      </a:r>
                      <a:endParaRPr lang="en-US" sz="18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a:solidFill>
                            <a:schemeClr val="tx1"/>
                          </a:solidFill>
                          <a:effectLst/>
                        </a:rPr>
                        <a:t>91.6%</a:t>
                      </a:r>
                      <a:endParaRPr lang="en-US" sz="18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a:solidFill>
                            <a:schemeClr val="tx1"/>
                          </a:solidFill>
                          <a:effectLst/>
                        </a:rPr>
                        <a:t>18.3%</a:t>
                      </a:r>
                      <a:endParaRPr lang="en-US" sz="18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a:solidFill>
                            <a:schemeClr val="tx1"/>
                          </a:solidFill>
                          <a:effectLst/>
                        </a:rPr>
                        <a:t>0.25</a:t>
                      </a:r>
                      <a:endParaRPr lang="en-US" sz="1800" b="0" i="0" u="none" strike="noStrike">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b"/>
                      <a:r>
                        <a:rPr lang="en-US" sz="1800" b="0" u="none" strike="noStrike" dirty="0">
                          <a:solidFill>
                            <a:schemeClr val="tx1"/>
                          </a:solidFill>
                          <a:effectLst/>
                        </a:rPr>
                        <a:t>0.21</a:t>
                      </a:r>
                      <a:endParaRPr lang="en-US" sz="18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95714759"/>
                  </a:ext>
                </a:extLst>
              </a:tr>
            </a:tbl>
          </a:graphicData>
        </a:graphic>
      </p:graphicFrame>
    </p:spTree>
    <p:extLst>
      <p:ext uri="{BB962C8B-B14F-4D97-AF65-F5344CB8AC3E}">
        <p14:creationId xmlns:p14="http://schemas.microsoft.com/office/powerpoint/2010/main" val="4133544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9" name="Content Placeholder 18" descr="A graph of different colored lines&#10;&#10;Description automatically generated with medium confidence">
            <a:extLst>
              <a:ext uri="{FF2B5EF4-FFF2-40B4-BE49-F238E27FC236}">
                <a16:creationId xmlns:a16="http://schemas.microsoft.com/office/drawing/2014/main" id="{A417C5EF-2F76-C82F-0EF5-F524DABD228B}"/>
              </a:ext>
            </a:extLst>
          </p:cNvPr>
          <p:cNvPicPr>
            <a:picLocks noGrp="1" noChangeAspect="1"/>
          </p:cNvPicPr>
          <p:nvPr>
            <p:ph idx="1"/>
          </p:nvPr>
        </p:nvPicPr>
        <p:blipFill>
          <a:blip r:embed="rId4"/>
          <a:stretch>
            <a:fillRect/>
          </a:stretch>
        </p:blipFill>
        <p:spPr>
          <a:xfrm>
            <a:off x="6096000" y="916925"/>
            <a:ext cx="5787293" cy="5229343"/>
          </a:xfrm>
        </p:spPr>
      </p:pic>
      <p:pic>
        <p:nvPicPr>
          <p:cNvPr id="23" name="Picture 22" descr="A graph of a number of features&#10;&#10;Description automatically generated with medium confidence">
            <a:extLst>
              <a:ext uri="{FF2B5EF4-FFF2-40B4-BE49-F238E27FC236}">
                <a16:creationId xmlns:a16="http://schemas.microsoft.com/office/drawing/2014/main" id="{62B9E690-FEB9-02CD-00D4-2770C08C862D}"/>
              </a:ext>
            </a:extLst>
          </p:cNvPr>
          <p:cNvPicPr>
            <a:picLocks noChangeAspect="1"/>
          </p:cNvPicPr>
          <p:nvPr/>
        </p:nvPicPr>
        <p:blipFill>
          <a:blip r:embed="rId5"/>
          <a:stretch>
            <a:fillRect/>
          </a:stretch>
        </p:blipFill>
        <p:spPr>
          <a:xfrm>
            <a:off x="198784" y="956679"/>
            <a:ext cx="5787292" cy="5229343"/>
          </a:xfrm>
          <a:prstGeom prst="rect">
            <a:avLst/>
          </a:prstGeom>
        </p:spPr>
      </p:pic>
      <p:sp>
        <p:nvSpPr>
          <p:cNvPr id="2" name="Title 1">
            <a:extLst>
              <a:ext uri="{FF2B5EF4-FFF2-40B4-BE49-F238E27FC236}">
                <a16:creationId xmlns:a16="http://schemas.microsoft.com/office/drawing/2014/main" id="{5843A8AD-90B4-D4DA-623E-0CF95182F453}"/>
              </a:ext>
            </a:extLst>
          </p:cNvPr>
          <p:cNvSpPr>
            <a:spLocks noGrp="1"/>
          </p:cNvSpPr>
          <p:nvPr>
            <p:ph type="title"/>
          </p:nvPr>
        </p:nvSpPr>
        <p:spPr>
          <a:xfrm>
            <a:off x="159027" y="206794"/>
            <a:ext cx="11834190" cy="853382"/>
          </a:xfrm>
        </p:spPr>
        <p:txBody>
          <a:bodyPr vert="horz" lIns="91440" tIns="45720" rIns="91440" bIns="45720" rtlCol="0" anchor="ctr">
            <a:normAutofit/>
          </a:bodyPr>
          <a:lstStyle/>
          <a:p>
            <a:pPr algn="ctr"/>
            <a:r>
              <a:rPr lang="en-US" sz="3200" b="1" dirty="0">
                <a:solidFill>
                  <a:srgbClr val="002060"/>
                </a:solidFill>
                <a:latin typeface="Arial" panose="020B0604020202020204" pitchFamily="34" charset="0"/>
                <a:cs typeface="Arial" panose="020B0604020202020204" pitchFamily="34" charset="0"/>
              </a:rPr>
              <a:t>LASSO-RIDGE-ELASTIC KEY FEATURES</a:t>
            </a:r>
          </a:p>
        </p:txBody>
      </p:sp>
      <p:sp>
        <p:nvSpPr>
          <p:cNvPr id="13" name="Rectangle 12">
            <a:extLst>
              <a:ext uri="{FF2B5EF4-FFF2-40B4-BE49-F238E27FC236}">
                <a16:creationId xmlns:a16="http://schemas.microsoft.com/office/drawing/2014/main" id="{86B0AA5A-080C-60C2-6888-B740D7160695}"/>
              </a:ext>
            </a:extLst>
          </p:cNvPr>
          <p:cNvSpPr/>
          <p:nvPr/>
        </p:nvSpPr>
        <p:spPr>
          <a:xfrm rot="5400000">
            <a:off x="3437664" y="-2321959"/>
            <a:ext cx="5242597" cy="11799873"/>
          </a:xfrm>
          <a:prstGeom prst="rect">
            <a:avLst/>
          </a:prstGeom>
          <a:noFill/>
          <a:ln w="412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3E5BF2CF-6018-FB49-73C4-89C05A94B10B}"/>
              </a:ext>
            </a:extLst>
          </p:cNvPr>
          <p:cNvSpPr/>
          <p:nvPr/>
        </p:nvSpPr>
        <p:spPr>
          <a:xfrm>
            <a:off x="233102" y="1497122"/>
            <a:ext cx="11574585" cy="357808"/>
          </a:xfrm>
          <a:prstGeom prst="rect">
            <a:avLst/>
          </a:prstGeom>
          <a:noFill/>
          <a:ln w="3492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475950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1" presetClass="exit" presetSubtype="0" fill="hold" grpId="1" nodeType="clickEffect">
                                  <p:stCondLst>
                                    <p:cond delay="0"/>
                                  </p:stCondLst>
                                  <p:childTnLst>
                                    <p:anim calcmode="lin" valueType="num">
                                      <p:cBhvr>
                                        <p:cTn id="10" dur="1000"/>
                                        <p:tgtEl>
                                          <p:spTgt spid="13"/>
                                        </p:tgtEl>
                                        <p:attrNameLst>
                                          <p:attrName>ppt_w</p:attrName>
                                        </p:attrNameLst>
                                      </p:cBhvr>
                                      <p:tavLst>
                                        <p:tav tm="0">
                                          <p:val>
                                            <p:strVal val="ppt_w"/>
                                          </p:val>
                                        </p:tav>
                                        <p:tav tm="100000">
                                          <p:val>
                                            <p:fltVal val="0"/>
                                          </p:val>
                                        </p:tav>
                                      </p:tavLst>
                                    </p:anim>
                                    <p:anim calcmode="lin" valueType="num">
                                      <p:cBhvr>
                                        <p:cTn id="11" dur="1000"/>
                                        <p:tgtEl>
                                          <p:spTgt spid="13"/>
                                        </p:tgtEl>
                                        <p:attrNameLst>
                                          <p:attrName>ppt_h</p:attrName>
                                        </p:attrNameLst>
                                      </p:cBhvr>
                                      <p:tavLst>
                                        <p:tav tm="0">
                                          <p:val>
                                            <p:strVal val="ppt_h"/>
                                          </p:val>
                                        </p:tav>
                                        <p:tav tm="100000">
                                          <p:val>
                                            <p:fltVal val="0"/>
                                          </p:val>
                                        </p:tav>
                                      </p:tavLst>
                                    </p:anim>
                                    <p:anim calcmode="lin" valueType="num">
                                      <p:cBhvr>
                                        <p:cTn id="12" dur="1000"/>
                                        <p:tgtEl>
                                          <p:spTgt spid="13"/>
                                        </p:tgtEl>
                                        <p:attrNameLst>
                                          <p:attrName>style.rotation</p:attrName>
                                        </p:attrNameLst>
                                      </p:cBhvr>
                                      <p:tavLst>
                                        <p:tav tm="0">
                                          <p:val>
                                            <p:fltVal val="0"/>
                                          </p:val>
                                        </p:tav>
                                        <p:tav tm="100000">
                                          <p:val>
                                            <p:fltVal val="90"/>
                                          </p:val>
                                        </p:tav>
                                      </p:tavLst>
                                    </p:anim>
                                    <p:animEffect transition="out" filter="fade">
                                      <p:cBhvr>
                                        <p:cTn id="13" dur="1000"/>
                                        <p:tgtEl>
                                          <p:spTgt spid="13"/>
                                        </p:tgtEl>
                                      </p:cBhvr>
                                    </p:animEffect>
                                    <p:set>
                                      <p:cBhvr>
                                        <p:cTn id="14" dur="1" fill="hold">
                                          <p:stCondLst>
                                            <p:cond delay="999"/>
                                          </p:stCondLst>
                                        </p:cTn>
                                        <p:tgtEl>
                                          <p:spTgt spid="1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1" presetClass="exit" presetSubtype="0" fill="hold" grpId="1" nodeType="clickEffect">
                                  <p:stCondLst>
                                    <p:cond delay="0"/>
                                  </p:stCondLst>
                                  <p:childTnLst>
                                    <p:anim calcmode="lin" valueType="num">
                                      <p:cBhvr>
                                        <p:cTn id="22" dur="1000"/>
                                        <p:tgtEl>
                                          <p:spTgt spid="25"/>
                                        </p:tgtEl>
                                        <p:attrNameLst>
                                          <p:attrName>ppt_w</p:attrName>
                                        </p:attrNameLst>
                                      </p:cBhvr>
                                      <p:tavLst>
                                        <p:tav tm="0">
                                          <p:val>
                                            <p:strVal val="ppt_w"/>
                                          </p:val>
                                        </p:tav>
                                        <p:tav tm="100000">
                                          <p:val>
                                            <p:fltVal val="0"/>
                                          </p:val>
                                        </p:tav>
                                      </p:tavLst>
                                    </p:anim>
                                    <p:anim calcmode="lin" valueType="num">
                                      <p:cBhvr>
                                        <p:cTn id="23" dur="1000"/>
                                        <p:tgtEl>
                                          <p:spTgt spid="25"/>
                                        </p:tgtEl>
                                        <p:attrNameLst>
                                          <p:attrName>ppt_h</p:attrName>
                                        </p:attrNameLst>
                                      </p:cBhvr>
                                      <p:tavLst>
                                        <p:tav tm="0">
                                          <p:val>
                                            <p:strVal val="ppt_h"/>
                                          </p:val>
                                        </p:tav>
                                        <p:tav tm="100000">
                                          <p:val>
                                            <p:fltVal val="0"/>
                                          </p:val>
                                        </p:tav>
                                      </p:tavLst>
                                    </p:anim>
                                    <p:anim calcmode="lin" valueType="num">
                                      <p:cBhvr>
                                        <p:cTn id="24" dur="1000"/>
                                        <p:tgtEl>
                                          <p:spTgt spid="25"/>
                                        </p:tgtEl>
                                        <p:attrNameLst>
                                          <p:attrName>style.rotation</p:attrName>
                                        </p:attrNameLst>
                                      </p:cBhvr>
                                      <p:tavLst>
                                        <p:tav tm="0">
                                          <p:val>
                                            <p:fltVal val="0"/>
                                          </p:val>
                                        </p:tav>
                                        <p:tav tm="100000">
                                          <p:val>
                                            <p:fltVal val="90"/>
                                          </p:val>
                                        </p:tav>
                                      </p:tavLst>
                                    </p:anim>
                                    <p:animEffect transition="out" filter="fade">
                                      <p:cBhvr>
                                        <p:cTn id="25" dur="1000"/>
                                        <p:tgtEl>
                                          <p:spTgt spid="25"/>
                                        </p:tgtEl>
                                      </p:cBhvr>
                                    </p:animEffect>
                                    <p:set>
                                      <p:cBhvr>
                                        <p:cTn id="26" dur="1" fill="hold">
                                          <p:stCondLst>
                                            <p:cond delay="9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25" grpId="0" animBg="1"/>
      <p:bldP spid="25"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D42BA-5D01-291D-BA96-10645B45157D}"/>
              </a:ext>
            </a:extLst>
          </p:cNvPr>
          <p:cNvSpPr>
            <a:spLocks noGrp="1"/>
          </p:cNvSpPr>
          <p:nvPr>
            <p:ph type="title"/>
          </p:nvPr>
        </p:nvSpPr>
        <p:spPr>
          <a:xfrm>
            <a:off x="238538" y="142371"/>
            <a:ext cx="11675165" cy="705770"/>
          </a:xfrm>
        </p:spPr>
        <p:txBody>
          <a:bodyPr vert="horz" lIns="91440" tIns="45720" rIns="91440" bIns="45720" rtlCol="0" anchor="ctr">
            <a:normAutofit/>
          </a:bodyPr>
          <a:lstStyle/>
          <a:p>
            <a:pPr algn="ctr"/>
            <a:r>
              <a:rPr lang="en-US" sz="3200" b="1" kern="1200" dirty="0">
                <a:solidFill>
                  <a:srgbClr val="002060"/>
                </a:solidFill>
                <a:latin typeface="Arial" panose="020B0604020202020204" pitchFamily="34" charset="0"/>
                <a:cs typeface="Arial" panose="020B0604020202020204" pitchFamily="34" charset="0"/>
              </a:rPr>
              <a:t>CONFUSION METRICS</a:t>
            </a:r>
          </a:p>
        </p:txBody>
      </p:sp>
      <p:pic>
        <p:nvPicPr>
          <p:cNvPr id="15" name="Content Placeholder 14" descr="A blue and white squares with black numbers&#10;&#10;Description automatically generated">
            <a:extLst>
              <a:ext uri="{FF2B5EF4-FFF2-40B4-BE49-F238E27FC236}">
                <a16:creationId xmlns:a16="http://schemas.microsoft.com/office/drawing/2014/main" id="{F66CCA85-4DD9-9FDD-81B8-F6908CAB3108}"/>
              </a:ext>
            </a:extLst>
          </p:cNvPr>
          <p:cNvPicPr>
            <a:picLocks noGrp="1" noChangeAspect="1"/>
          </p:cNvPicPr>
          <p:nvPr>
            <p:ph idx="1"/>
          </p:nvPr>
        </p:nvPicPr>
        <p:blipFill>
          <a:blip r:embed="rId3"/>
          <a:stretch>
            <a:fillRect/>
          </a:stretch>
        </p:blipFill>
        <p:spPr>
          <a:xfrm>
            <a:off x="463797" y="3978474"/>
            <a:ext cx="3460611" cy="2776912"/>
          </a:xfrm>
          <a:prstGeom prst="rect">
            <a:avLst/>
          </a:prstGeom>
        </p:spPr>
      </p:pic>
      <p:pic>
        <p:nvPicPr>
          <p:cNvPr id="30" name="Picture 29" descr="A graph showing the difference between a class and a class&#10;&#10;Description automatically generated with medium confidence">
            <a:extLst>
              <a:ext uri="{FF2B5EF4-FFF2-40B4-BE49-F238E27FC236}">
                <a16:creationId xmlns:a16="http://schemas.microsoft.com/office/drawing/2014/main" id="{A1FBA4D5-DF6F-9D8E-4503-2D7E3B8C43F7}"/>
              </a:ext>
            </a:extLst>
          </p:cNvPr>
          <p:cNvPicPr>
            <a:picLocks noChangeAspect="1"/>
          </p:cNvPicPr>
          <p:nvPr/>
        </p:nvPicPr>
        <p:blipFill>
          <a:blip r:embed="rId4"/>
          <a:stretch>
            <a:fillRect/>
          </a:stretch>
        </p:blipFill>
        <p:spPr>
          <a:xfrm>
            <a:off x="463797" y="1007166"/>
            <a:ext cx="3617240" cy="2884750"/>
          </a:xfrm>
          <a:prstGeom prst="rect">
            <a:avLst/>
          </a:prstGeom>
        </p:spPr>
      </p:pic>
      <p:pic>
        <p:nvPicPr>
          <p:cNvPr id="19" name="Picture 18" descr="A blue and white squares with black text&#10;&#10;Description automatically generated">
            <a:extLst>
              <a:ext uri="{FF2B5EF4-FFF2-40B4-BE49-F238E27FC236}">
                <a16:creationId xmlns:a16="http://schemas.microsoft.com/office/drawing/2014/main" id="{A0057116-FB9E-C2F5-A7DF-305E5623300C}"/>
              </a:ext>
            </a:extLst>
          </p:cNvPr>
          <p:cNvPicPr>
            <a:picLocks noChangeAspect="1"/>
          </p:cNvPicPr>
          <p:nvPr/>
        </p:nvPicPr>
        <p:blipFill>
          <a:blip r:embed="rId5"/>
          <a:stretch>
            <a:fillRect/>
          </a:stretch>
        </p:blipFill>
        <p:spPr>
          <a:xfrm>
            <a:off x="4448120" y="1007166"/>
            <a:ext cx="3740163" cy="2884749"/>
          </a:xfrm>
          <a:prstGeom prst="rect">
            <a:avLst/>
          </a:prstGeom>
        </p:spPr>
      </p:pic>
      <p:pic>
        <p:nvPicPr>
          <p:cNvPr id="34" name="Picture 33" descr="A blue squares with black text&#10;&#10;Description automatically generated">
            <a:extLst>
              <a:ext uri="{FF2B5EF4-FFF2-40B4-BE49-F238E27FC236}">
                <a16:creationId xmlns:a16="http://schemas.microsoft.com/office/drawing/2014/main" id="{58A0216E-C8E5-E2BB-9EF3-305EF79C6559}"/>
              </a:ext>
            </a:extLst>
          </p:cNvPr>
          <p:cNvPicPr>
            <a:picLocks noChangeAspect="1"/>
          </p:cNvPicPr>
          <p:nvPr/>
        </p:nvPicPr>
        <p:blipFill>
          <a:blip r:embed="rId6"/>
          <a:stretch>
            <a:fillRect/>
          </a:stretch>
        </p:blipFill>
        <p:spPr>
          <a:xfrm>
            <a:off x="8256105" y="1007166"/>
            <a:ext cx="3814224" cy="2884749"/>
          </a:xfrm>
          <a:prstGeom prst="rect">
            <a:avLst/>
          </a:prstGeom>
        </p:spPr>
      </p:pic>
      <p:pic>
        <p:nvPicPr>
          <p:cNvPr id="32" name="Picture 31" descr="A chart with blue squares and black text&#10;&#10;Description automatically generated">
            <a:extLst>
              <a:ext uri="{FF2B5EF4-FFF2-40B4-BE49-F238E27FC236}">
                <a16:creationId xmlns:a16="http://schemas.microsoft.com/office/drawing/2014/main" id="{58D25BCA-796A-E867-C931-D7DBC3BF38CB}"/>
              </a:ext>
            </a:extLst>
          </p:cNvPr>
          <p:cNvPicPr>
            <a:picLocks noChangeAspect="1"/>
          </p:cNvPicPr>
          <p:nvPr/>
        </p:nvPicPr>
        <p:blipFill>
          <a:blip r:embed="rId7"/>
          <a:stretch>
            <a:fillRect/>
          </a:stretch>
        </p:blipFill>
        <p:spPr>
          <a:xfrm>
            <a:off x="4527633" y="3977755"/>
            <a:ext cx="3490858" cy="2783959"/>
          </a:xfrm>
          <a:prstGeom prst="rect">
            <a:avLst/>
          </a:prstGeom>
        </p:spPr>
      </p:pic>
      <p:pic>
        <p:nvPicPr>
          <p:cNvPr id="23" name="Picture 22" descr="A chart with blue squares and black text&#10;&#10;Description automatically generated">
            <a:extLst>
              <a:ext uri="{FF2B5EF4-FFF2-40B4-BE49-F238E27FC236}">
                <a16:creationId xmlns:a16="http://schemas.microsoft.com/office/drawing/2014/main" id="{58812A90-7BA6-828A-2398-F22EBAA49F17}"/>
              </a:ext>
            </a:extLst>
          </p:cNvPr>
          <p:cNvPicPr>
            <a:picLocks noChangeAspect="1"/>
          </p:cNvPicPr>
          <p:nvPr/>
        </p:nvPicPr>
        <p:blipFill>
          <a:blip r:embed="rId8"/>
          <a:stretch>
            <a:fillRect/>
          </a:stretch>
        </p:blipFill>
        <p:spPr>
          <a:xfrm>
            <a:off x="8250643" y="3977755"/>
            <a:ext cx="3814224" cy="2777631"/>
          </a:xfrm>
          <a:prstGeom prst="rect">
            <a:avLst/>
          </a:prstGeom>
        </p:spPr>
      </p:pic>
    </p:spTree>
    <p:extLst>
      <p:ext uri="{BB962C8B-B14F-4D97-AF65-F5344CB8AC3E}">
        <p14:creationId xmlns:p14="http://schemas.microsoft.com/office/powerpoint/2010/main" val="2456813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349B4-18DE-A6B5-6AEA-869A4E5D77ED}"/>
              </a:ext>
            </a:extLst>
          </p:cNvPr>
          <p:cNvSpPr>
            <a:spLocks noGrp="1"/>
          </p:cNvSpPr>
          <p:nvPr>
            <p:ph type="title"/>
          </p:nvPr>
        </p:nvSpPr>
        <p:spPr>
          <a:xfrm>
            <a:off x="212035" y="141129"/>
            <a:ext cx="11767929" cy="733518"/>
          </a:xfrm>
        </p:spPr>
        <p:txBody>
          <a:bodyPr vert="horz" lIns="91440" tIns="45720" rIns="91440" bIns="45720" rtlCol="0" anchor="ctr">
            <a:normAutofit/>
          </a:bodyPr>
          <a:lstStyle/>
          <a:p>
            <a:pPr algn="ctr"/>
            <a:r>
              <a:rPr lang="en-US" sz="3200" b="1" dirty="0">
                <a:solidFill>
                  <a:srgbClr val="002060"/>
                </a:solidFill>
                <a:latin typeface="Arial" panose="020B0604020202020204" pitchFamily="34" charset="0"/>
                <a:cs typeface="Arial" panose="020B0604020202020204" pitchFamily="34" charset="0"/>
              </a:rPr>
              <a:t>AUC-ROC CURVE</a:t>
            </a:r>
          </a:p>
        </p:txBody>
      </p:sp>
      <p:pic>
        <p:nvPicPr>
          <p:cNvPr id="5" name="Content Placeholder 4" descr="A graph showing the curve of a curve&#10;&#10;Description automatically generated with medium confidence">
            <a:extLst>
              <a:ext uri="{FF2B5EF4-FFF2-40B4-BE49-F238E27FC236}">
                <a16:creationId xmlns:a16="http://schemas.microsoft.com/office/drawing/2014/main" id="{1B5F7C0B-8BD3-90DF-E41F-037B9337FFDB}"/>
              </a:ext>
            </a:extLst>
          </p:cNvPr>
          <p:cNvPicPr>
            <a:picLocks noGrp="1" noChangeAspect="1"/>
          </p:cNvPicPr>
          <p:nvPr>
            <p:ph idx="1"/>
          </p:nvPr>
        </p:nvPicPr>
        <p:blipFill>
          <a:blip r:embed="rId3"/>
          <a:stretch>
            <a:fillRect/>
          </a:stretch>
        </p:blipFill>
        <p:spPr>
          <a:xfrm>
            <a:off x="6331911" y="1157874"/>
            <a:ext cx="5648053" cy="5030890"/>
          </a:xfrm>
          <a:prstGeom prst="rect">
            <a:avLst/>
          </a:prstGeom>
        </p:spPr>
      </p:pic>
      <p:pic>
        <p:nvPicPr>
          <p:cNvPr id="9" name="Picture 8" descr="A graph of a curve&#10;&#10;Description automatically generated">
            <a:extLst>
              <a:ext uri="{FF2B5EF4-FFF2-40B4-BE49-F238E27FC236}">
                <a16:creationId xmlns:a16="http://schemas.microsoft.com/office/drawing/2014/main" id="{CD4A6BF4-6EC4-456D-3C19-CB141C17E3F7}"/>
              </a:ext>
            </a:extLst>
          </p:cNvPr>
          <p:cNvPicPr>
            <a:picLocks noChangeAspect="1"/>
          </p:cNvPicPr>
          <p:nvPr/>
        </p:nvPicPr>
        <p:blipFill>
          <a:blip r:embed="rId4"/>
          <a:stretch>
            <a:fillRect/>
          </a:stretch>
        </p:blipFill>
        <p:spPr>
          <a:xfrm>
            <a:off x="212035" y="1157875"/>
            <a:ext cx="5542036" cy="5030890"/>
          </a:xfrm>
          <a:prstGeom prst="rect">
            <a:avLst/>
          </a:prstGeom>
        </p:spPr>
      </p:pic>
    </p:spTree>
    <p:extLst>
      <p:ext uri="{BB962C8B-B14F-4D97-AF65-F5344CB8AC3E}">
        <p14:creationId xmlns:p14="http://schemas.microsoft.com/office/powerpoint/2010/main" val="58564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6E22A-6BF5-5BE3-3A99-9FEB1AC971C2}"/>
              </a:ext>
            </a:extLst>
          </p:cNvPr>
          <p:cNvSpPr>
            <a:spLocks noGrp="1"/>
          </p:cNvSpPr>
          <p:nvPr>
            <p:ph type="title"/>
          </p:nvPr>
        </p:nvSpPr>
        <p:spPr>
          <a:xfrm>
            <a:off x="216450" y="114853"/>
            <a:ext cx="11750259" cy="833500"/>
          </a:xfrm>
        </p:spPr>
        <p:txBody>
          <a:bodyPr>
            <a:normAutofit/>
          </a:bodyPr>
          <a:lstStyle/>
          <a:p>
            <a:pPr algn="ctr"/>
            <a:r>
              <a:rPr lang="en-US" sz="3200" b="1" dirty="0">
                <a:solidFill>
                  <a:srgbClr val="002060"/>
                </a:solidFill>
                <a:latin typeface="Arial" panose="020B0604020202020204" pitchFamily="34" charset="0"/>
                <a:cs typeface="Arial" panose="020B0604020202020204" pitchFamily="34" charset="0"/>
              </a:rPr>
              <a:t>TASK THREE – BOOSTING WAS OPTED</a:t>
            </a:r>
          </a:p>
        </p:txBody>
      </p:sp>
      <p:sp>
        <p:nvSpPr>
          <p:cNvPr id="3" name="Content Placeholder 2">
            <a:extLst>
              <a:ext uri="{FF2B5EF4-FFF2-40B4-BE49-F238E27FC236}">
                <a16:creationId xmlns:a16="http://schemas.microsoft.com/office/drawing/2014/main" id="{68FB845F-7079-4D6C-58CE-1A067CDDE6D0}"/>
              </a:ext>
            </a:extLst>
          </p:cNvPr>
          <p:cNvSpPr>
            <a:spLocks noGrp="1"/>
          </p:cNvSpPr>
          <p:nvPr>
            <p:ph idx="1"/>
          </p:nvPr>
        </p:nvSpPr>
        <p:spPr>
          <a:xfrm>
            <a:off x="251790" y="1023626"/>
            <a:ext cx="11714919" cy="920335"/>
          </a:xfrm>
        </p:spPr>
        <p:txBody>
          <a:bodyPr anchor="ctr">
            <a:noAutofit/>
          </a:bodyPr>
          <a:lstStyle/>
          <a:p>
            <a:pPr marL="0" indent="0">
              <a:buNone/>
            </a:pPr>
            <a:r>
              <a:rPr lang="en-US" sz="2200" b="1" dirty="0">
                <a:latin typeface="Arial" panose="020B0604020202020204" pitchFamily="34" charset="0"/>
                <a:cs typeface="Arial" panose="020B0604020202020204" pitchFamily="34" charset="0"/>
              </a:rPr>
              <a:t>Boosting is particularly effective in handling class imbalances, ensuring fewer false negatives, which is critical in stroke mortality prediction.</a:t>
            </a:r>
          </a:p>
        </p:txBody>
      </p:sp>
      <p:graphicFrame>
        <p:nvGraphicFramePr>
          <p:cNvPr id="4" name="Table 3">
            <a:extLst>
              <a:ext uri="{FF2B5EF4-FFF2-40B4-BE49-F238E27FC236}">
                <a16:creationId xmlns:a16="http://schemas.microsoft.com/office/drawing/2014/main" id="{7B6BB69D-5E0E-1199-8BDB-3A02657864A0}"/>
              </a:ext>
            </a:extLst>
          </p:cNvPr>
          <p:cNvGraphicFramePr>
            <a:graphicFrameLocks noGrp="1"/>
          </p:cNvGraphicFramePr>
          <p:nvPr>
            <p:extLst>
              <p:ext uri="{D42A27DB-BD31-4B8C-83A1-F6EECF244321}">
                <p14:modId xmlns:p14="http://schemas.microsoft.com/office/powerpoint/2010/main" val="4067109901"/>
              </p:ext>
            </p:extLst>
          </p:nvPr>
        </p:nvGraphicFramePr>
        <p:xfrm>
          <a:off x="216450" y="2072242"/>
          <a:ext cx="11750259" cy="4447828"/>
        </p:xfrm>
        <a:graphic>
          <a:graphicData uri="http://schemas.openxmlformats.org/drawingml/2006/table">
            <a:tbl>
              <a:tblPr firstRow="1" bandRow="1">
                <a:tableStyleId>{C083E6E3-FA7D-4D7B-A595-EF9225AFEA82}</a:tableStyleId>
              </a:tblPr>
              <a:tblGrid>
                <a:gridCol w="11750259">
                  <a:extLst>
                    <a:ext uri="{9D8B030D-6E8A-4147-A177-3AD203B41FA5}">
                      <a16:colId xmlns:a16="http://schemas.microsoft.com/office/drawing/2014/main" val="2630151843"/>
                    </a:ext>
                  </a:extLst>
                </a:gridCol>
              </a:tblGrid>
              <a:tr h="4447828">
                <a:tc>
                  <a:txBody>
                    <a:bodyPr/>
                    <a:lstStyle/>
                    <a:p>
                      <a:r>
                        <a:rPr lang="en-US" sz="2400" b="1" dirty="0">
                          <a:latin typeface="Arial" panose="020B0604020202020204" pitchFamily="34" charset="0"/>
                          <a:cs typeface="Arial" panose="020B0604020202020204" pitchFamily="34" charset="0"/>
                        </a:rPr>
                        <a:t>WHY BOOSTING</a:t>
                      </a:r>
                    </a:p>
                    <a:p>
                      <a:pPr marL="342900" indent="-342900">
                        <a:buFont typeface="+mj-lt"/>
                        <a:buAutoNum type="arabicPeriod"/>
                      </a:pPr>
                      <a:r>
                        <a:rPr lang="en-US" sz="2400" b="0" dirty="0">
                          <a:latin typeface="Arial" panose="020B0604020202020204" pitchFamily="34" charset="0"/>
                          <a:cs typeface="Arial" panose="020B0604020202020204" pitchFamily="34" charset="0"/>
                        </a:rPr>
                        <a:t>GBM will iteratively learn from misclassifications, making it better at optimizing recall/specificity</a:t>
                      </a:r>
                    </a:p>
                    <a:p>
                      <a:pPr marL="342900" indent="-342900">
                        <a:buFont typeface="+mj-lt"/>
                        <a:buAutoNum type="arabicPeriod"/>
                      </a:pPr>
                      <a:r>
                        <a:rPr lang="en-US" sz="2400" b="0" dirty="0">
                          <a:latin typeface="Arial" panose="020B0604020202020204" pitchFamily="34" charset="0"/>
                          <a:cs typeface="Arial" panose="020B0604020202020204" pitchFamily="34" charset="0"/>
                        </a:rPr>
                        <a:t>Your dataset is likely complex and imbalanced.</a:t>
                      </a:r>
                    </a:p>
                    <a:p>
                      <a:pPr marL="0" indent="0">
                        <a:buFont typeface="+mj-lt"/>
                        <a:buNone/>
                      </a:pPr>
                      <a:endParaRPr lang="en-US" sz="2400" b="0" dirty="0">
                        <a:latin typeface="Arial" panose="020B0604020202020204" pitchFamily="34" charset="0"/>
                        <a:cs typeface="Arial" panose="020B0604020202020204" pitchFamily="34" charset="0"/>
                      </a:endParaRPr>
                    </a:p>
                    <a:p>
                      <a:pPr marL="0" indent="0">
                        <a:buFont typeface="+mj-lt"/>
                        <a:buNone/>
                      </a:pPr>
                      <a:r>
                        <a:rPr lang="en-US" sz="2400" b="1" dirty="0">
                          <a:latin typeface="Arial" panose="020B0604020202020204" pitchFamily="34" charset="0"/>
                          <a:cs typeface="Arial" panose="020B0604020202020204" pitchFamily="34" charset="0"/>
                        </a:rPr>
                        <a:t>Limitations</a:t>
                      </a:r>
                    </a:p>
                    <a:p>
                      <a:pPr marL="342900" indent="-342900">
                        <a:buFont typeface="+mj-lt"/>
                        <a:buAutoNum type="arabicPeriod"/>
                      </a:pPr>
                      <a:r>
                        <a:rPr lang="en-US" sz="2400" b="0" dirty="0">
                          <a:latin typeface="Arial" panose="020B0604020202020204" pitchFamily="34" charset="0"/>
                          <a:cs typeface="Arial" panose="020B0604020202020204" pitchFamily="34" charset="0"/>
                        </a:rPr>
                        <a:t>Slower training compared to Random Forest</a:t>
                      </a:r>
                    </a:p>
                    <a:p>
                      <a:pPr marL="342900" indent="-342900">
                        <a:buFont typeface="+mj-lt"/>
                        <a:buAutoNum type="arabicPeriod"/>
                      </a:pPr>
                      <a:r>
                        <a:rPr lang="en-US" sz="2400" b="0" dirty="0">
                          <a:latin typeface="Arial" panose="020B0604020202020204" pitchFamily="34" charset="0"/>
                          <a:cs typeface="Arial" panose="020B0604020202020204" pitchFamily="34" charset="0"/>
                        </a:rPr>
                        <a:t>More sensitive to hyperparameters (needs tuning)</a:t>
                      </a:r>
                    </a:p>
                    <a:p>
                      <a:pPr marL="342900" indent="-342900">
                        <a:buFont typeface="+mj-lt"/>
                        <a:buAutoNum type="arabicPeriod"/>
                      </a:pPr>
                      <a:endParaRPr lang="en-US" b="1" dirty="0"/>
                    </a:p>
                    <a:p>
                      <a:pPr marL="0" indent="0">
                        <a:buFont typeface="+mj-lt"/>
                        <a:buNone/>
                      </a:pPr>
                      <a:endParaRPr lang="en-US" b="1" dirty="0"/>
                    </a:p>
                    <a:p>
                      <a:pPr marL="342900" indent="-342900">
                        <a:buFont typeface="+mj-lt"/>
                        <a:buAutoNum type="arabicPeriod"/>
                      </a:pPr>
                      <a:endParaRPr lang="en-US" b="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794900484"/>
                  </a:ext>
                </a:extLst>
              </a:tr>
            </a:tbl>
          </a:graphicData>
        </a:graphic>
      </p:graphicFrame>
    </p:spTree>
    <p:extLst>
      <p:ext uri="{BB962C8B-B14F-4D97-AF65-F5344CB8AC3E}">
        <p14:creationId xmlns:p14="http://schemas.microsoft.com/office/powerpoint/2010/main" val="163147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3D562-3897-757B-8447-DA4D9C60663D}"/>
              </a:ext>
            </a:extLst>
          </p:cNvPr>
          <p:cNvSpPr>
            <a:spLocks noGrp="1"/>
          </p:cNvSpPr>
          <p:nvPr>
            <p:ph type="title"/>
          </p:nvPr>
        </p:nvSpPr>
        <p:spPr>
          <a:xfrm>
            <a:off x="39756" y="73580"/>
            <a:ext cx="12059478" cy="814318"/>
          </a:xfrm>
        </p:spPr>
        <p:txBody>
          <a:bodyPr>
            <a:normAutofit fontScale="90000"/>
          </a:bodyPr>
          <a:lstStyle/>
          <a:p>
            <a:r>
              <a:rPr lang="en-US" sz="3200" b="1" dirty="0">
                <a:solidFill>
                  <a:srgbClr val="002060"/>
                </a:solidFill>
                <a:latin typeface="Arial" panose="020B0604020202020204" pitchFamily="34" charset="0"/>
                <a:cs typeface="Arial" panose="020B0604020202020204" pitchFamily="34" charset="0"/>
              </a:rPr>
              <a:t>TUNING PARAMETERS BASED ON DEFAULT RESULT(G-Boosting)</a:t>
            </a:r>
          </a:p>
        </p:txBody>
      </p:sp>
      <p:graphicFrame>
        <p:nvGraphicFramePr>
          <p:cNvPr id="4" name="Table 3">
            <a:extLst>
              <a:ext uri="{FF2B5EF4-FFF2-40B4-BE49-F238E27FC236}">
                <a16:creationId xmlns:a16="http://schemas.microsoft.com/office/drawing/2014/main" id="{8442FD80-6830-BE8D-B13C-A025CA37B0D5}"/>
              </a:ext>
            </a:extLst>
          </p:cNvPr>
          <p:cNvGraphicFramePr>
            <a:graphicFrameLocks noGrp="1"/>
          </p:cNvGraphicFramePr>
          <p:nvPr>
            <p:extLst>
              <p:ext uri="{D42A27DB-BD31-4B8C-83A1-F6EECF244321}">
                <p14:modId xmlns:p14="http://schemas.microsoft.com/office/powerpoint/2010/main" val="1238454306"/>
              </p:ext>
            </p:extLst>
          </p:nvPr>
        </p:nvGraphicFramePr>
        <p:xfrm>
          <a:off x="52635" y="887899"/>
          <a:ext cx="12059479" cy="5690230"/>
        </p:xfrm>
        <a:graphic>
          <a:graphicData uri="http://schemas.openxmlformats.org/drawingml/2006/table">
            <a:tbl>
              <a:tblPr firstRow="1" bandRow="1">
                <a:tableStyleId>{6E25E649-3F16-4E02-A733-19D2CDBF48F0}</a:tableStyleId>
              </a:tblPr>
              <a:tblGrid>
                <a:gridCol w="2651929">
                  <a:extLst>
                    <a:ext uri="{9D8B030D-6E8A-4147-A177-3AD203B41FA5}">
                      <a16:colId xmlns:a16="http://schemas.microsoft.com/office/drawing/2014/main" val="1736966736"/>
                    </a:ext>
                  </a:extLst>
                </a:gridCol>
                <a:gridCol w="4262907">
                  <a:extLst>
                    <a:ext uri="{9D8B030D-6E8A-4147-A177-3AD203B41FA5}">
                      <a16:colId xmlns:a16="http://schemas.microsoft.com/office/drawing/2014/main" val="3906091362"/>
                    </a:ext>
                  </a:extLst>
                </a:gridCol>
                <a:gridCol w="5144643">
                  <a:extLst>
                    <a:ext uri="{9D8B030D-6E8A-4147-A177-3AD203B41FA5}">
                      <a16:colId xmlns:a16="http://schemas.microsoft.com/office/drawing/2014/main" val="1415789796"/>
                    </a:ext>
                  </a:extLst>
                </a:gridCol>
              </a:tblGrid>
              <a:tr h="354361">
                <a:tc>
                  <a:txBody>
                    <a:bodyPr/>
                    <a:lstStyle/>
                    <a:p>
                      <a:r>
                        <a:rPr lang="en-US" sz="1800" dirty="0">
                          <a:latin typeface="Arial" panose="020B0604020202020204" pitchFamily="34" charset="0"/>
                          <a:cs typeface="Arial" panose="020B0604020202020204" pitchFamily="34" charset="0"/>
                        </a:rPr>
                        <a:t>Tuning Parameters</a:t>
                      </a:r>
                    </a:p>
                  </a:txBody>
                  <a:tcPr anchor="ctr"/>
                </a:tc>
                <a:tc>
                  <a:txBody>
                    <a:bodyPr/>
                    <a:lstStyle/>
                    <a:p>
                      <a:r>
                        <a:rPr lang="en-US" sz="1800" dirty="0">
                          <a:latin typeface="Arial" panose="020B0604020202020204" pitchFamily="34" charset="0"/>
                          <a:cs typeface="Arial" panose="020B0604020202020204" pitchFamily="34" charset="0"/>
                        </a:rPr>
                        <a:t>Pros</a:t>
                      </a:r>
                    </a:p>
                  </a:txBody>
                  <a:tcPr anchor="ctr"/>
                </a:tc>
                <a:tc>
                  <a:txBody>
                    <a:bodyPr/>
                    <a:lstStyle/>
                    <a:p>
                      <a:r>
                        <a:rPr lang="en-US" sz="1800" dirty="0">
                          <a:latin typeface="Arial" panose="020B0604020202020204" pitchFamily="34" charset="0"/>
                          <a:cs typeface="Arial" panose="020B0604020202020204" pitchFamily="34" charset="0"/>
                        </a:rPr>
                        <a:t>Cons</a:t>
                      </a:r>
                    </a:p>
                  </a:txBody>
                  <a:tcPr anchor="ctr"/>
                </a:tc>
                <a:extLst>
                  <a:ext uri="{0D108BD9-81ED-4DB2-BD59-A6C34878D82A}">
                    <a16:rowId xmlns:a16="http://schemas.microsoft.com/office/drawing/2014/main" val="3661798073"/>
                  </a:ext>
                </a:extLst>
              </a:tr>
              <a:tr h="850138">
                <a:tc>
                  <a:txBody>
                    <a:bodyPr/>
                    <a:lstStyle/>
                    <a:p>
                      <a:r>
                        <a:rPr lang="en-US" sz="1800" dirty="0" err="1">
                          <a:latin typeface="Arial" panose="020B0604020202020204" pitchFamily="34" charset="0"/>
                          <a:cs typeface="Arial" panose="020B0604020202020204" pitchFamily="34" charset="0"/>
                        </a:rPr>
                        <a:t>scale_pos_weight</a:t>
                      </a:r>
                      <a:r>
                        <a:rPr lang="en-US" sz="1800" dirty="0">
                          <a:latin typeface="Arial" panose="020B0604020202020204" pitchFamily="34" charset="0"/>
                          <a:cs typeface="Arial" panose="020B0604020202020204" pitchFamily="34" charset="0"/>
                        </a:rPr>
                        <a:t> </a:t>
                      </a:r>
                    </a:p>
                  </a:txBody>
                  <a:tcPr anchor="ctr"/>
                </a:tc>
                <a:tc>
                  <a:txBody>
                    <a:bodyPr/>
                    <a:lstStyle/>
                    <a:p>
                      <a:r>
                        <a:rPr lang="en-US" sz="1800" dirty="0">
                          <a:latin typeface="Arial" panose="020B0604020202020204" pitchFamily="34" charset="0"/>
                          <a:cs typeface="Arial" panose="020B0604020202020204" pitchFamily="34" charset="0"/>
                        </a:rPr>
                        <a:t>Adjusts class weighting to handle imbalanced data, making the model more sensitive to the minority class.</a:t>
                      </a:r>
                    </a:p>
                  </a:txBody>
                  <a:tcPr anchor="ctr"/>
                </a:tc>
                <a:tc>
                  <a:txBody>
                    <a:bodyPr/>
                    <a:lstStyle/>
                    <a:p>
                      <a:r>
                        <a:rPr lang="en-US" sz="1800" dirty="0">
                          <a:latin typeface="Arial" panose="020B0604020202020204" pitchFamily="34" charset="0"/>
                          <a:cs typeface="Arial" panose="020B0604020202020204" pitchFamily="34" charset="0"/>
                        </a:rPr>
                        <a:t>If tuned incorrectly, can overcompensate minority class, leading to excessive false positives</a:t>
                      </a:r>
                    </a:p>
                  </a:txBody>
                  <a:tcPr anchor="ctr"/>
                </a:tc>
                <a:extLst>
                  <a:ext uri="{0D108BD9-81ED-4DB2-BD59-A6C34878D82A}">
                    <a16:rowId xmlns:a16="http://schemas.microsoft.com/office/drawing/2014/main" val="3210425641"/>
                  </a:ext>
                </a:extLst>
              </a:tr>
              <a:tr h="1107755">
                <a:tc>
                  <a:txBody>
                    <a:bodyPr/>
                    <a:lstStyle/>
                    <a:p>
                      <a:r>
                        <a:rPr lang="en-US" sz="1800" dirty="0">
                          <a:latin typeface="Arial" panose="020B0604020202020204" pitchFamily="34" charset="0"/>
                          <a:cs typeface="Arial" panose="020B0604020202020204" pitchFamily="34" charset="0"/>
                        </a:rPr>
                        <a:t>eta (Learning Rate) </a:t>
                      </a:r>
                    </a:p>
                  </a:txBody>
                  <a:tcPr anchor="ctr"/>
                </a:tc>
                <a:tc>
                  <a:txBody>
                    <a:bodyPr/>
                    <a:lstStyle/>
                    <a:p>
                      <a:r>
                        <a:rPr lang="en-US" sz="1800" dirty="0">
                          <a:latin typeface="Arial" panose="020B0604020202020204" pitchFamily="34" charset="0"/>
                          <a:cs typeface="Arial" panose="020B0604020202020204" pitchFamily="34" charset="0"/>
                        </a:rPr>
                        <a:t>Controls step size for weight updates, improving convergence stability</a:t>
                      </a:r>
                    </a:p>
                  </a:txBody>
                  <a:tcPr anchor="ctr"/>
                </a:tc>
                <a:tc>
                  <a:txBody>
                    <a:bodyPr/>
                    <a:lstStyle/>
                    <a:p>
                      <a:r>
                        <a:rPr lang="en-US" sz="1800" dirty="0">
                          <a:latin typeface="Arial" panose="020B0604020202020204" pitchFamily="34" charset="0"/>
                          <a:cs typeface="Arial" panose="020B0604020202020204" pitchFamily="34" charset="0"/>
                        </a:rPr>
                        <a:t>Lower eta improves generalization but requires more training iterations, while higher eta speeds up convergence but risks overfitting.</a:t>
                      </a:r>
                    </a:p>
                  </a:txBody>
                  <a:tcPr anchor="ctr"/>
                </a:tc>
                <a:extLst>
                  <a:ext uri="{0D108BD9-81ED-4DB2-BD59-A6C34878D82A}">
                    <a16:rowId xmlns:a16="http://schemas.microsoft.com/office/drawing/2014/main" val="2518296460"/>
                  </a:ext>
                </a:extLst>
              </a:tr>
              <a:tr h="611638">
                <a:tc>
                  <a:txBody>
                    <a:bodyPr/>
                    <a:lstStyle/>
                    <a:p>
                      <a:r>
                        <a:rPr lang="en-US" sz="1800" dirty="0" err="1">
                          <a:latin typeface="Arial" panose="020B0604020202020204" pitchFamily="34" charset="0"/>
                          <a:cs typeface="Arial" panose="020B0604020202020204" pitchFamily="34" charset="0"/>
                        </a:rPr>
                        <a:t>min_child_weight</a:t>
                      </a:r>
                      <a:r>
                        <a:rPr lang="en-US" sz="1800" dirty="0">
                          <a:latin typeface="Arial" panose="020B0604020202020204" pitchFamily="34" charset="0"/>
                          <a:cs typeface="Arial" panose="020B0604020202020204" pitchFamily="34" charset="0"/>
                        </a:rPr>
                        <a:t> </a:t>
                      </a:r>
                    </a:p>
                  </a:txBody>
                  <a:tcPr anchor="ctr"/>
                </a:tc>
                <a:tc>
                  <a:txBody>
                    <a:bodyPr/>
                    <a:lstStyle/>
                    <a:p>
                      <a:r>
                        <a:rPr lang="en-US" sz="1800" dirty="0">
                          <a:latin typeface="Arial" panose="020B0604020202020204" pitchFamily="34" charset="0"/>
                          <a:cs typeface="Arial" panose="020B0604020202020204" pitchFamily="34" charset="0"/>
                        </a:rPr>
                        <a:t>Prevents overfitting by avoiding excessively small leaf nodes</a:t>
                      </a:r>
                    </a:p>
                  </a:txBody>
                  <a:tcPr anchor="ctr"/>
                </a:tc>
                <a:tc>
                  <a:txBody>
                    <a:bodyPr/>
                    <a:lstStyle/>
                    <a:p>
                      <a:r>
                        <a:rPr lang="en-US" sz="1800" dirty="0">
                          <a:latin typeface="Arial" panose="020B0604020202020204" pitchFamily="34" charset="0"/>
                          <a:cs typeface="Arial" panose="020B0604020202020204" pitchFamily="34" charset="0"/>
                        </a:rPr>
                        <a:t>Reduces flexibility, which may affect capturing subtle relationships in data</a:t>
                      </a:r>
                    </a:p>
                  </a:txBody>
                  <a:tcPr anchor="ctr"/>
                </a:tc>
                <a:extLst>
                  <a:ext uri="{0D108BD9-81ED-4DB2-BD59-A6C34878D82A}">
                    <a16:rowId xmlns:a16="http://schemas.microsoft.com/office/drawing/2014/main" val="2154889292"/>
                  </a:ext>
                </a:extLst>
              </a:tr>
              <a:tr h="1107755">
                <a:tc>
                  <a:txBody>
                    <a:bodyPr/>
                    <a:lstStyle/>
                    <a:p>
                      <a:r>
                        <a:rPr lang="en-US" sz="1800" dirty="0" err="1">
                          <a:latin typeface="Arial" panose="020B0604020202020204" pitchFamily="34" charset="0"/>
                          <a:cs typeface="Arial" panose="020B0604020202020204" pitchFamily="34" charset="0"/>
                        </a:rPr>
                        <a:t>max_depth</a:t>
                      </a:r>
                      <a:r>
                        <a:rPr lang="en-US" sz="1800" dirty="0">
                          <a:latin typeface="Arial" panose="020B0604020202020204" pitchFamily="34" charset="0"/>
                          <a:cs typeface="Arial" panose="020B0604020202020204" pitchFamily="34" charset="0"/>
                        </a:rPr>
                        <a:t> </a:t>
                      </a:r>
                    </a:p>
                  </a:txBody>
                  <a:tcPr anchor="ctr"/>
                </a:tc>
                <a:tc>
                  <a:txBody>
                    <a:bodyPr/>
                    <a:lstStyle/>
                    <a:p>
                      <a:r>
                        <a:rPr lang="en-US" sz="1800" dirty="0">
                          <a:latin typeface="Arial" panose="020B0604020202020204" pitchFamily="34" charset="0"/>
                          <a:cs typeface="Arial" panose="020B0604020202020204" pitchFamily="34" charset="0"/>
                        </a:rPr>
                        <a:t>Higher values capture complex patterns but risk overfitting,</a:t>
                      </a:r>
                    </a:p>
                  </a:txBody>
                  <a:tcPr anchor="ctr"/>
                </a:tc>
                <a:tc>
                  <a:txBody>
                    <a:bodyPr/>
                    <a:lstStyle/>
                    <a:p>
                      <a:r>
                        <a:rPr lang="en-US" sz="1800" dirty="0">
                          <a:latin typeface="Arial" panose="020B0604020202020204" pitchFamily="34" charset="0"/>
                          <a:cs typeface="Arial" panose="020B0604020202020204" pitchFamily="34" charset="0"/>
                        </a:rPr>
                        <a:t>Lower values enhance generalization but may miss key interactions.</a:t>
                      </a:r>
                    </a:p>
                  </a:txBody>
                  <a:tcPr anchor="ctr"/>
                </a:tc>
                <a:extLst>
                  <a:ext uri="{0D108BD9-81ED-4DB2-BD59-A6C34878D82A}">
                    <a16:rowId xmlns:a16="http://schemas.microsoft.com/office/drawing/2014/main" val="16953520"/>
                  </a:ext>
                </a:extLst>
              </a:tr>
              <a:tr h="592520">
                <a:tc>
                  <a:txBody>
                    <a:bodyPr/>
                    <a:lstStyle/>
                    <a:p>
                      <a:r>
                        <a:rPr lang="en-US" sz="1800" dirty="0" err="1">
                          <a:latin typeface="Arial" panose="020B0604020202020204" pitchFamily="34" charset="0"/>
                          <a:cs typeface="Arial" panose="020B0604020202020204" pitchFamily="34" charset="0"/>
                        </a:rPr>
                        <a:t>early_stopping_rounds</a:t>
                      </a:r>
                      <a:r>
                        <a:rPr lang="en-US" sz="1800" dirty="0">
                          <a:latin typeface="Arial" panose="020B0604020202020204" pitchFamily="34" charset="0"/>
                          <a:cs typeface="Arial" panose="020B0604020202020204" pitchFamily="34" charset="0"/>
                        </a:rPr>
                        <a:t> </a:t>
                      </a:r>
                    </a:p>
                  </a:txBody>
                  <a:tcPr anchor="ctr"/>
                </a:tc>
                <a:tc>
                  <a:txBody>
                    <a:bodyPr/>
                    <a:lstStyle/>
                    <a:p>
                      <a:r>
                        <a:rPr lang="en-US" dirty="0">
                          <a:latin typeface="Arial" panose="020B0604020202020204" pitchFamily="34" charset="0"/>
                          <a:cs typeface="Arial" panose="020B0604020202020204" pitchFamily="34" charset="0"/>
                        </a:rPr>
                        <a:t>Helps prevent overfitting by stopping training when validation performance stops improving.</a:t>
                      </a:r>
                      <a:endParaRPr lang="en-US" sz="1800" dirty="0">
                        <a:latin typeface="Arial" panose="020B0604020202020204" pitchFamily="34" charset="0"/>
                        <a:cs typeface="Arial" panose="020B0604020202020204" pitchFamily="34" charset="0"/>
                      </a:endParaRPr>
                    </a:p>
                  </a:txBody>
                  <a:tcPr anchor="ctr"/>
                </a:tc>
                <a:tc>
                  <a:txBody>
                    <a:bodyPr/>
                    <a:lstStyle/>
                    <a:p>
                      <a:r>
                        <a:rPr lang="en-US" dirty="0">
                          <a:latin typeface="Arial" panose="020B0604020202020204" pitchFamily="34" charset="0"/>
                          <a:cs typeface="Arial" panose="020B0604020202020204" pitchFamily="34" charset="0"/>
                        </a:rPr>
                        <a:t>A low value may stop training too early, while a high value may continue unnecessary iterations.</a:t>
                      </a:r>
                      <a:endParaRPr lang="en-US" sz="18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4279515471"/>
                  </a:ext>
                </a:extLst>
              </a:tr>
              <a:tr h="592520">
                <a:tc>
                  <a:txBody>
                    <a:bodyPr/>
                    <a:lstStyle/>
                    <a:p>
                      <a:r>
                        <a:rPr lang="en-US" sz="1800" dirty="0">
                          <a:latin typeface="Arial" panose="020B0604020202020204" pitchFamily="34" charset="0"/>
                          <a:cs typeface="Arial" panose="020B0604020202020204" pitchFamily="34" charset="0"/>
                        </a:rPr>
                        <a:t>Folds</a:t>
                      </a:r>
                    </a:p>
                  </a:txBody>
                  <a:tcPr anchor="ctr"/>
                </a:tc>
                <a:tc>
                  <a:txBody>
                    <a:bodyPr/>
                    <a:lstStyle/>
                    <a:p>
                      <a:r>
                        <a:rPr lang="en-US" sz="1800" dirty="0">
                          <a:latin typeface="Arial" panose="020B0604020202020204" pitchFamily="34" charset="0"/>
                          <a:cs typeface="Arial" panose="020B0604020202020204" pitchFamily="34" charset="0"/>
                        </a:rPr>
                        <a:t>Reduces risk of model overfitting to a particular dataset split</a:t>
                      </a:r>
                    </a:p>
                  </a:txBody>
                  <a:tcPr anchor="ctr"/>
                </a:tc>
                <a:tc>
                  <a:txBody>
                    <a:bodyPr/>
                    <a:lstStyle/>
                    <a:p>
                      <a:r>
                        <a:rPr lang="en-US" sz="1800" dirty="0">
                          <a:latin typeface="Arial" panose="020B0604020202020204" pitchFamily="34" charset="0"/>
                          <a:cs typeface="Arial" panose="020B0604020202020204" pitchFamily="34" charset="0"/>
                        </a:rPr>
                        <a:t>More folds = more computational cost</a:t>
                      </a:r>
                    </a:p>
                  </a:txBody>
                  <a:tcPr anchor="ctr"/>
                </a:tc>
                <a:extLst>
                  <a:ext uri="{0D108BD9-81ED-4DB2-BD59-A6C34878D82A}">
                    <a16:rowId xmlns:a16="http://schemas.microsoft.com/office/drawing/2014/main" val="2226700653"/>
                  </a:ext>
                </a:extLst>
              </a:tr>
            </a:tbl>
          </a:graphicData>
        </a:graphic>
      </p:graphicFrame>
    </p:spTree>
    <p:extLst>
      <p:ext uri="{BB962C8B-B14F-4D97-AF65-F5344CB8AC3E}">
        <p14:creationId xmlns:p14="http://schemas.microsoft.com/office/powerpoint/2010/main" val="2764379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6C03B-28AB-840B-9825-E3409FBE52BA}"/>
              </a:ext>
            </a:extLst>
          </p:cNvPr>
          <p:cNvSpPr>
            <a:spLocks noGrp="1"/>
          </p:cNvSpPr>
          <p:nvPr>
            <p:ph type="title"/>
          </p:nvPr>
        </p:nvSpPr>
        <p:spPr>
          <a:xfrm>
            <a:off x="172279" y="113334"/>
            <a:ext cx="11817246" cy="907084"/>
          </a:xfrm>
        </p:spPr>
        <p:txBody>
          <a:bodyPr vert="horz" lIns="91440" tIns="45720" rIns="91440" bIns="45720" rtlCol="0" anchor="ctr">
            <a:normAutofit/>
          </a:bodyPr>
          <a:lstStyle/>
          <a:p>
            <a:r>
              <a:rPr lang="en-US" sz="3200" b="1" kern="1200" dirty="0">
                <a:solidFill>
                  <a:schemeClr val="tx1"/>
                </a:solidFill>
                <a:latin typeface="Arial" panose="020B0604020202020204" pitchFamily="34" charset="0"/>
                <a:cs typeface="Arial" panose="020B0604020202020204" pitchFamily="34" charset="0"/>
              </a:rPr>
              <a:t>KEY FEATURES (G-BOOSTING) DEFAULT &amp; OPTIMIZED</a:t>
            </a:r>
          </a:p>
        </p:txBody>
      </p:sp>
      <p:pic>
        <p:nvPicPr>
          <p:cNvPr id="5" name="Content Placeholder 4" descr="A graph of a graph showing different colored bars&#10;&#10;Description automatically generated with medium confidence">
            <a:extLst>
              <a:ext uri="{FF2B5EF4-FFF2-40B4-BE49-F238E27FC236}">
                <a16:creationId xmlns:a16="http://schemas.microsoft.com/office/drawing/2014/main" id="{4196326A-F3B7-FAD6-0FA2-B07DCA406996}"/>
              </a:ext>
            </a:extLst>
          </p:cNvPr>
          <p:cNvPicPr>
            <a:picLocks noGrp="1" noChangeAspect="1"/>
          </p:cNvPicPr>
          <p:nvPr>
            <p:ph idx="1"/>
          </p:nvPr>
        </p:nvPicPr>
        <p:blipFill>
          <a:blip r:embed="rId4"/>
          <a:stretch>
            <a:fillRect/>
          </a:stretch>
        </p:blipFill>
        <p:spPr>
          <a:xfrm>
            <a:off x="172280" y="1245704"/>
            <a:ext cx="5724296" cy="5234609"/>
          </a:xfrm>
          <a:prstGeom prst="rect">
            <a:avLst/>
          </a:prstGeom>
        </p:spPr>
      </p:pic>
      <p:pic>
        <p:nvPicPr>
          <p:cNvPr id="7" name="Picture 6" descr="A graph of a graph with text&#10;&#10;Description automatically generated with medium confidence">
            <a:extLst>
              <a:ext uri="{FF2B5EF4-FFF2-40B4-BE49-F238E27FC236}">
                <a16:creationId xmlns:a16="http://schemas.microsoft.com/office/drawing/2014/main" id="{2731F19C-F74F-70F0-C462-ACA4A9C4A57D}"/>
              </a:ext>
            </a:extLst>
          </p:cNvPr>
          <p:cNvPicPr>
            <a:picLocks noChangeAspect="1"/>
          </p:cNvPicPr>
          <p:nvPr/>
        </p:nvPicPr>
        <p:blipFill>
          <a:blip r:embed="rId5"/>
          <a:stretch>
            <a:fillRect/>
          </a:stretch>
        </p:blipFill>
        <p:spPr>
          <a:xfrm>
            <a:off x="6096001" y="1245704"/>
            <a:ext cx="5893524" cy="5234609"/>
          </a:xfrm>
          <a:prstGeom prst="rect">
            <a:avLst/>
          </a:prstGeom>
        </p:spPr>
      </p:pic>
      <p:sp>
        <p:nvSpPr>
          <p:cNvPr id="8" name="Rectangle 7">
            <a:extLst>
              <a:ext uri="{FF2B5EF4-FFF2-40B4-BE49-F238E27FC236}">
                <a16:creationId xmlns:a16="http://schemas.microsoft.com/office/drawing/2014/main" id="{470EAAEF-D928-0F2E-0C60-92AED422BFF3}"/>
              </a:ext>
            </a:extLst>
          </p:cNvPr>
          <p:cNvSpPr/>
          <p:nvPr/>
        </p:nvSpPr>
        <p:spPr>
          <a:xfrm>
            <a:off x="202475" y="1245704"/>
            <a:ext cx="11574585" cy="907084"/>
          </a:xfrm>
          <a:prstGeom prst="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67634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1" presetClass="exit" presetSubtype="0" fill="hold" grpId="1" nodeType="clickEffect">
                                  <p:stCondLst>
                                    <p:cond delay="0"/>
                                  </p:stCondLst>
                                  <p:childTnLst>
                                    <p:anim calcmode="lin" valueType="num">
                                      <p:cBhvr>
                                        <p:cTn id="10" dur="1000"/>
                                        <p:tgtEl>
                                          <p:spTgt spid="8"/>
                                        </p:tgtEl>
                                        <p:attrNameLst>
                                          <p:attrName>ppt_w</p:attrName>
                                        </p:attrNameLst>
                                      </p:cBhvr>
                                      <p:tavLst>
                                        <p:tav tm="0">
                                          <p:val>
                                            <p:strVal val="ppt_w"/>
                                          </p:val>
                                        </p:tav>
                                        <p:tav tm="100000">
                                          <p:val>
                                            <p:fltVal val="0"/>
                                          </p:val>
                                        </p:tav>
                                      </p:tavLst>
                                    </p:anim>
                                    <p:anim calcmode="lin" valueType="num">
                                      <p:cBhvr>
                                        <p:cTn id="11" dur="1000"/>
                                        <p:tgtEl>
                                          <p:spTgt spid="8"/>
                                        </p:tgtEl>
                                        <p:attrNameLst>
                                          <p:attrName>ppt_h</p:attrName>
                                        </p:attrNameLst>
                                      </p:cBhvr>
                                      <p:tavLst>
                                        <p:tav tm="0">
                                          <p:val>
                                            <p:strVal val="ppt_h"/>
                                          </p:val>
                                        </p:tav>
                                        <p:tav tm="100000">
                                          <p:val>
                                            <p:fltVal val="0"/>
                                          </p:val>
                                        </p:tav>
                                      </p:tavLst>
                                    </p:anim>
                                    <p:anim calcmode="lin" valueType="num">
                                      <p:cBhvr>
                                        <p:cTn id="12" dur="1000"/>
                                        <p:tgtEl>
                                          <p:spTgt spid="8"/>
                                        </p:tgtEl>
                                        <p:attrNameLst>
                                          <p:attrName>style.rotation</p:attrName>
                                        </p:attrNameLst>
                                      </p:cBhvr>
                                      <p:tavLst>
                                        <p:tav tm="0">
                                          <p:val>
                                            <p:fltVal val="0"/>
                                          </p:val>
                                        </p:tav>
                                        <p:tav tm="100000">
                                          <p:val>
                                            <p:fltVal val="90"/>
                                          </p:val>
                                        </p:tav>
                                      </p:tavLst>
                                    </p:anim>
                                    <p:animEffect transition="out" filter="fade">
                                      <p:cBhvr>
                                        <p:cTn id="13" dur="1000"/>
                                        <p:tgtEl>
                                          <p:spTgt spid="8"/>
                                        </p:tgtEl>
                                      </p:cBhvr>
                                    </p:animEffect>
                                    <p:set>
                                      <p:cBhvr>
                                        <p:cTn id="14" dur="1" fill="hold">
                                          <p:stCondLst>
                                            <p:cond delay="9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F94BB-4D37-ADFB-186F-ECEFF1B80F60}"/>
              </a:ext>
            </a:extLst>
          </p:cNvPr>
          <p:cNvSpPr>
            <a:spLocks noGrp="1"/>
          </p:cNvSpPr>
          <p:nvPr>
            <p:ph type="title"/>
          </p:nvPr>
        </p:nvSpPr>
        <p:spPr>
          <a:xfrm>
            <a:off x="241851" y="153090"/>
            <a:ext cx="11658600" cy="933588"/>
          </a:xfrm>
        </p:spPr>
        <p:txBody>
          <a:bodyPr vert="horz" lIns="91440" tIns="45720" rIns="91440" bIns="45720" rtlCol="0" anchor="ctr">
            <a:normAutofit/>
          </a:bodyPr>
          <a:lstStyle/>
          <a:p>
            <a:pPr algn="ctr"/>
            <a:r>
              <a:rPr lang="en-US" sz="3200" b="1" kern="1200" dirty="0">
                <a:solidFill>
                  <a:srgbClr val="002060"/>
                </a:solidFill>
                <a:latin typeface="Arial" panose="020B0604020202020204" pitchFamily="34" charset="0"/>
                <a:cs typeface="Arial" panose="020B0604020202020204" pitchFamily="34" charset="0"/>
              </a:rPr>
              <a:t>ROC CURVE (G-BOOSTING) DEFAULT &amp; OPTIMIZED</a:t>
            </a:r>
          </a:p>
        </p:txBody>
      </p:sp>
      <p:pic>
        <p:nvPicPr>
          <p:cNvPr id="5" name="Content Placeholder 4" descr="A graph of a curve&#10;&#10;Description automatically generated">
            <a:extLst>
              <a:ext uri="{FF2B5EF4-FFF2-40B4-BE49-F238E27FC236}">
                <a16:creationId xmlns:a16="http://schemas.microsoft.com/office/drawing/2014/main" id="{D7167009-C67F-C700-495B-0016ED28C7E5}"/>
              </a:ext>
            </a:extLst>
          </p:cNvPr>
          <p:cNvPicPr>
            <a:picLocks noGrp="1" noChangeAspect="1"/>
          </p:cNvPicPr>
          <p:nvPr>
            <p:ph idx="1"/>
          </p:nvPr>
        </p:nvPicPr>
        <p:blipFill>
          <a:blip r:embed="rId3"/>
          <a:stretch>
            <a:fillRect/>
          </a:stretch>
        </p:blipFill>
        <p:spPr>
          <a:xfrm>
            <a:off x="228598" y="1239768"/>
            <a:ext cx="5575854" cy="5064273"/>
          </a:xfrm>
          <a:prstGeom prst="rect">
            <a:avLst/>
          </a:prstGeom>
        </p:spPr>
      </p:pic>
      <p:pic>
        <p:nvPicPr>
          <p:cNvPr id="7" name="Picture 6" descr="A graph of a curve&#10;&#10;Description automatically generated">
            <a:extLst>
              <a:ext uri="{FF2B5EF4-FFF2-40B4-BE49-F238E27FC236}">
                <a16:creationId xmlns:a16="http://schemas.microsoft.com/office/drawing/2014/main" id="{952CF588-F67B-8E59-5210-01877755A034}"/>
              </a:ext>
            </a:extLst>
          </p:cNvPr>
          <p:cNvPicPr>
            <a:picLocks noChangeAspect="1"/>
          </p:cNvPicPr>
          <p:nvPr/>
        </p:nvPicPr>
        <p:blipFill>
          <a:blip r:embed="rId4"/>
          <a:stretch>
            <a:fillRect/>
          </a:stretch>
        </p:blipFill>
        <p:spPr>
          <a:xfrm>
            <a:off x="6387549" y="1239768"/>
            <a:ext cx="5512902" cy="5064273"/>
          </a:xfrm>
          <a:prstGeom prst="rect">
            <a:avLst/>
          </a:prstGeom>
        </p:spPr>
      </p:pic>
    </p:spTree>
    <p:extLst>
      <p:ext uri="{BB962C8B-B14F-4D97-AF65-F5344CB8AC3E}">
        <p14:creationId xmlns:p14="http://schemas.microsoft.com/office/powerpoint/2010/main" val="7249092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B7C96-CEBA-1843-73E1-831ADBAE1F31}"/>
              </a:ext>
            </a:extLst>
          </p:cNvPr>
          <p:cNvSpPr>
            <a:spLocks noGrp="1"/>
          </p:cNvSpPr>
          <p:nvPr>
            <p:ph type="title"/>
          </p:nvPr>
        </p:nvSpPr>
        <p:spPr>
          <a:xfrm>
            <a:off x="109331" y="139838"/>
            <a:ext cx="11887752" cy="917643"/>
          </a:xfrm>
        </p:spPr>
        <p:txBody>
          <a:bodyPr>
            <a:normAutofit/>
          </a:bodyPr>
          <a:lstStyle/>
          <a:p>
            <a:r>
              <a:rPr lang="en-US" sz="3200" b="1" dirty="0">
                <a:latin typeface="Arial" panose="020B0604020202020204" pitchFamily="34" charset="0"/>
                <a:cs typeface="Arial" panose="020B0604020202020204" pitchFamily="34" charset="0"/>
              </a:rPr>
              <a:t>CONF-MATRIX </a:t>
            </a:r>
            <a:r>
              <a:rPr lang="en-US" sz="3200" b="1" kern="1200" dirty="0">
                <a:solidFill>
                  <a:schemeClr val="tx1"/>
                </a:solidFill>
                <a:latin typeface="Arial" panose="020B0604020202020204" pitchFamily="34" charset="0"/>
                <a:cs typeface="Arial" panose="020B0604020202020204" pitchFamily="34" charset="0"/>
              </a:rPr>
              <a:t>(G-BOOSTING) DEFAULT &amp; OPTIMIZED</a:t>
            </a:r>
            <a:endParaRPr lang="en-US" sz="3200" b="1" dirty="0">
              <a:latin typeface="Arial" panose="020B0604020202020204" pitchFamily="34" charset="0"/>
              <a:cs typeface="Arial" panose="020B0604020202020204" pitchFamily="34" charset="0"/>
            </a:endParaRPr>
          </a:p>
        </p:txBody>
      </p:sp>
      <p:pic>
        <p:nvPicPr>
          <p:cNvPr id="5" name="Content Placeholder 4" descr="A blue and white squares with black numbers&#10;&#10;Description automatically generated">
            <a:extLst>
              <a:ext uri="{FF2B5EF4-FFF2-40B4-BE49-F238E27FC236}">
                <a16:creationId xmlns:a16="http://schemas.microsoft.com/office/drawing/2014/main" id="{32F2AB8F-A1BD-24E0-9A0E-A20C6B220AB6}"/>
              </a:ext>
            </a:extLst>
          </p:cNvPr>
          <p:cNvPicPr>
            <a:picLocks noGrp="1" noChangeAspect="1"/>
          </p:cNvPicPr>
          <p:nvPr>
            <p:ph idx="1"/>
          </p:nvPr>
        </p:nvPicPr>
        <p:blipFill>
          <a:blip r:embed="rId3"/>
          <a:stretch>
            <a:fillRect/>
          </a:stretch>
        </p:blipFill>
        <p:spPr>
          <a:xfrm>
            <a:off x="194917" y="1298713"/>
            <a:ext cx="5613401" cy="5181600"/>
          </a:xfrm>
        </p:spPr>
      </p:pic>
      <p:pic>
        <p:nvPicPr>
          <p:cNvPr id="7" name="Picture 6" descr="A blue and purple squares with black numbers&#10;&#10;Description automatically generated">
            <a:extLst>
              <a:ext uri="{FF2B5EF4-FFF2-40B4-BE49-F238E27FC236}">
                <a16:creationId xmlns:a16="http://schemas.microsoft.com/office/drawing/2014/main" id="{ED636246-5091-DA27-4A8B-8E084CFA1B51}"/>
              </a:ext>
            </a:extLst>
          </p:cNvPr>
          <p:cNvPicPr>
            <a:picLocks noChangeAspect="1"/>
          </p:cNvPicPr>
          <p:nvPr/>
        </p:nvPicPr>
        <p:blipFill>
          <a:blip r:embed="rId4"/>
          <a:stretch>
            <a:fillRect/>
          </a:stretch>
        </p:blipFill>
        <p:spPr>
          <a:xfrm>
            <a:off x="6096000" y="1298713"/>
            <a:ext cx="5901083" cy="5181600"/>
          </a:xfrm>
          <a:prstGeom prst="rect">
            <a:avLst/>
          </a:prstGeom>
        </p:spPr>
      </p:pic>
    </p:spTree>
    <p:extLst>
      <p:ext uri="{BB962C8B-B14F-4D97-AF65-F5344CB8AC3E}">
        <p14:creationId xmlns:p14="http://schemas.microsoft.com/office/powerpoint/2010/main" val="24378601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32615-DB53-64D9-862B-1F2AFDC5CF01}"/>
              </a:ext>
            </a:extLst>
          </p:cNvPr>
          <p:cNvSpPr>
            <a:spLocks noGrp="1"/>
          </p:cNvSpPr>
          <p:nvPr>
            <p:ph type="title"/>
          </p:nvPr>
        </p:nvSpPr>
        <p:spPr>
          <a:xfrm>
            <a:off x="100536" y="105529"/>
            <a:ext cx="11990928" cy="796997"/>
          </a:xfrm>
        </p:spPr>
        <p:txBody>
          <a:bodyPr vert="horz" lIns="91440" tIns="45720" rIns="91440" bIns="45720" rtlCol="0" anchor="ctr">
            <a:noAutofit/>
          </a:bodyPr>
          <a:lstStyle/>
          <a:p>
            <a:pPr algn="ctr"/>
            <a:r>
              <a:rPr lang="en-US" sz="3200" b="1" kern="1200" dirty="0">
                <a:solidFill>
                  <a:srgbClr val="002060"/>
                </a:solidFill>
                <a:latin typeface="Arial" panose="020B0604020202020204" pitchFamily="34" charset="0"/>
                <a:cs typeface="Arial" panose="020B0604020202020204" pitchFamily="34" charset="0"/>
              </a:rPr>
              <a:t>PERFORMANCE (G-BOOSTING) DEFAULT &amp; OPTIMIZED</a:t>
            </a:r>
          </a:p>
        </p:txBody>
      </p:sp>
      <p:pic>
        <p:nvPicPr>
          <p:cNvPr id="18" name="Picture 17" descr="A bar graph with different colored bars&#10;&#10;Description automatically generated">
            <a:extLst>
              <a:ext uri="{FF2B5EF4-FFF2-40B4-BE49-F238E27FC236}">
                <a16:creationId xmlns:a16="http://schemas.microsoft.com/office/drawing/2014/main" id="{C1E21C74-4D53-BF3B-D877-8B1DA32DBB51}"/>
              </a:ext>
            </a:extLst>
          </p:cNvPr>
          <p:cNvPicPr>
            <a:picLocks noChangeAspect="1"/>
          </p:cNvPicPr>
          <p:nvPr/>
        </p:nvPicPr>
        <p:blipFill>
          <a:blip r:embed="rId3"/>
          <a:stretch>
            <a:fillRect/>
          </a:stretch>
        </p:blipFill>
        <p:spPr>
          <a:xfrm>
            <a:off x="6215270" y="902526"/>
            <a:ext cx="5876194" cy="5683803"/>
          </a:xfrm>
          <a:prstGeom prst="rect">
            <a:avLst/>
          </a:prstGeom>
        </p:spPr>
      </p:pic>
      <p:pic>
        <p:nvPicPr>
          <p:cNvPr id="20" name="Picture 19" descr="A graph with different colored bars&#10;&#10;Description automatically generated">
            <a:extLst>
              <a:ext uri="{FF2B5EF4-FFF2-40B4-BE49-F238E27FC236}">
                <a16:creationId xmlns:a16="http://schemas.microsoft.com/office/drawing/2014/main" id="{3B3ED5B7-E492-278D-471A-A978E462B89D}"/>
              </a:ext>
            </a:extLst>
          </p:cNvPr>
          <p:cNvPicPr>
            <a:picLocks noChangeAspect="1"/>
          </p:cNvPicPr>
          <p:nvPr/>
        </p:nvPicPr>
        <p:blipFill>
          <a:blip r:embed="rId4"/>
          <a:stretch>
            <a:fillRect/>
          </a:stretch>
        </p:blipFill>
        <p:spPr>
          <a:xfrm>
            <a:off x="100536" y="902525"/>
            <a:ext cx="5876194" cy="5683803"/>
          </a:xfrm>
          <a:prstGeom prst="rect">
            <a:avLst/>
          </a:prstGeom>
        </p:spPr>
      </p:pic>
    </p:spTree>
    <p:extLst>
      <p:ext uri="{BB962C8B-B14F-4D97-AF65-F5344CB8AC3E}">
        <p14:creationId xmlns:p14="http://schemas.microsoft.com/office/powerpoint/2010/main" val="23334629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6F0D6-DC9C-17F5-76FA-5826AAC40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8B1CC8-4BF0-4291-D321-79CE8324FD7F}"/>
              </a:ext>
            </a:extLst>
          </p:cNvPr>
          <p:cNvSpPr>
            <a:spLocks noGrp="1"/>
          </p:cNvSpPr>
          <p:nvPr>
            <p:ph type="title"/>
          </p:nvPr>
        </p:nvSpPr>
        <p:spPr>
          <a:xfrm>
            <a:off x="175259" y="61731"/>
            <a:ext cx="11841475" cy="735499"/>
          </a:xfrm>
        </p:spPr>
        <p:txBody>
          <a:bodyPr>
            <a:normAutofit/>
          </a:bodyPr>
          <a:lstStyle/>
          <a:p>
            <a:r>
              <a:rPr lang="en-US" sz="3200" b="1" dirty="0">
                <a:solidFill>
                  <a:schemeClr val="tx2"/>
                </a:solidFill>
                <a:latin typeface="Arial" panose="020B0604020202020204" pitchFamily="34" charset="0"/>
                <a:cs typeface="Arial" panose="020B0604020202020204" pitchFamily="34" charset="0"/>
              </a:rPr>
              <a:t>TASK FOUR: COMPARATIVE ANALYSIS</a:t>
            </a:r>
          </a:p>
        </p:txBody>
      </p:sp>
      <p:sp>
        <p:nvSpPr>
          <p:cNvPr id="3" name="Content Placeholder 2">
            <a:extLst>
              <a:ext uri="{FF2B5EF4-FFF2-40B4-BE49-F238E27FC236}">
                <a16:creationId xmlns:a16="http://schemas.microsoft.com/office/drawing/2014/main" id="{D3BDD95D-DD91-F47E-CFEA-DD3D0917AAAE}"/>
              </a:ext>
            </a:extLst>
          </p:cNvPr>
          <p:cNvSpPr>
            <a:spLocks noGrp="1"/>
          </p:cNvSpPr>
          <p:nvPr>
            <p:ph idx="1"/>
          </p:nvPr>
        </p:nvSpPr>
        <p:spPr>
          <a:xfrm>
            <a:off x="253339" y="703863"/>
            <a:ext cx="11685319" cy="483705"/>
          </a:xfrm>
        </p:spPr>
        <p:txBody>
          <a:bodyPr>
            <a:normAutofit/>
          </a:bodyPr>
          <a:lstStyle/>
          <a:p>
            <a:pPr marL="0" indent="0">
              <a:buNone/>
            </a:pPr>
            <a:r>
              <a:rPr lang="en-US" dirty="0">
                <a:latin typeface="Arial" panose="020B0604020202020204" pitchFamily="34" charset="0"/>
                <a:cs typeface="Arial" panose="020B0604020202020204" pitchFamily="34" charset="0"/>
              </a:rPr>
              <a:t>Summary Statistics Against Each Model (Optimized Version)</a:t>
            </a:r>
          </a:p>
        </p:txBody>
      </p:sp>
      <p:graphicFrame>
        <p:nvGraphicFramePr>
          <p:cNvPr id="4" name="Table 3">
            <a:extLst>
              <a:ext uri="{FF2B5EF4-FFF2-40B4-BE49-F238E27FC236}">
                <a16:creationId xmlns:a16="http://schemas.microsoft.com/office/drawing/2014/main" id="{D275413F-A4FA-5255-6779-DB7A44C93545}"/>
              </a:ext>
            </a:extLst>
          </p:cNvPr>
          <p:cNvGraphicFramePr>
            <a:graphicFrameLocks noGrp="1"/>
          </p:cNvGraphicFramePr>
          <p:nvPr>
            <p:extLst>
              <p:ext uri="{D42A27DB-BD31-4B8C-83A1-F6EECF244321}">
                <p14:modId xmlns:p14="http://schemas.microsoft.com/office/powerpoint/2010/main" val="3879304539"/>
              </p:ext>
            </p:extLst>
          </p:nvPr>
        </p:nvGraphicFramePr>
        <p:xfrm>
          <a:off x="175260" y="1212723"/>
          <a:ext cx="11841475" cy="4556760"/>
        </p:xfrm>
        <a:graphic>
          <a:graphicData uri="http://schemas.openxmlformats.org/drawingml/2006/table">
            <a:tbl>
              <a:tblPr firstRow="1" bandRow="1">
                <a:tableStyleId>{C083E6E3-FA7D-4D7B-A595-EF9225AFEA82}</a:tableStyleId>
              </a:tblPr>
              <a:tblGrid>
                <a:gridCol w="2368295">
                  <a:extLst>
                    <a:ext uri="{9D8B030D-6E8A-4147-A177-3AD203B41FA5}">
                      <a16:colId xmlns:a16="http://schemas.microsoft.com/office/drawing/2014/main" val="3451588140"/>
                    </a:ext>
                  </a:extLst>
                </a:gridCol>
                <a:gridCol w="2368295">
                  <a:extLst>
                    <a:ext uri="{9D8B030D-6E8A-4147-A177-3AD203B41FA5}">
                      <a16:colId xmlns:a16="http://schemas.microsoft.com/office/drawing/2014/main" val="2630151843"/>
                    </a:ext>
                  </a:extLst>
                </a:gridCol>
                <a:gridCol w="2368295">
                  <a:extLst>
                    <a:ext uri="{9D8B030D-6E8A-4147-A177-3AD203B41FA5}">
                      <a16:colId xmlns:a16="http://schemas.microsoft.com/office/drawing/2014/main" val="1850740662"/>
                    </a:ext>
                  </a:extLst>
                </a:gridCol>
                <a:gridCol w="2368295">
                  <a:extLst>
                    <a:ext uri="{9D8B030D-6E8A-4147-A177-3AD203B41FA5}">
                      <a16:colId xmlns:a16="http://schemas.microsoft.com/office/drawing/2014/main" val="150945206"/>
                    </a:ext>
                  </a:extLst>
                </a:gridCol>
                <a:gridCol w="2368295">
                  <a:extLst>
                    <a:ext uri="{9D8B030D-6E8A-4147-A177-3AD203B41FA5}">
                      <a16:colId xmlns:a16="http://schemas.microsoft.com/office/drawing/2014/main" val="3158326176"/>
                    </a:ext>
                  </a:extLst>
                </a:gridCol>
              </a:tblGrid>
              <a:tr h="319845">
                <a:tc>
                  <a:txBody>
                    <a:bodyPr/>
                    <a:lstStyle/>
                    <a:p>
                      <a:pPr algn="ctr"/>
                      <a:r>
                        <a:rPr lang="en-US" sz="1700" b="0" dirty="0">
                          <a:latin typeface="Arial" panose="020B0604020202020204" pitchFamily="34" charset="0"/>
                          <a:cs typeface="Arial" panose="020B0604020202020204" pitchFamily="34" charset="0"/>
                        </a:rPr>
                        <a:t>METRIC</a:t>
                      </a:r>
                    </a:p>
                  </a:txBody>
                  <a:tcPr anchor="ctr"/>
                </a:tc>
                <a:tc>
                  <a:txBody>
                    <a:bodyPr/>
                    <a:lstStyle/>
                    <a:p>
                      <a:pPr algn="ctr"/>
                      <a:r>
                        <a:rPr lang="en-US" sz="1700" b="0" dirty="0">
                          <a:latin typeface="Arial" panose="020B0604020202020204" pitchFamily="34" charset="0"/>
                          <a:cs typeface="Arial" panose="020B0604020202020204" pitchFamily="34" charset="0"/>
                        </a:rPr>
                        <a:t>LASSO</a:t>
                      </a:r>
                    </a:p>
                  </a:txBody>
                  <a:tcPr anchor="ctr"/>
                </a:tc>
                <a:tc>
                  <a:txBody>
                    <a:bodyPr/>
                    <a:lstStyle/>
                    <a:p>
                      <a:pPr algn="ctr"/>
                      <a:r>
                        <a:rPr lang="en-US" sz="1700" b="0" dirty="0">
                          <a:latin typeface="Arial" panose="020B0604020202020204" pitchFamily="34" charset="0"/>
                          <a:cs typeface="Arial" panose="020B0604020202020204" pitchFamily="34" charset="0"/>
                        </a:rPr>
                        <a:t>RIDGE</a:t>
                      </a:r>
                    </a:p>
                  </a:txBody>
                  <a:tcPr anchor="ctr"/>
                </a:tc>
                <a:tc>
                  <a:txBody>
                    <a:bodyPr/>
                    <a:lstStyle/>
                    <a:p>
                      <a:pPr algn="ctr"/>
                      <a:r>
                        <a:rPr lang="en-US" sz="1700" b="0" dirty="0">
                          <a:latin typeface="Arial" panose="020B0604020202020204" pitchFamily="34" charset="0"/>
                          <a:cs typeface="Arial" panose="020B0604020202020204" pitchFamily="34" charset="0"/>
                        </a:rPr>
                        <a:t>ELASTIC</a:t>
                      </a:r>
                    </a:p>
                  </a:txBody>
                  <a:tcPr anchor="ctr"/>
                </a:tc>
                <a:tc>
                  <a:txBody>
                    <a:bodyPr/>
                    <a:lstStyle/>
                    <a:p>
                      <a:pPr algn="ctr"/>
                      <a:r>
                        <a:rPr lang="en-US" sz="1700" b="0" dirty="0">
                          <a:latin typeface="Arial" panose="020B0604020202020204" pitchFamily="34" charset="0"/>
                          <a:cs typeface="Arial" panose="020B0604020202020204" pitchFamily="34" charset="0"/>
                        </a:rPr>
                        <a:t>BOOSTING</a:t>
                      </a:r>
                    </a:p>
                  </a:txBody>
                  <a:tcPr anchor="ctr"/>
                </a:tc>
                <a:extLst>
                  <a:ext uri="{0D108BD9-81ED-4DB2-BD59-A6C34878D82A}">
                    <a16:rowId xmlns:a16="http://schemas.microsoft.com/office/drawing/2014/main" val="1794900484"/>
                  </a:ext>
                </a:extLst>
              </a:tr>
              <a:tr h="319845">
                <a:tc>
                  <a:txBody>
                    <a:bodyPr/>
                    <a:lstStyle/>
                    <a:p>
                      <a:pPr algn="ctr"/>
                      <a:r>
                        <a:rPr lang="en-US" sz="1700" b="0" dirty="0">
                          <a:latin typeface="Arial" panose="020B0604020202020204" pitchFamily="34" charset="0"/>
                          <a:cs typeface="Arial" panose="020B0604020202020204" pitchFamily="34" charset="0"/>
                        </a:rPr>
                        <a:t>Accuracy</a:t>
                      </a:r>
                    </a:p>
                  </a:txBody>
                  <a:tcPr anchor="ctr"/>
                </a:tc>
                <a:tc>
                  <a:txBody>
                    <a:bodyPr/>
                    <a:lstStyle/>
                    <a:p>
                      <a:pPr algn="ctr"/>
                      <a:r>
                        <a:rPr lang="en-US" sz="1700" dirty="0"/>
                        <a:t>89.08%</a:t>
                      </a:r>
                      <a:endParaRPr lang="en-US" sz="1700" b="0" dirty="0">
                        <a:latin typeface="Arial" panose="020B0604020202020204" pitchFamily="34" charset="0"/>
                        <a:cs typeface="Arial" panose="020B0604020202020204" pitchFamily="34" charset="0"/>
                      </a:endParaRPr>
                    </a:p>
                  </a:txBody>
                  <a:tcPr anchor="ctr"/>
                </a:tc>
                <a:tc>
                  <a:txBody>
                    <a:bodyPr/>
                    <a:lstStyle/>
                    <a:p>
                      <a:pPr algn="ctr"/>
                      <a:r>
                        <a:rPr lang="en-US" sz="1700" dirty="0">
                          <a:highlight>
                            <a:srgbClr val="00FF00"/>
                          </a:highlight>
                        </a:rPr>
                        <a:t>88.97%</a:t>
                      </a:r>
                      <a:endParaRPr lang="en-US" sz="1700" b="0" dirty="0">
                        <a:highlight>
                          <a:srgbClr val="00FF00"/>
                        </a:highlight>
                        <a:latin typeface="Arial" panose="020B0604020202020204" pitchFamily="34" charset="0"/>
                        <a:cs typeface="Arial" panose="020B0604020202020204" pitchFamily="34" charset="0"/>
                      </a:endParaRPr>
                    </a:p>
                  </a:txBody>
                  <a:tcPr anchor="ctr"/>
                </a:tc>
                <a:tc>
                  <a:txBody>
                    <a:bodyPr/>
                    <a:lstStyle/>
                    <a:p>
                      <a:pPr algn="ctr"/>
                      <a:r>
                        <a:rPr lang="en-US" sz="1700" dirty="0"/>
                        <a:t>89.09%</a:t>
                      </a:r>
                      <a:endParaRPr lang="en-US" sz="1700" b="0" dirty="0">
                        <a:latin typeface="Arial" panose="020B0604020202020204" pitchFamily="34" charset="0"/>
                        <a:cs typeface="Arial" panose="020B0604020202020204" pitchFamily="34" charset="0"/>
                      </a:endParaRPr>
                    </a:p>
                  </a:txBody>
                  <a:tcPr anchor="ctr"/>
                </a:tc>
                <a:tc>
                  <a:txBody>
                    <a:bodyPr/>
                    <a:lstStyle/>
                    <a:p>
                      <a:pPr algn="ctr"/>
                      <a:r>
                        <a:rPr lang="en-US" sz="1700" dirty="0"/>
                        <a:t>57.39%</a:t>
                      </a:r>
                      <a:endParaRPr lang="en-US" sz="1700" b="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972506465"/>
                  </a:ext>
                </a:extLst>
              </a:tr>
              <a:tr h="319845">
                <a:tc>
                  <a:txBody>
                    <a:bodyPr/>
                    <a:lstStyle/>
                    <a:p>
                      <a:pPr algn="ctr"/>
                      <a:r>
                        <a:rPr lang="en-US" sz="1700" b="0" dirty="0">
                          <a:latin typeface="Arial" panose="020B0604020202020204" pitchFamily="34" charset="0"/>
                          <a:cs typeface="Arial" panose="020B0604020202020204" pitchFamily="34" charset="0"/>
                        </a:rPr>
                        <a:t>Recall</a:t>
                      </a:r>
                    </a:p>
                  </a:txBody>
                  <a:tcPr anchor="ctr"/>
                </a:tc>
                <a:tc>
                  <a:txBody>
                    <a:bodyPr/>
                    <a:lstStyle/>
                    <a:p>
                      <a:pPr algn="ctr"/>
                      <a:r>
                        <a:rPr lang="en-US" sz="1700" dirty="0"/>
                        <a:t>38.52%</a:t>
                      </a:r>
                      <a:endParaRPr lang="en-US" sz="1700" b="0" dirty="0">
                        <a:latin typeface="Arial" panose="020B0604020202020204" pitchFamily="34" charset="0"/>
                        <a:cs typeface="Arial" panose="020B0604020202020204" pitchFamily="34" charset="0"/>
                      </a:endParaRPr>
                    </a:p>
                  </a:txBody>
                  <a:tcPr anchor="ctr"/>
                </a:tc>
                <a:tc>
                  <a:txBody>
                    <a:bodyPr/>
                    <a:lstStyle/>
                    <a:p>
                      <a:pPr algn="ctr"/>
                      <a:r>
                        <a:rPr lang="en-US" sz="1700" dirty="0"/>
                        <a:t>39.34%</a:t>
                      </a:r>
                      <a:endParaRPr lang="en-US" sz="1700" b="0" dirty="0">
                        <a:latin typeface="Arial" panose="020B0604020202020204" pitchFamily="34" charset="0"/>
                        <a:cs typeface="Arial" panose="020B0604020202020204" pitchFamily="34" charset="0"/>
                      </a:endParaRPr>
                    </a:p>
                  </a:txBody>
                  <a:tcPr anchor="ctr"/>
                </a:tc>
                <a:tc>
                  <a:txBody>
                    <a:bodyPr/>
                    <a:lstStyle/>
                    <a:p>
                      <a:pPr algn="ctr"/>
                      <a:r>
                        <a:rPr lang="en-US" sz="1700" dirty="0"/>
                        <a:t>38.52%</a:t>
                      </a:r>
                      <a:endParaRPr lang="en-US" sz="1700" b="0" dirty="0">
                        <a:latin typeface="Arial" panose="020B0604020202020204" pitchFamily="34" charset="0"/>
                        <a:cs typeface="Arial" panose="020B0604020202020204" pitchFamily="34" charset="0"/>
                      </a:endParaRPr>
                    </a:p>
                  </a:txBody>
                  <a:tcPr anchor="ctr"/>
                </a:tc>
                <a:tc>
                  <a:txBody>
                    <a:bodyPr/>
                    <a:lstStyle/>
                    <a:p>
                      <a:pPr algn="ctr"/>
                      <a:r>
                        <a:rPr lang="en-US" sz="1700" dirty="0">
                          <a:highlight>
                            <a:srgbClr val="00FF00"/>
                          </a:highlight>
                        </a:rPr>
                        <a:t>56.10%</a:t>
                      </a:r>
                      <a:endParaRPr lang="en-US" sz="1700" b="0" dirty="0">
                        <a:highlight>
                          <a:srgbClr val="00FF00"/>
                        </a:highlight>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718165529"/>
                  </a:ext>
                </a:extLst>
              </a:tr>
              <a:tr h="319845">
                <a:tc>
                  <a:txBody>
                    <a:bodyPr/>
                    <a:lstStyle/>
                    <a:p>
                      <a:pPr algn="ctr"/>
                      <a:r>
                        <a:rPr lang="en-US" sz="1700" b="0" dirty="0">
                          <a:latin typeface="Arial" panose="020B0604020202020204" pitchFamily="34" charset="0"/>
                          <a:cs typeface="Arial" panose="020B0604020202020204" pitchFamily="34" charset="0"/>
                        </a:rPr>
                        <a:t>Specificity</a:t>
                      </a:r>
                    </a:p>
                  </a:txBody>
                  <a:tcPr anchor="ctr"/>
                </a:tc>
                <a:tc>
                  <a:txBody>
                    <a:bodyPr/>
                    <a:lstStyle/>
                    <a:p>
                      <a:pPr algn="ctr"/>
                      <a:r>
                        <a:rPr lang="en-US" sz="1700" dirty="0"/>
                        <a:t>91.56%</a:t>
                      </a:r>
                      <a:endParaRPr lang="en-US" sz="1700" b="0" dirty="0">
                        <a:latin typeface="Arial" panose="020B0604020202020204" pitchFamily="34" charset="0"/>
                        <a:cs typeface="Arial" panose="020B0604020202020204" pitchFamily="34" charset="0"/>
                      </a:endParaRPr>
                    </a:p>
                  </a:txBody>
                  <a:tcPr anchor="ctr"/>
                </a:tc>
                <a:tc>
                  <a:txBody>
                    <a:bodyPr/>
                    <a:lstStyle/>
                    <a:p>
                      <a:pPr algn="ctr"/>
                      <a:r>
                        <a:rPr lang="en-US" sz="1700" dirty="0">
                          <a:highlight>
                            <a:srgbClr val="00FF00"/>
                          </a:highlight>
                        </a:rPr>
                        <a:t>91.40%</a:t>
                      </a:r>
                      <a:endParaRPr lang="en-US" sz="1700" b="0" dirty="0">
                        <a:highlight>
                          <a:srgbClr val="00FF00"/>
                        </a:highlight>
                        <a:latin typeface="Arial" panose="020B0604020202020204" pitchFamily="34" charset="0"/>
                        <a:cs typeface="Arial" panose="020B0604020202020204" pitchFamily="34" charset="0"/>
                      </a:endParaRPr>
                    </a:p>
                  </a:txBody>
                  <a:tcPr anchor="ctr"/>
                </a:tc>
                <a:tc>
                  <a:txBody>
                    <a:bodyPr/>
                    <a:lstStyle/>
                    <a:p>
                      <a:pPr algn="ctr"/>
                      <a:r>
                        <a:rPr lang="en-US" sz="1700" dirty="0"/>
                        <a:t>91.57%</a:t>
                      </a:r>
                      <a:endParaRPr lang="en-US" sz="1700" b="0" dirty="0">
                        <a:latin typeface="Arial" panose="020B0604020202020204" pitchFamily="34" charset="0"/>
                        <a:cs typeface="Arial" panose="020B0604020202020204" pitchFamily="34" charset="0"/>
                      </a:endParaRPr>
                    </a:p>
                  </a:txBody>
                  <a:tcPr anchor="ctr"/>
                </a:tc>
                <a:tc>
                  <a:txBody>
                    <a:bodyPr/>
                    <a:lstStyle/>
                    <a:p>
                      <a:pPr algn="ctr"/>
                      <a:r>
                        <a:rPr lang="en-US" sz="1700" dirty="0"/>
                        <a:t>83.61%</a:t>
                      </a:r>
                      <a:endParaRPr lang="en-US" sz="1700" b="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962562171"/>
                  </a:ext>
                </a:extLst>
              </a:tr>
              <a:tr h="3198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b="0" dirty="0">
                          <a:latin typeface="Arial" panose="020B0604020202020204" pitchFamily="34" charset="0"/>
                          <a:cs typeface="Arial" panose="020B0604020202020204" pitchFamily="34" charset="0"/>
                        </a:rPr>
                        <a:t>Precision</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dirty="0"/>
                        <a:t>18.28%</a:t>
                      </a:r>
                      <a:endParaRPr lang="en-US" sz="1700" b="0" dirty="0">
                        <a:latin typeface="Arial" panose="020B0604020202020204" pitchFamily="34" charset="0"/>
                        <a:cs typeface="Arial" panose="020B0604020202020204" pitchFamily="34" charset="0"/>
                      </a:endParaRPr>
                    </a:p>
                  </a:txBody>
                  <a:tcPr anchor="ctr"/>
                </a:tc>
                <a:tc>
                  <a:txBody>
                    <a:bodyPr/>
                    <a:lstStyle/>
                    <a:p>
                      <a:pPr algn="ctr"/>
                      <a:r>
                        <a:rPr lang="en-US" sz="1700" dirty="0"/>
                        <a:t>18.32%</a:t>
                      </a:r>
                      <a:endParaRPr lang="en-US" sz="1700" b="0" dirty="0">
                        <a:latin typeface="Arial" panose="020B0604020202020204" pitchFamily="34" charset="0"/>
                        <a:cs typeface="Arial" panose="020B0604020202020204" pitchFamily="34" charset="0"/>
                      </a:endParaRPr>
                    </a:p>
                  </a:txBody>
                  <a:tcPr anchor="ctr"/>
                </a:tc>
                <a:tc>
                  <a:txBody>
                    <a:bodyPr/>
                    <a:lstStyle/>
                    <a:p>
                      <a:pPr algn="ctr"/>
                      <a:r>
                        <a:rPr lang="en-US" sz="1700" dirty="0"/>
                        <a:t>18.28%</a:t>
                      </a:r>
                      <a:endParaRPr lang="en-US" sz="1700" b="0" dirty="0">
                        <a:latin typeface="Arial" panose="020B0604020202020204" pitchFamily="34" charset="0"/>
                        <a:cs typeface="Arial" panose="020B0604020202020204" pitchFamily="34" charset="0"/>
                      </a:endParaRPr>
                    </a:p>
                  </a:txBody>
                  <a:tcPr anchor="ctr"/>
                </a:tc>
                <a:tc>
                  <a:txBody>
                    <a:bodyPr/>
                    <a:lstStyle/>
                    <a:p>
                      <a:pPr algn="ctr"/>
                      <a:r>
                        <a:rPr lang="en-US" sz="1700" dirty="0">
                          <a:highlight>
                            <a:srgbClr val="00FF00"/>
                          </a:highlight>
                        </a:rPr>
                        <a:t>98.59%</a:t>
                      </a:r>
                      <a:endParaRPr lang="en-US" sz="1700" b="0" dirty="0">
                        <a:highlight>
                          <a:srgbClr val="00FF00"/>
                        </a:highlight>
                        <a:latin typeface="Arial" panose="020B0604020202020204" pitchFamily="34" charset="0"/>
                        <a:cs typeface="Arial" panose="020B0604020202020204" pitchFamily="34" charset="0"/>
                      </a:endParaRPr>
                    </a:p>
                  </a:txBody>
                  <a:tcPr anchor="ctr">
                    <a:solidFill>
                      <a:schemeClr val="bg1"/>
                    </a:solidFill>
                  </a:tcPr>
                </a:tc>
                <a:extLst>
                  <a:ext uri="{0D108BD9-81ED-4DB2-BD59-A6C34878D82A}">
                    <a16:rowId xmlns:a16="http://schemas.microsoft.com/office/drawing/2014/main" val="256192272"/>
                  </a:ext>
                </a:extLst>
              </a:tr>
              <a:tr h="319845">
                <a:tc>
                  <a:txBody>
                    <a:bodyPr/>
                    <a:lstStyle/>
                    <a:p>
                      <a:pPr algn="ctr"/>
                      <a:r>
                        <a:rPr lang="en-US" sz="1700" b="0" dirty="0">
                          <a:latin typeface="Arial" panose="020B0604020202020204" pitchFamily="34" charset="0"/>
                          <a:cs typeface="Arial" panose="020B0604020202020204" pitchFamily="34" charset="0"/>
                        </a:rPr>
                        <a:t>F1 Score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dirty="0"/>
                        <a:t>24.80%</a:t>
                      </a:r>
                      <a:endParaRPr lang="en-US" sz="1700" b="0" dirty="0">
                        <a:latin typeface="Arial" panose="020B0604020202020204" pitchFamily="34" charset="0"/>
                        <a:cs typeface="Arial" panose="020B0604020202020204" pitchFamily="34" charset="0"/>
                      </a:endParaRPr>
                    </a:p>
                  </a:txBody>
                  <a:tcPr anchor="ctr"/>
                </a:tc>
                <a:tc>
                  <a:txBody>
                    <a:bodyPr/>
                    <a:lstStyle/>
                    <a:p>
                      <a:pPr algn="ctr"/>
                      <a:r>
                        <a:rPr lang="en-US" sz="1700" dirty="0">
                          <a:highlight>
                            <a:srgbClr val="00FF00"/>
                          </a:highlight>
                        </a:rPr>
                        <a:t>25.00%</a:t>
                      </a:r>
                      <a:endParaRPr lang="en-US" sz="1700" b="0" dirty="0">
                        <a:highlight>
                          <a:srgbClr val="00FF00"/>
                        </a:highlight>
                        <a:latin typeface="Arial" panose="020B0604020202020204" pitchFamily="34" charset="0"/>
                        <a:cs typeface="Arial" panose="020B0604020202020204" pitchFamily="34" charset="0"/>
                      </a:endParaRPr>
                    </a:p>
                  </a:txBody>
                  <a:tcPr anchor="ctr"/>
                </a:tc>
                <a:tc>
                  <a:txBody>
                    <a:bodyPr/>
                    <a:lstStyle/>
                    <a:p>
                      <a:pPr algn="ctr"/>
                      <a:r>
                        <a:rPr lang="en-US" sz="1700" dirty="0"/>
                        <a:t>24.80%</a:t>
                      </a:r>
                      <a:endParaRPr lang="en-US" sz="1700" b="0" dirty="0">
                        <a:latin typeface="Arial" panose="020B0604020202020204" pitchFamily="34" charset="0"/>
                        <a:cs typeface="Arial" panose="020B0604020202020204" pitchFamily="34" charset="0"/>
                      </a:endParaRPr>
                    </a:p>
                  </a:txBody>
                  <a:tcPr anchor="ctr"/>
                </a:tc>
                <a:tc>
                  <a:txBody>
                    <a:bodyPr/>
                    <a:lstStyle/>
                    <a:p>
                      <a:pPr algn="ctr"/>
                      <a:r>
                        <a:rPr lang="en-US" sz="1700" dirty="0">
                          <a:highlight>
                            <a:srgbClr val="00FF00"/>
                          </a:highlight>
                        </a:rPr>
                        <a:t>71.51%</a:t>
                      </a:r>
                      <a:endParaRPr lang="en-US" sz="1700" b="0" dirty="0">
                        <a:highlight>
                          <a:srgbClr val="00FF00"/>
                        </a:highlight>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971946771"/>
                  </a:ext>
                </a:extLst>
              </a:tr>
              <a:tr h="319845">
                <a:tc>
                  <a:txBody>
                    <a:bodyPr/>
                    <a:lstStyle/>
                    <a:p>
                      <a:pPr algn="ctr"/>
                      <a:r>
                        <a:rPr lang="en-US" sz="1700" b="0" dirty="0">
                          <a:latin typeface="Arial" panose="020B0604020202020204" pitchFamily="34" charset="0"/>
                          <a:cs typeface="Arial" panose="020B0604020202020204" pitchFamily="34" charset="0"/>
                        </a:rPr>
                        <a:t>AUC-ROC</a:t>
                      </a:r>
                    </a:p>
                  </a:txBody>
                  <a:tcPr anchor="ctr"/>
                </a:tc>
                <a:tc>
                  <a:txBody>
                    <a:bodyPr/>
                    <a:lstStyle/>
                    <a:p>
                      <a:pPr algn="ctr"/>
                      <a:r>
                        <a:rPr lang="en-US" sz="1700" dirty="0"/>
                        <a:t>76.2%</a:t>
                      </a:r>
                      <a:endParaRPr lang="en-US" sz="1700" b="0" dirty="0">
                        <a:latin typeface="Arial" panose="020B0604020202020204" pitchFamily="34" charset="0"/>
                        <a:cs typeface="Arial" panose="020B0604020202020204" pitchFamily="34" charset="0"/>
                      </a:endParaRPr>
                    </a:p>
                  </a:txBody>
                  <a:tcPr anchor="ctr"/>
                </a:tc>
                <a:tc>
                  <a:txBody>
                    <a:bodyPr/>
                    <a:lstStyle/>
                    <a:p>
                      <a:pPr algn="ctr"/>
                      <a:r>
                        <a:rPr lang="en-US" sz="1700" dirty="0">
                          <a:highlight>
                            <a:srgbClr val="00FF00"/>
                          </a:highlight>
                        </a:rPr>
                        <a:t>76.9%</a:t>
                      </a:r>
                      <a:endParaRPr lang="en-US" sz="1700" b="0" dirty="0">
                        <a:highlight>
                          <a:srgbClr val="00FF00"/>
                        </a:highlight>
                        <a:latin typeface="Arial" panose="020B0604020202020204" pitchFamily="34" charset="0"/>
                        <a:cs typeface="Arial" panose="020B0604020202020204" pitchFamily="34" charset="0"/>
                      </a:endParaRPr>
                    </a:p>
                  </a:txBody>
                  <a:tcPr anchor="ctr"/>
                </a:tc>
                <a:tc>
                  <a:txBody>
                    <a:bodyPr/>
                    <a:lstStyle/>
                    <a:p>
                      <a:pPr algn="ctr"/>
                      <a:r>
                        <a:rPr lang="en-US" sz="1700" dirty="0"/>
                        <a:t>76.5%</a:t>
                      </a:r>
                      <a:endParaRPr lang="en-US" sz="1700" b="0" dirty="0">
                        <a:latin typeface="Arial" panose="020B0604020202020204" pitchFamily="34" charset="0"/>
                        <a:cs typeface="Arial" panose="020B0604020202020204" pitchFamily="34" charset="0"/>
                      </a:endParaRPr>
                    </a:p>
                  </a:txBody>
                  <a:tcPr anchor="ctr"/>
                </a:tc>
                <a:tc>
                  <a:txBody>
                    <a:bodyPr/>
                    <a:lstStyle/>
                    <a:p>
                      <a:pPr algn="ctr"/>
                      <a:r>
                        <a:rPr lang="en-US" sz="1700" dirty="0">
                          <a:highlight>
                            <a:srgbClr val="00FF00"/>
                          </a:highlight>
                        </a:rPr>
                        <a:t>77.10%</a:t>
                      </a:r>
                      <a:endParaRPr lang="en-US" sz="1700" b="0" dirty="0">
                        <a:highlight>
                          <a:srgbClr val="00FF00"/>
                        </a:highlight>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713010200"/>
                  </a:ext>
                </a:extLst>
              </a:tr>
              <a:tr h="319845">
                <a:tc>
                  <a:txBody>
                    <a:bodyPr/>
                    <a:lstStyle/>
                    <a:p>
                      <a:pPr algn="ctr"/>
                      <a:r>
                        <a:rPr lang="en-US" sz="1700" b="0" dirty="0">
                          <a:latin typeface="Arial" panose="020B0604020202020204" pitchFamily="34" charset="0"/>
                          <a:cs typeface="Arial" panose="020B0604020202020204" pitchFamily="34" charset="0"/>
                        </a:rPr>
                        <a:t>MCC (Metrics)</a:t>
                      </a:r>
                    </a:p>
                  </a:txBody>
                  <a:tcPr anchor="ctr"/>
                </a:tc>
                <a:tc>
                  <a:txBody>
                    <a:bodyPr/>
                    <a:lstStyle/>
                    <a:p>
                      <a:pPr algn="ctr"/>
                      <a:r>
                        <a:rPr lang="en-US" sz="1700" dirty="0"/>
                        <a:t>0.213</a:t>
                      </a:r>
                      <a:endParaRPr lang="en-US" sz="1700" b="0" dirty="0">
                        <a:latin typeface="Arial" panose="020B0604020202020204" pitchFamily="34" charset="0"/>
                        <a:cs typeface="Arial" panose="020B0604020202020204" pitchFamily="34" charset="0"/>
                      </a:endParaRPr>
                    </a:p>
                  </a:txBody>
                  <a:tcPr anchor="ctr"/>
                </a:tc>
                <a:tc>
                  <a:txBody>
                    <a:bodyPr/>
                    <a:lstStyle/>
                    <a:p>
                      <a:pPr algn="ctr"/>
                      <a:r>
                        <a:rPr lang="en-US" sz="1700" dirty="0"/>
                        <a:t>0.216</a:t>
                      </a:r>
                      <a:endParaRPr lang="en-US" sz="1700" b="0" dirty="0">
                        <a:latin typeface="Arial" panose="020B0604020202020204" pitchFamily="34" charset="0"/>
                        <a:cs typeface="Arial" panose="020B0604020202020204" pitchFamily="34" charset="0"/>
                      </a:endParaRPr>
                    </a:p>
                  </a:txBody>
                  <a:tcPr anchor="ctr"/>
                </a:tc>
                <a:tc>
                  <a:txBody>
                    <a:bodyPr/>
                    <a:lstStyle/>
                    <a:p>
                      <a:pPr algn="ctr"/>
                      <a:r>
                        <a:rPr lang="en-US" sz="1700" dirty="0"/>
                        <a:t>0.213</a:t>
                      </a:r>
                      <a:endParaRPr lang="en-US" sz="1700" b="0" dirty="0">
                        <a:latin typeface="Arial" panose="020B0604020202020204" pitchFamily="34" charset="0"/>
                        <a:cs typeface="Arial" panose="020B0604020202020204" pitchFamily="34" charset="0"/>
                      </a:endParaRPr>
                    </a:p>
                  </a:txBody>
                  <a:tcPr anchor="ctr"/>
                </a:tc>
                <a:tc>
                  <a:txBody>
                    <a:bodyPr/>
                    <a:lstStyle/>
                    <a:p>
                      <a:pPr algn="ctr"/>
                      <a:r>
                        <a:rPr lang="en-US" sz="1700" b="0" dirty="0">
                          <a:latin typeface="Arial" panose="020B0604020202020204" pitchFamily="34" charset="0"/>
                          <a:cs typeface="Arial" panose="020B0604020202020204" pitchFamily="34" charset="0"/>
                        </a:rPr>
                        <a:t>NA</a:t>
                      </a:r>
                    </a:p>
                  </a:txBody>
                  <a:tcPr anchor="ctr"/>
                </a:tc>
                <a:extLst>
                  <a:ext uri="{0D108BD9-81ED-4DB2-BD59-A6C34878D82A}">
                    <a16:rowId xmlns:a16="http://schemas.microsoft.com/office/drawing/2014/main" val="952903569"/>
                  </a:ext>
                </a:extLst>
              </a:tr>
              <a:tr h="319845">
                <a:tc>
                  <a:txBody>
                    <a:bodyPr/>
                    <a:lstStyle/>
                    <a:p>
                      <a:pPr algn="ctr"/>
                      <a:r>
                        <a:rPr lang="en-US" sz="1700" b="0" dirty="0">
                          <a:latin typeface="Arial" panose="020B0604020202020204" pitchFamily="34" charset="0"/>
                          <a:cs typeface="Arial" panose="020B0604020202020204" pitchFamily="34" charset="0"/>
                        </a:rPr>
                        <a:t>Threshold(Youden’s)</a:t>
                      </a:r>
                    </a:p>
                  </a:txBody>
                  <a:tcPr anchor="ctr"/>
                </a:tc>
                <a:tc>
                  <a:txBody>
                    <a:bodyPr/>
                    <a:lstStyle/>
                    <a:p>
                      <a:pPr algn="ctr"/>
                      <a:r>
                        <a:rPr lang="en-US" sz="1700" b="0" dirty="0">
                          <a:latin typeface="Arial" panose="020B0604020202020204" pitchFamily="34" charset="0"/>
                          <a:cs typeface="Arial" panose="020B0604020202020204" pitchFamily="34" charset="0"/>
                        </a:rPr>
                        <a:t>0.21</a:t>
                      </a:r>
                    </a:p>
                  </a:txBody>
                  <a:tcPr anchor="ctr"/>
                </a:tc>
                <a:tc>
                  <a:txBody>
                    <a:bodyPr/>
                    <a:lstStyle/>
                    <a:p>
                      <a:pPr algn="ctr"/>
                      <a:r>
                        <a:rPr lang="en-US" sz="1700" b="0" dirty="0">
                          <a:latin typeface="Arial" panose="020B0604020202020204" pitchFamily="34" charset="0"/>
                          <a:cs typeface="Arial" panose="020B0604020202020204" pitchFamily="34" charset="0"/>
                        </a:rPr>
                        <a:t>0.21</a:t>
                      </a:r>
                    </a:p>
                  </a:txBody>
                  <a:tcPr anchor="ctr"/>
                </a:tc>
                <a:tc>
                  <a:txBody>
                    <a:bodyPr/>
                    <a:lstStyle/>
                    <a:p>
                      <a:pPr algn="ctr"/>
                      <a:r>
                        <a:rPr lang="en-US" sz="1700" b="0" dirty="0">
                          <a:latin typeface="Arial" panose="020B0604020202020204" pitchFamily="34" charset="0"/>
                          <a:cs typeface="Arial" panose="020B0604020202020204" pitchFamily="34" charset="0"/>
                        </a:rPr>
                        <a:t>0.21</a:t>
                      </a:r>
                    </a:p>
                  </a:txBody>
                  <a:tcPr anchor="ctr"/>
                </a:tc>
                <a:tc>
                  <a:txBody>
                    <a:bodyPr/>
                    <a:lstStyle/>
                    <a:p>
                      <a:pPr algn="ctr"/>
                      <a:r>
                        <a:rPr lang="en-US" sz="1700" b="0" dirty="0">
                          <a:latin typeface="Arial" panose="020B0604020202020204" pitchFamily="34" charset="0"/>
                          <a:cs typeface="Arial" panose="020B0604020202020204" pitchFamily="34" charset="0"/>
                        </a:rPr>
                        <a:t>0.066</a:t>
                      </a:r>
                    </a:p>
                  </a:txBody>
                  <a:tcPr anchor="ctr"/>
                </a:tc>
                <a:extLst>
                  <a:ext uri="{0D108BD9-81ED-4DB2-BD59-A6C34878D82A}">
                    <a16:rowId xmlns:a16="http://schemas.microsoft.com/office/drawing/2014/main" val="1876364268"/>
                  </a:ext>
                </a:extLst>
              </a:tr>
              <a:tr h="319845">
                <a:tc>
                  <a:txBody>
                    <a:bodyPr/>
                    <a:lstStyle/>
                    <a:p>
                      <a:pPr algn="ctr"/>
                      <a:r>
                        <a:rPr lang="en-US" sz="1700" b="0" dirty="0">
                          <a:latin typeface="Arial" panose="020B0604020202020204" pitchFamily="34" charset="0"/>
                          <a:cs typeface="Arial" panose="020B0604020202020204" pitchFamily="34" charset="0"/>
                        </a:rPr>
                        <a:t>Threshold (F-1)</a:t>
                      </a:r>
                    </a:p>
                  </a:txBody>
                  <a:tcPr anchor="ctr"/>
                </a:tc>
                <a:tc>
                  <a:txBody>
                    <a:bodyPr/>
                    <a:lstStyle/>
                    <a:p>
                      <a:pPr algn="ctr"/>
                      <a:r>
                        <a:rPr lang="en-US" sz="1700" b="0" dirty="0">
                          <a:latin typeface="Arial" panose="020B0604020202020204" pitchFamily="34" charset="0"/>
                          <a:cs typeface="Arial" panose="020B0604020202020204" pitchFamily="34" charset="0"/>
                        </a:rPr>
                        <a:t>0.45</a:t>
                      </a:r>
                    </a:p>
                  </a:txBody>
                  <a:tcPr anchor="ctr"/>
                </a:tc>
                <a:tc>
                  <a:txBody>
                    <a:bodyPr/>
                    <a:lstStyle/>
                    <a:p>
                      <a:pPr algn="ctr"/>
                      <a:r>
                        <a:rPr lang="en-US" sz="1700" b="0" dirty="0">
                          <a:latin typeface="Arial" panose="020B0604020202020204" pitchFamily="34" charset="0"/>
                          <a:cs typeface="Arial" panose="020B0604020202020204" pitchFamily="34" charset="0"/>
                        </a:rPr>
                        <a:t>0.41</a:t>
                      </a:r>
                    </a:p>
                  </a:txBody>
                  <a:tcPr anchor="ctr"/>
                </a:tc>
                <a:tc>
                  <a:txBody>
                    <a:bodyPr/>
                    <a:lstStyle/>
                    <a:p>
                      <a:pPr algn="ctr"/>
                      <a:r>
                        <a:rPr lang="en-US" sz="1700" b="0" dirty="0">
                          <a:latin typeface="Arial" panose="020B0604020202020204" pitchFamily="34" charset="0"/>
                          <a:cs typeface="Arial" panose="020B0604020202020204" pitchFamily="34" charset="0"/>
                        </a:rPr>
                        <a:t>0.45</a:t>
                      </a:r>
                    </a:p>
                  </a:txBody>
                  <a:tcPr anchor="ctr"/>
                </a:tc>
                <a:tc>
                  <a:txBody>
                    <a:bodyPr/>
                    <a:lstStyle/>
                    <a:p>
                      <a:pPr algn="ctr"/>
                      <a:r>
                        <a:rPr lang="en-US" sz="1700" b="0" dirty="0">
                          <a:latin typeface="Arial" panose="020B0604020202020204" pitchFamily="34" charset="0"/>
                          <a:cs typeface="Arial" panose="020B0604020202020204" pitchFamily="34" charset="0"/>
                        </a:rPr>
                        <a:t>NA</a:t>
                      </a:r>
                    </a:p>
                  </a:txBody>
                  <a:tcPr anchor="ctr"/>
                </a:tc>
                <a:extLst>
                  <a:ext uri="{0D108BD9-81ED-4DB2-BD59-A6C34878D82A}">
                    <a16:rowId xmlns:a16="http://schemas.microsoft.com/office/drawing/2014/main" val="1362422521"/>
                  </a:ext>
                </a:extLst>
              </a:tr>
              <a:tr h="319845">
                <a:tc>
                  <a:txBody>
                    <a:bodyPr/>
                    <a:lstStyle/>
                    <a:p>
                      <a:pPr algn="ctr"/>
                      <a:r>
                        <a:rPr lang="en-US" sz="1700" b="0" dirty="0">
                          <a:latin typeface="Arial" panose="020B0604020202020204" pitchFamily="34" charset="0"/>
                          <a:cs typeface="Arial" panose="020B0604020202020204" pitchFamily="34" charset="0"/>
                        </a:rPr>
                        <a:t>Lambda</a:t>
                      </a:r>
                    </a:p>
                  </a:txBody>
                  <a:tcPr anchor="ctr"/>
                </a:tc>
                <a:tc>
                  <a:txBody>
                    <a:bodyPr/>
                    <a:lstStyle/>
                    <a:p>
                      <a:pPr algn="ctr"/>
                      <a:r>
                        <a:rPr lang="en-US" sz="1700" b="0" dirty="0">
                          <a:latin typeface="Arial" panose="020B0604020202020204" pitchFamily="34" charset="0"/>
                          <a:cs typeface="Arial" panose="020B0604020202020204" pitchFamily="34" charset="0"/>
                        </a:rPr>
                        <a:t>Optimal</a:t>
                      </a:r>
                    </a:p>
                  </a:txBody>
                  <a:tcPr anchor="ctr"/>
                </a:tc>
                <a:tc>
                  <a:txBody>
                    <a:bodyPr/>
                    <a:lstStyle/>
                    <a:p>
                      <a:pPr algn="ctr"/>
                      <a:r>
                        <a:rPr lang="en-US" sz="1700" b="0" dirty="0">
                          <a:latin typeface="Arial" panose="020B0604020202020204" pitchFamily="34" charset="0"/>
                          <a:cs typeface="Arial" panose="020B0604020202020204" pitchFamily="34" charset="0"/>
                        </a:rPr>
                        <a:t>Optimal</a:t>
                      </a:r>
                    </a:p>
                  </a:txBody>
                  <a:tcPr anchor="ctr"/>
                </a:tc>
                <a:tc>
                  <a:txBody>
                    <a:bodyPr/>
                    <a:lstStyle/>
                    <a:p>
                      <a:pPr algn="ctr"/>
                      <a:r>
                        <a:rPr lang="en-US" sz="1700" b="0" dirty="0">
                          <a:latin typeface="Arial" panose="020B0604020202020204" pitchFamily="34" charset="0"/>
                          <a:cs typeface="Arial" panose="020B0604020202020204" pitchFamily="34" charset="0"/>
                        </a:rPr>
                        <a:t>Optimal</a:t>
                      </a:r>
                    </a:p>
                  </a:txBody>
                  <a:tcPr anchor="ctr"/>
                </a:tc>
                <a:tc>
                  <a:txBody>
                    <a:bodyPr/>
                    <a:lstStyle/>
                    <a:p>
                      <a:pPr algn="ctr"/>
                      <a:r>
                        <a:rPr lang="en-US" sz="1700" b="0" dirty="0">
                          <a:latin typeface="Arial" panose="020B0604020202020204" pitchFamily="34" charset="0"/>
                          <a:cs typeface="Arial" panose="020B0604020202020204" pitchFamily="34" charset="0"/>
                        </a:rPr>
                        <a:t>NA</a:t>
                      </a:r>
                    </a:p>
                  </a:txBody>
                  <a:tcPr anchor="ctr"/>
                </a:tc>
                <a:extLst>
                  <a:ext uri="{0D108BD9-81ED-4DB2-BD59-A6C34878D82A}">
                    <a16:rowId xmlns:a16="http://schemas.microsoft.com/office/drawing/2014/main" val="3394939153"/>
                  </a:ext>
                </a:extLst>
              </a:tr>
              <a:tr h="319845">
                <a:tc>
                  <a:txBody>
                    <a:bodyPr/>
                    <a:lstStyle/>
                    <a:p>
                      <a:pPr algn="ctr"/>
                      <a:r>
                        <a:rPr lang="en-US" sz="1700" b="0" dirty="0">
                          <a:latin typeface="Arial" panose="020B0604020202020204" pitchFamily="34" charset="0"/>
                          <a:cs typeface="Arial" panose="020B0604020202020204" pitchFamily="34" charset="0"/>
                        </a:rPr>
                        <a:t>Alpha</a:t>
                      </a:r>
                    </a:p>
                  </a:txBody>
                  <a:tcPr anchor="ctr"/>
                </a:tc>
                <a:tc>
                  <a:txBody>
                    <a:bodyPr/>
                    <a:lstStyle/>
                    <a:p>
                      <a:pPr algn="ctr"/>
                      <a:r>
                        <a:rPr lang="en-US" sz="1700" dirty="0"/>
                        <a:t>1.0</a:t>
                      </a:r>
                      <a:endParaRPr lang="en-US" sz="1700" b="0" dirty="0">
                        <a:latin typeface="Arial" panose="020B0604020202020204" pitchFamily="34" charset="0"/>
                        <a:cs typeface="Arial" panose="020B0604020202020204" pitchFamily="34" charset="0"/>
                      </a:endParaRPr>
                    </a:p>
                  </a:txBody>
                  <a:tcPr anchor="ctr"/>
                </a:tc>
                <a:tc>
                  <a:txBody>
                    <a:bodyPr/>
                    <a:lstStyle/>
                    <a:p>
                      <a:pPr algn="ctr"/>
                      <a:r>
                        <a:rPr lang="en-US" sz="1700" b="0" dirty="0">
                          <a:latin typeface="Arial" panose="020B0604020202020204" pitchFamily="34" charset="0"/>
                          <a:cs typeface="Arial" panose="020B0604020202020204" pitchFamily="34" charset="0"/>
                        </a:rPr>
                        <a:t>0.0</a:t>
                      </a:r>
                    </a:p>
                  </a:txBody>
                  <a:tcPr anchor="ctr"/>
                </a:tc>
                <a:tc>
                  <a:txBody>
                    <a:bodyPr/>
                    <a:lstStyle/>
                    <a:p>
                      <a:pPr algn="ctr"/>
                      <a:r>
                        <a:rPr lang="en-US" sz="1700" b="0" dirty="0">
                          <a:latin typeface="Arial" panose="020B0604020202020204" pitchFamily="34" charset="0"/>
                          <a:cs typeface="Arial" panose="020B0604020202020204" pitchFamily="34" charset="0"/>
                        </a:rPr>
                        <a:t>0.5</a:t>
                      </a:r>
                    </a:p>
                  </a:txBody>
                  <a:tcPr anchor="ctr"/>
                </a:tc>
                <a:tc>
                  <a:txBody>
                    <a:bodyPr/>
                    <a:lstStyle/>
                    <a:p>
                      <a:pPr algn="ctr"/>
                      <a:r>
                        <a:rPr lang="en-US" sz="1700" b="0" dirty="0">
                          <a:latin typeface="Arial" panose="020B0604020202020204" pitchFamily="34" charset="0"/>
                          <a:cs typeface="Arial" panose="020B0604020202020204" pitchFamily="34" charset="0"/>
                        </a:rPr>
                        <a:t>NA</a:t>
                      </a:r>
                    </a:p>
                  </a:txBody>
                  <a:tcPr anchor="ctr"/>
                </a:tc>
                <a:extLst>
                  <a:ext uri="{0D108BD9-81ED-4DB2-BD59-A6C34878D82A}">
                    <a16:rowId xmlns:a16="http://schemas.microsoft.com/office/drawing/2014/main" val="4211678780"/>
                  </a:ext>
                </a:extLst>
              </a:tr>
              <a:tr h="319845">
                <a:tc>
                  <a:txBody>
                    <a:bodyPr/>
                    <a:lstStyle/>
                    <a:p>
                      <a:pPr algn="ctr"/>
                      <a:r>
                        <a:rPr lang="en-US" sz="1700" dirty="0"/>
                        <a:t>Youden's Index</a:t>
                      </a:r>
                      <a:endParaRPr lang="en-US" sz="1700" b="0" dirty="0">
                        <a:latin typeface="Arial" panose="020B0604020202020204" pitchFamily="34" charset="0"/>
                        <a:cs typeface="Arial" panose="020B0604020202020204" pitchFamily="34" charset="0"/>
                      </a:endParaRPr>
                    </a:p>
                  </a:txBody>
                  <a:tcPr anchor="ctr"/>
                </a:tc>
                <a:tc>
                  <a:txBody>
                    <a:bodyPr/>
                    <a:lstStyle/>
                    <a:p>
                      <a:pPr algn="ctr"/>
                      <a:r>
                        <a:rPr lang="en-US" sz="1700" b="0" dirty="0">
                          <a:latin typeface="Arial" panose="020B0604020202020204" pitchFamily="34" charset="0"/>
                          <a:cs typeface="Arial" panose="020B0604020202020204" pitchFamily="34" charset="0"/>
                        </a:rPr>
                        <a:t>0.301</a:t>
                      </a:r>
                    </a:p>
                  </a:txBody>
                  <a:tcPr anchor="ctr"/>
                </a:tc>
                <a:tc>
                  <a:txBody>
                    <a:bodyPr/>
                    <a:lstStyle/>
                    <a:p>
                      <a:pPr algn="ctr"/>
                      <a:r>
                        <a:rPr lang="en-US" sz="1700" b="0" dirty="0">
                          <a:highlight>
                            <a:srgbClr val="00FF00"/>
                          </a:highlight>
                          <a:latin typeface="Arial" panose="020B0604020202020204" pitchFamily="34" charset="0"/>
                          <a:cs typeface="Arial" panose="020B0604020202020204" pitchFamily="34" charset="0"/>
                        </a:rPr>
                        <a:t>0.305</a:t>
                      </a:r>
                    </a:p>
                  </a:txBody>
                  <a:tcPr anchor="ctr"/>
                </a:tc>
                <a:tc>
                  <a:txBody>
                    <a:bodyPr/>
                    <a:lstStyle/>
                    <a:p>
                      <a:pPr algn="ctr"/>
                      <a:r>
                        <a:rPr lang="en-US" sz="1700" b="0" dirty="0">
                          <a:latin typeface="Arial" panose="020B0604020202020204" pitchFamily="34" charset="0"/>
                          <a:cs typeface="Arial" panose="020B0604020202020204" pitchFamily="34" charset="0"/>
                        </a:rPr>
                        <a:t>0.301</a:t>
                      </a:r>
                    </a:p>
                  </a:txBody>
                  <a:tcPr anchor="ctr"/>
                </a:tc>
                <a:tc>
                  <a:txBody>
                    <a:bodyPr/>
                    <a:lstStyle/>
                    <a:p>
                      <a:pPr algn="ctr"/>
                      <a:r>
                        <a:rPr lang="en-US" sz="1700" b="0" dirty="0">
                          <a:highlight>
                            <a:srgbClr val="00FF00"/>
                          </a:highlight>
                          <a:latin typeface="Arial" panose="020B0604020202020204" pitchFamily="34" charset="0"/>
                          <a:cs typeface="Arial" panose="020B0604020202020204" pitchFamily="34" charset="0"/>
                        </a:rPr>
                        <a:t>0.393</a:t>
                      </a:r>
                    </a:p>
                  </a:txBody>
                  <a:tcPr anchor="ctr"/>
                </a:tc>
                <a:extLst>
                  <a:ext uri="{0D108BD9-81ED-4DB2-BD59-A6C34878D82A}">
                    <a16:rowId xmlns:a16="http://schemas.microsoft.com/office/drawing/2014/main" val="2772897555"/>
                  </a:ext>
                </a:extLst>
              </a:tr>
            </a:tbl>
          </a:graphicData>
        </a:graphic>
      </p:graphicFrame>
      <p:sp>
        <p:nvSpPr>
          <p:cNvPr id="5" name="Content Placeholder 2">
            <a:extLst>
              <a:ext uri="{FF2B5EF4-FFF2-40B4-BE49-F238E27FC236}">
                <a16:creationId xmlns:a16="http://schemas.microsoft.com/office/drawing/2014/main" id="{2DE326A1-3C18-45EA-47BB-315AA96745CA}"/>
              </a:ext>
            </a:extLst>
          </p:cNvPr>
          <p:cNvSpPr txBox="1">
            <a:spLocks/>
          </p:cNvSpPr>
          <p:nvPr/>
        </p:nvSpPr>
        <p:spPr>
          <a:xfrm>
            <a:off x="175260" y="5915600"/>
            <a:ext cx="11685319" cy="8795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Arial" panose="020B0604020202020204" pitchFamily="34" charset="0"/>
                <a:cs typeface="Arial" panose="020B0604020202020204" pitchFamily="34" charset="0"/>
              </a:rPr>
              <a:t>Overall Best Performing Models Data Scientist Point-Of-View</a:t>
            </a:r>
          </a:p>
          <a:p>
            <a:pPr marL="0" indent="0">
              <a:buFont typeface="Arial" panose="020B0604020202020204" pitchFamily="34" charset="0"/>
              <a:buNone/>
            </a:pPr>
            <a:r>
              <a:rPr lang="en-US" sz="2400" b="1" dirty="0">
                <a:solidFill>
                  <a:schemeClr val="accent6">
                    <a:lumMod val="50000"/>
                  </a:schemeClr>
                </a:solidFill>
                <a:latin typeface="Arial" panose="020B0604020202020204" pitchFamily="34" charset="0"/>
                <a:cs typeface="Arial" panose="020B0604020202020204" pitchFamily="34" charset="0"/>
              </a:rPr>
              <a:t>Ridge, Boosting</a:t>
            </a:r>
          </a:p>
        </p:txBody>
      </p:sp>
    </p:spTree>
    <p:extLst>
      <p:ext uri="{BB962C8B-B14F-4D97-AF65-F5344CB8AC3E}">
        <p14:creationId xmlns:p14="http://schemas.microsoft.com/office/powerpoint/2010/main" val="4210227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CE54C-CD09-CFF9-F741-383F95D08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E75A38-8AB1-5491-FE99-EEE8BB4EAFBE}"/>
              </a:ext>
            </a:extLst>
          </p:cNvPr>
          <p:cNvSpPr>
            <a:spLocks noGrp="1"/>
          </p:cNvSpPr>
          <p:nvPr>
            <p:ph type="title"/>
          </p:nvPr>
        </p:nvSpPr>
        <p:spPr>
          <a:xfrm>
            <a:off x="175259" y="61731"/>
            <a:ext cx="11841475" cy="735499"/>
          </a:xfrm>
        </p:spPr>
        <p:txBody>
          <a:bodyPr>
            <a:normAutofit/>
          </a:bodyPr>
          <a:lstStyle/>
          <a:p>
            <a:pPr algn="ctr"/>
            <a:r>
              <a:rPr lang="en-US" sz="3200" b="1" dirty="0">
                <a:solidFill>
                  <a:schemeClr val="tx2"/>
                </a:solidFill>
                <a:latin typeface="Arial" panose="020B0604020202020204" pitchFamily="34" charset="0"/>
                <a:cs typeface="Arial" panose="020B0604020202020204" pitchFamily="34" charset="0"/>
              </a:rPr>
              <a:t>BEST MODEL BASED ON NATURE OF DATA</a:t>
            </a:r>
          </a:p>
        </p:txBody>
      </p:sp>
      <p:sp>
        <p:nvSpPr>
          <p:cNvPr id="8" name="Content Placeholder 7">
            <a:extLst>
              <a:ext uri="{FF2B5EF4-FFF2-40B4-BE49-F238E27FC236}">
                <a16:creationId xmlns:a16="http://schemas.microsoft.com/office/drawing/2014/main" id="{5759D1B5-1180-3C67-38EA-6D6E2D1C578A}"/>
              </a:ext>
            </a:extLst>
          </p:cNvPr>
          <p:cNvSpPr>
            <a:spLocks noGrp="1"/>
          </p:cNvSpPr>
          <p:nvPr>
            <p:ph idx="1"/>
          </p:nvPr>
        </p:nvSpPr>
        <p:spPr>
          <a:xfrm>
            <a:off x="253338" y="5138670"/>
            <a:ext cx="11607240" cy="1634638"/>
          </a:xfrm>
        </p:spPr>
        <p:txBody>
          <a:bodyPr anchor="ctr">
            <a:normAutofit/>
          </a:bodyPr>
          <a:lstStyle/>
          <a:p>
            <a:pPr marL="0" indent="0">
              <a:buNone/>
            </a:pPr>
            <a:r>
              <a:rPr lang="en-US" sz="1800" b="1" dirty="0">
                <a:latin typeface="Arial" panose="020B0604020202020204" pitchFamily="34" charset="0"/>
                <a:cs typeface="Arial" panose="020B0604020202020204" pitchFamily="34" charset="0"/>
              </a:rPr>
              <a:t>Final Selection Justification (Clinical vs. Predictive Perspective)</a:t>
            </a:r>
          </a:p>
          <a:p>
            <a:pPr marL="514350" indent="-514350">
              <a:buFont typeface="+mj-lt"/>
              <a:buAutoNum type="arabicPeriod"/>
            </a:pPr>
            <a:r>
              <a:rPr lang="en-US" sz="1800" b="1" dirty="0">
                <a:highlight>
                  <a:srgbClr val="00FF00"/>
                </a:highlight>
                <a:latin typeface="Arial" panose="020B0604020202020204" pitchFamily="34" charset="0"/>
                <a:cs typeface="Arial" panose="020B0604020202020204" pitchFamily="34" charset="0"/>
              </a:rPr>
              <a:t>Clinical Scientists Prefer Boosting </a:t>
            </a:r>
            <a:r>
              <a:rPr lang="en-US" sz="1800" dirty="0">
                <a:latin typeface="Arial" panose="020B0604020202020204" pitchFamily="34" charset="0"/>
                <a:cs typeface="Arial" panose="020B0604020202020204" pitchFamily="34" charset="0"/>
              </a:rPr>
              <a:t>→ Its superior recall ensures that critical cases are detected, reducing the risk of missing high-risk patients needing urgent care.</a:t>
            </a:r>
          </a:p>
          <a:p>
            <a:pPr marL="514350" indent="-514350">
              <a:buFont typeface="+mj-lt"/>
              <a:buAutoNum type="arabicPeriod"/>
            </a:pPr>
            <a:r>
              <a:rPr lang="en-US" sz="1800" b="1" dirty="0">
                <a:latin typeface="Arial" panose="020B0604020202020204" pitchFamily="34" charset="0"/>
                <a:cs typeface="Arial" panose="020B0604020202020204" pitchFamily="34" charset="0"/>
              </a:rPr>
              <a:t>Data Scientists May Prefer Ridge</a:t>
            </a:r>
            <a:r>
              <a:rPr lang="en-US" sz="1800" dirty="0">
                <a:latin typeface="Arial" panose="020B0604020202020204" pitchFamily="34" charset="0"/>
                <a:cs typeface="Arial" panose="020B0604020202020204" pitchFamily="34" charset="0"/>
              </a:rPr>
              <a:t> → Because it provides a stable, interpretable model with strong overall performance.</a:t>
            </a:r>
          </a:p>
        </p:txBody>
      </p:sp>
      <p:graphicFrame>
        <p:nvGraphicFramePr>
          <p:cNvPr id="4" name="Table 3">
            <a:extLst>
              <a:ext uri="{FF2B5EF4-FFF2-40B4-BE49-F238E27FC236}">
                <a16:creationId xmlns:a16="http://schemas.microsoft.com/office/drawing/2014/main" id="{D1AF0786-595C-4AA6-747C-3E5DC6A3A1FE}"/>
              </a:ext>
            </a:extLst>
          </p:cNvPr>
          <p:cNvGraphicFramePr>
            <a:graphicFrameLocks noGrp="1"/>
          </p:cNvGraphicFramePr>
          <p:nvPr>
            <p:extLst>
              <p:ext uri="{D42A27DB-BD31-4B8C-83A1-F6EECF244321}">
                <p14:modId xmlns:p14="http://schemas.microsoft.com/office/powerpoint/2010/main" val="1652147620"/>
              </p:ext>
            </p:extLst>
          </p:nvPr>
        </p:nvGraphicFramePr>
        <p:xfrm>
          <a:off x="253338" y="853052"/>
          <a:ext cx="11607240" cy="3931920"/>
        </p:xfrm>
        <a:graphic>
          <a:graphicData uri="http://schemas.openxmlformats.org/drawingml/2006/table">
            <a:tbl>
              <a:tblPr firstRow="1" bandRow="1">
                <a:tableStyleId>{C083E6E3-FA7D-4D7B-A595-EF9225AFEA82}</a:tableStyleId>
              </a:tblPr>
              <a:tblGrid>
                <a:gridCol w="3192227">
                  <a:extLst>
                    <a:ext uri="{9D8B030D-6E8A-4147-A177-3AD203B41FA5}">
                      <a16:colId xmlns:a16="http://schemas.microsoft.com/office/drawing/2014/main" val="3743624960"/>
                    </a:ext>
                  </a:extLst>
                </a:gridCol>
                <a:gridCol w="4545933">
                  <a:extLst>
                    <a:ext uri="{9D8B030D-6E8A-4147-A177-3AD203B41FA5}">
                      <a16:colId xmlns:a16="http://schemas.microsoft.com/office/drawing/2014/main" val="1850740662"/>
                    </a:ext>
                  </a:extLst>
                </a:gridCol>
                <a:gridCol w="3869080">
                  <a:extLst>
                    <a:ext uri="{9D8B030D-6E8A-4147-A177-3AD203B41FA5}">
                      <a16:colId xmlns:a16="http://schemas.microsoft.com/office/drawing/2014/main" val="3158326176"/>
                    </a:ext>
                  </a:extLst>
                </a:gridCol>
              </a:tblGrid>
              <a:tr h="294716">
                <a:tc>
                  <a:txBody>
                    <a:bodyPr/>
                    <a:lstStyle/>
                    <a:p>
                      <a:pPr algn="l"/>
                      <a:r>
                        <a:rPr lang="en-US" dirty="0">
                          <a:latin typeface="Arial" panose="020B0604020202020204" pitchFamily="34" charset="0"/>
                          <a:cs typeface="Arial" panose="020B0604020202020204" pitchFamily="34" charset="0"/>
                        </a:rPr>
                        <a:t>Requirements</a:t>
                      </a:r>
                    </a:p>
                  </a:txBody>
                  <a:tcPr anchor="ctr"/>
                </a:tc>
                <a:tc>
                  <a:txBody>
                    <a:bodyPr/>
                    <a:lstStyle/>
                    <a:p>
                      <a:pPr algn="l"/>
                      <a:r>
                        <a:rPr lang="en-US" dirty="0">
                          <a:latin typeface="Arial" panose="020B0604020202020204" pitchFamily="34" charset="0"/>
                          <a:cs typeface="Arial" panose="020B0604020202020204" pitchFamily="34" charset="0"/>
                        </a:rPr>
                        <a:t>RIDGE</a:t>
                      </a:r>
                    </a:p>
                  </a:txBody>
                  <a:tcPr anchor="ctr"/>
                </a:tc>
                <a:tc>
                  <a:txBody>
                    <a:bodyPr/>
                    <a:lstStyle/>
                    <a:p>
                      <a:pPr algn="l"/>
                      <a:r>
                        <a:rPr lang="en-US" dirty="0">
                          <a:latin typeface="Arial" panose="020B0604020202020204" pitchFamily="34" charset="0"/>
                          <a:cs typeface="Arial" panose="020B0604020202020204" pitchFamily="34" charset="0"/>
                        </a:rPr>
                        <a:t>BOOSTING</a:t>
                      </a:r>
                    </a:p>
                  </a:txBody>
                  <a:tcPr anchor="ctr"/>
                </a:tc>
                <a:extLst>
                  <a:ext uri="{0D108BD9-81ED-4DB2-BD59-A6C34878D82A}">
                    <a16:rowId xmlns:a16="http://schemas.microsoft.com/office/drawing/2014/main" val="1794900484"/>
                  </a:ext>
                </a:extLst>
              </a:tr>
              <a:tr h="294716">
                <a:tc>
                  <a:txBody>
                    <a:bodyPr/>
                    <a:lstStyle/>
                    <a:p>
                      <a:pPr algn="l"/>
                      <a:r>
                        <a:rPr lang="en-US" dirty="0">
                          <a:latin typeface="Arial" panose="020B0604020202020204" pitchFamily="34" charset="0"/>
                          <a:cs typeface="Arial" panose="020B0604020202020204" pitchFamily="34" charset="0"/>
                        </a:rPr>
                        <a:t>Identification of Death with Two Weeks</a:t>
                      </a:r>
                    </a:p>
                  </a:txBody>
                  <a:tcPr anchor="ctr"/>
                </a:tc>
                <a:tc>
                  <a:txBody>
                    <a:bodyPr/>
                    <a:lstStyle/>
                    <a:p>
                      <a:pPr algn="l"/>
                      <a:r>
                        <a:rPr lang="en-US" dirty="0">
                          <a:latin typeface="Arial" panose="020B0604020202020204" pitchFamily="34" charset="0"/>
                          <a:cs typeface="Arial" panose="020B0604020202020204" pitchFamily="34" charset="0"/>
                        </a:rPr>
                        <a:t>High accuracy (88.97%) and AUC-ROC (76.9%) → Good at distinguishing survivors vs. non-survivors.</a:t>
                      </a:r>
                    </a:p>
                  </a:txBody>
                  <a:tcPr anchor="ctr"/>
                </a:tc>
                <a:tc>
                  <a:txBody>
                    <a:bodyPr/>
                    <a:lstStyle/>
                    <a:p>
                      <a:pPr algn="l"/>
                      <a:r>
                        <a:rPr lang="en-US" dirty="0">
                          <a:latin typeface="Arial" panose="020B0604020202020204" pitchFamily="34" charset="0"/>
                          <a:cs typeface="Arial" panose="020B0604020202020204" pitchFamily="34" charset="0"/>
                        </a:rPr>
                        <a:t>Best recall (56.10%) → Better at detecting actual deaths, reducing false negatives.</a:t>
                      </a:r>
                    </a:p>
                  </a:txBody>
                  <a:tcPr anchor="ctr"/>
                </a:tc>
                <a:extLst>
                  <a:ext uri="{0D108BD9-81ED-4DB2-BD59-A6C34878D82A}">
                    <a16:rowId xmlns:a16="http://schemas.microsoft.com/office/drawing/2014/main" val="2972506465"/>
                  </a:ext>
                </a:extLst>
              </a:tr>
              <a:tr h="294716">
                <a:tc>
                  <a:txBody>
                    <a:bodyPr/>
                    <a:lstStyle/>
                    <a:p>
                      <a:pPr algn="l"/>
                      <a:r>
                        <a:rPr lang="en-US" dirty="0">
                          <a:latin typeface="Arial" panose="020B0604020202020204" pitchFamily="34" charset="0"/>
                          <a:cs typeface="Arial" panose="020B0604020202020204" pitchFamily="34" charset="0"/>
                        </a:rPr>
                        <a:t>Factors playing the key role in death</a:t>
                      </a:r>
                    </a:p>
                  </a:txBody>
                  <a:tcPr anchor="ctr"/>
                </a:tc>
                <a:tc>
                  <a:txBody>
                    <a:bodyPr/>
                    <a:lstStyle/>
                    <a:p>
                      <a:pPr algn="l"/>
                      <a:r>
                        <a:rPr lang="en-US" dirty="0">
                          <a:latin typeface="Arial" panose="020B0604020202020204" pitchFamily="34" charset="0"/>
                          <a:cs typeface="Arial" panose="020B0604020202020204" pitchFamily="34" charset="0"/>
                        </a:rPr>
                        <a:t>Identifies linear relationships between features and death risk → useful for understanding key predictors.</a:t>
                      </a:r>
                    </a:p>
                  </a:txBody>
                  <a:tcPr anchor="ctr"/>
                </a:tc>
                <a:tc>
                  <a:txBody>
                    <a:bodyPr/>
                    <a:lstStyle/>
                    <a:p>
                      <a:pPr algn="l"/>
                      <a:r>
                        <a:rPr lang="en-US" dirty="0">
                          <a:latin typeface="Arial" panose="020B0604020202020204" pitchFamily="34" charset="0"/>
                          <a:cs typeface="Arial" panose="020B0604020202020204" pitchFamily="34" charset="0"/>
                        </a:rPr>
                        <a:t>Can capture non-linear relationships and interactions, providing a more nuanced understanding of risk factors.</a:t>
                      </a:r>
                    </a:p>
                  </a:txBody>
                  <a:tcPr anchor="ctr"/>
                </a:tc>
                <a:extLst>
                  <a:ext uri="{0D108BD9-81ED-4DB2-BD59-A6C34878D82A}">
                    <a16:rowId xmlns:a16="http://schemas.microsoft.com/office/drawing/2014/main" val="3718165529"/>
                  </a:ext>
                </a:extLst>
              </a:tr>
              <a:tr h="294716">
                <a:tc>
                  <a:txBody>
                    <a:bodyPr/>
                    <a:lstStyle/>
                    <a:p>
                      <a:pPr algn="l"/>
                      <a:r>
                        <a:rPr lang="en-US" dirty="0">
                          <a:latin typeface="Arial" panose="020B0604020202020204" pitchFamily="34" charset="0"/>
                          <a:cs typeface="Arial" panose="020B0604020202020204" pitchFamily="34" charset="0"/>
                        </a:rPr>
                        <a:t>Identification of effective treatment</a:t>
                      </a:r>
                    </a:p>
                  </a:txBody>
                  <a:tcPr anchor="ctr"/>
                </a:tc>
                <a:tc>
                  <a:txBody>
                    <a:bodyPr/>
                    <a:lstStyle/>
                    <a:p>
                      <a:pPr algn="l"/>
                      <a:r>
                        <a:rPr lang="en-US" dirty="0">
                          <a:latin typeface="Arial" panose="020B0604020202020204" pitchFamily="34" charset="0"/>
                          <a:cs typeface="Arial" panose="020B0604020202020204" pitchFamily="34" charset="0"/>
                        </a:rPr>
                        <a:t>More interpretable model → Suitable for understanding how different treatments influence outcomes.</a:t>
                      </a:r>
                    </a:p>
                  </a:txBody>
                  <a:tcPr anchor="ctr"/>
                </a:tc>
                <a:tc>
                  <a:txBody>
                    <a:bodyPr/>
                    <a:lstStyle/>
                    <a:p>
                      <a:pPr algn="l"/>
                      <a:r>
                        <a:rPr lang="en-US" dirty="0"/>
                        <a:t>Boosting’s high precision (98.58%) ensures fewer false alarms in death classification, making it useful for evaluating treatment effectiveness and prioritizing urgent cases.</a:t>
                      </a:r>
                      <a:r>
                        <a:rPr lang="en-US" dirty="0">
                          <a:latin typeface="Arial" panose="020B0604020202020204" pitchFamily="34" charset="0"/>
                          <a:cs typeface="Arial" panose="020B0604020202020204" pitchFamily="34" charset="0"/>
                        </a:rPr>
                        <a:t>.</a:t>
                      </a:r>
                    </a:p>
                  </a:txBody>
                  <a:tcPr anchor="ctr"/>
                </a:tc>
                <a:extLst>
                  <a:ext uri="{0D108BD9-81ED-4DB2-BD59-A6C34878D82A}">
                    <a16:rowId xmlns:a16="http://schemas.microsoft.com/office/drawing/2014/main" val="3962562171"/>
                  </a:ext>
                </a:extLst>
              </a:tr>
            </a:tbl>
          </a:graphicData>
        </a:graphic>
      </p:graphicFrame>
    </p:spTree>
    <p:extLst>
      <p:ext uri="{BB962C8B-B14F-4D97-AF65-F5344CB8AC3E}">
        <p14:creationId xmlns:p14="http://schemas.microsoft.com/office/powerpoint/2010/main" val="2676299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78E88-DFCB-9B23-5C57-3FF85D994C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D5133-84C8-A5C1-F5EC-2DD8FC2F57AF}"/>
              </a:ext>
            </a:extLst>
          </p:cNvPr>
          <p:cNvSpPr>
            <a:spLocks noGrp="1"/>
          </p:cNvSpPr>
          <p:nvPr>
            <p:ph type="title"/>
          </p:nvPr>
        </p:nvSpPr>
        <p:spPr>
          <a:xfrm>
            <a:off x="100536" y="117404"/>
            <a:ext cx="11760160" cy="796997"/>
          </a:xfrm>
        </p:spPr>
        <p:txBody>
          <a:bodyPr vert="horz" lIns="91440" tIns="45720" rIns="91440" bIns="45720" rtlCol="0" anchor="ctr">
            <a:noAutofit/>
          </a:bodyPr>
          <a:lstStyle/>
          <a:p>
            <a:pPr algn="ctr"/>
            <a:r>
              <a:rPr lang="en-US" sz="3200" b="1" kern="1200" dirty="0">
                <a:solidFill>
                  <a:schemeClr val="tx1"/>
                </a:solidFill>
                <a:latin typeface="Arial" panose="020B0604020202020204" pitchFamily="34" charset="0"/>
                <a:cs typeface="Arial" panose="020B0604020202020204" pitchFamily="34" charset="0"/>
              </a:rPr>
              <a:t>FUTURE PERSPECTIVES</a:t>
            </a:r>
          </a:p>
        </p:txBody>
      </p:sp>
      <p:sp>
        <p:nvSpPr>
          <p:cNvPr id="5" name="Content Placeholder 2">
            <a:extLst>
              <a:ext uri="{FF2B5EF4-FFF2-40B4-BE49-F238E27FC236}">
                <a16:creationId xmlns:a16="http://schemas.microsoft.com/office/drawing/2014/main" id="{E4A91A81-6881-F3FF-36FF-6693AC12089C}"/>
              </a:ext>
            </a:extLst>
          </p:cNvPr>
          <p:cNvSpPr>
            <a:spLocks noGrp="1"/>
          </p:cNvSpPr>
          <p:nvPr>
            <p:ph idx="1"/>
          </p:nvPr>
        </p:nvSpPr>
        <p:spPr>
          <a:xfrm>
            <a:off x="253338" y="4419509"/>
            <a:ext cx="11607358" cy="2252870"/>
          </a:xfrm>
        </p:spPr>
        <p:txBody>
          <a:bodyPr>
            <a:normAutofit lnSpcReduction="10000"/>
          </a:bodyPr>
          <a:lstStyle/>
          <a:p>
            <a:pPr marL="0" indent="0">
              <a:buNone/>
            </a:pPr>
            <a:r>
              <a:rPr lang="en-US" dirty="0">
                <a:latin typeface="Arial" panose="020B0604020202020204" pitchFamily="34" charset="0"/>
                <a:cs typeface="Arial" panose="020B0604020202020204" pitchFamily="34" charset="0"/>
              </a:rPr>
              <a:t>Studies of this magnitude should always be conducted by a team of data scientists, epidemiologists, and medical professionals.</a:t>
            </a:r>
          </a:p>
          <a:p>
            <a:pPr marL="0" indent="0">
              <a:buNone/>
            </a:pPr>
            <a:endParaRPr lang="en-US" dirty="0">
              <a:latin typeface="Arial" panose="020B0604020202020204" pitchFamily="34" charset="0"/>
              <a:cs typeface="Arial" panose="020B0604020202020204" pitchFamily="34" charset="0"/>
            </a:endParaRPr>
          </a:p>
          <a:p>
            <a:pPr marL="0" indent="0">
              <a:buNone/>
            </a:pPr>
            <a:r>
              <a:rPr lang="en-US" b="1" dirty="0">
                <a:solidFill>
                  <a:srgbClr val="00B050"/>
                </a:solidFill>
                <a:latin typeface="Arial" panose="020B0604020202020204" pitchFamily="34" charset="0"/>
                <a:cs typeface="Arial" panose="020B0604020202020204" pitchFamily="34" charset="0"/>
              </a:rPr>
              <a:t>Accurate data collection is the foundation of meaningful analysis—without it, even the best models cannot deliver reliable insights.</a:t>
            </a:r>
          </a:p>
        </p:txBody>
      </p:sp>
      <p:graphicFrame>
        <p:nvGraphicFramePr>
          <p:cNvPr id="4" name="Table 3">
            <a:extLst>
              <a:ext uri="{FF2B5EF4-FFF2-40B4-BE49-F238E27FC236}">
                <a16:creationId xmlns:a16="http://schemas.microsoft.com/office/drawing/2014/main" id="{BA593B3C-6CDE-2F3A-F766-6F61BFACA35E}"/>
              </a:ext>
            </a:extLst>
          </p:cNvPr>
          <p:cNvGraphicFramePr>
            <a:graphicFrameLocks noGrp="1"/>
          </p:cNvGraphicFramePr>
          <p:nvPr>
            <p:extLst>
              <p:ext uri="{D42A27DB-BD31-4B8C-83A1-F6EECF244321}">
                <p14:modId xmlns:p14="http://schemas.microsoft.com/office/powerpoint/2010/main" val="2864498345"/>
              </p:ext>
            </p:extLst>
          </p:nvPr>
        </p:nvGraphicFramePr>
        <p:xfrm>
          <a:off x="253338" y="1046921"/>
          <a:ext cx="11607358" cy="3190224"/>
        </p:xfrm>
        <a:graphic>
          <a:graphicData uri="http://schemas.openxmlformats.org/drawingml/2006/table">
            <a:tbl>
              <a:tblPr firstRow="1" bandRow="1">
                <a:tableStyleId>{C4B1156A-380E-4F78-BDF5-A606A8083BF9}</a:tableStyleId>
              </a:tblPr>
              <a:tblGrid>
                <a:gridCol w="11607358">
                  <a:extLst>
                    <a:ext uri="{9D8B030D-6E8A-4147-A177-3AD203B41FA5}">
                      <a16:colId xmlns:a16="http://schemas.microsoft.com/office/drawing/2014/main" val="1850740662"/>
                    </a:ext>
                  </a:extLst>
                </a:gridCol>
              </a:tblGrid>
              <a:tr h="419455">
                <a:tc>
                  <a:txBody>
                    <a:bodyPr/>
                    <a:lstStyle/>
                    <a:p>
                      <a:pPr algn="l"/>
                      <a:r>
                        <a:rPr lang="en-US" b="0" dirty="0">
                          <a:latin typeface="Arial" panose="020B0604020202020204" pitchFamily="34" charset="0"/>
                          <a:cs typeface="Arial" panose="020B0604020202020204" pitchFamily="34" charset="0"/>
                        </a:rPr>
                        <a:t>Well Planned Collection of data to avoid Imbalanced data</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94900484"/>
                  </a:ext>
                </a:extLst>
              </a:tr>
              <a:tr h="419455">
                <a:tc>
                  <a:txBody>
                    <a:bodyPr/>
                    <a:lstStyle/>
                    <a:p>
                      <a:pPr algn="l"/>
                      <a:r>
                        <a:rPr lang="en-US" b="0" dirty="0">
                          <a:latin typeface="Arial" panose="020B0604020202020204" pitchFamily="34" charset="0"/>
                          <a:cs typeface="Arial" panose="020B0604020202020204" pitchFamily="34" charset="0"/>
                        </a:rPr>
                        <a:t>Inclusion of more more sites within planned study for wider population &amp; extensive data</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2506465"/>
                  </a:ext>
                </a:extLst>
              </a:tr>
              <a:tr h="419455">
                <a:tc>
                  <a:txBody>
                    <a:bodyPr/>
                    <a:lstStyle/>
                    <a:p>
                      <a:pPr algn="l"/>
                      <a:r>
                        <a:rPr lang="en-US" b="0" dirty="0">
                          <a:latin typeface="Arial" panose="020B0604020202020204" pitchFamily="34" charset="0"/>
                          <a:cs typeface="Arial" panose="020B0604020202020204" pitchFamily="34" charset="0"/>
                        </a:rPr>
                        <a:t>Ensuring population representation if done so</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8165529"/>
                  </a:ext>
                </a:extLst>
              </a:tr>
              <a:tr h="419455">
                <a:tc>
                  <a:txBody>
                    <a:bodyPr/>
                    <a:lstStyle/>
                    <a:p>
                      <a:pPr algn="l"/>
                      <a:r>
                        <a:rPr lang="en-US" b="0" dirty="0">
                          <a:latin typeface="Arial" panose="020B0604020202020204" pitchFamily="34" charset="0"/>
                          <a:cs typeface="Arial" panose="020B0604020202020204" pitchFamily="34" charset="0"/>
                        </a:rPr>
                        <a:t>Inclusion of Socio-Economic Factors</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62562171"/>
                  </a:ext>
                </a:extLst>
              </a:tr>
              <a:tr h="419455">
                <a:tc>
                  <a:txBody>
                    <a:bodyPr/>
                    <a:lstStyle/>
                    <a:p>
                      <a:pPr algn="l"/>
                      <a:r>
                        <a:rPr lang="en-US" b="0" dirty="0">
                          <a:latin typeface="Arial" panose="020B0604020202020204" pitchFamily="34" charset="0"/>
                          <a:cs typeface="Arial" panose="020B0604020202020204" pitchFamily="34" charset="0"/>
                        </a:rPr>
                        <a:t>Inclusion of Behavioral Sciences Indicators</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6192272"/>
                  </a:ext>
                </a:extLst>
              </a:tr>
              <a:tr h="673494">
                <a:tc>
                  <a:txBody>
                    <a:bodyPr/>
                    <a:lstStyle/>
                    <a:p>
                      <a:pPr algn="l"/>
                      <a:r>
                        <a:rPr lang="en-US" dirty="0" err="1">
                          <a:latin typeface="Arial" panose="020B0604020202020204" pitchFamily="34" charset="0"/>
                          <a:cs typeface="Arial" panose="020B0604020202020204" pitchFamily="34" charset="0"/>
                        </a:rPr>
                        <a:t>ntegrate</a:t>
                      </a:r>
                      <a:r>
                        <a:rPr lang="en-US" dirty="0">
                          <a:latin typeface="Arial" panose="020B0604020202020204" pitchFamily="34" charset="0"/>
                          <a:cs typeface="Arial" panose="020B0604020202020204" pitchFamily="34" charset="0"/>
                        </a:rPr>
                        <a:t> detailed patient histories, including past conditions, treatment adherence, and comorbidities, for more robust predictions.</a:t>
                      </a:r>
                      <a:endParaRPr lang="en-US" b="0" dirty="0">
                        <a:latin typeface="Arial" panose="020B0604020202020204" pitchFamily="34" charset="0"/>
                        <a:cs typeface="Arial" panose="020B0604020202020204" pitchFamily="34"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1825415"/>
                  </a:ext>
                </a:extLst>
              </a:tr>
              <a:tr h="419455">
                <a:tc>
                  <a:txBody>
                    <a:bodyPr/>
                    <a:lstStyle/>
                    <a:p>
                      <a:pPr algn="l"/>
                      <a:r>
                        <a:rPr lang="en-US" b="0" dirty="0">
                          <a:latin typeface="Arial" panose="020B0604020202020204" pitchFamily="34" charset="0"/>
                          <a:cs typeface="Arial" panose="020B0604020202020204" pitchFamily="34" charset="0"/>
                        </a:rPr>
                        <a:t>Inclusion of Environmental Factors</a:t>
                      </a: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8530216"/>
                  </a:ext>
                </a:extLst>
              </a:tr>
            </a:tbl>
          </a:graphicData>
        </a:graphic>
      </p:graphicFrame>
    </p:spTree>
    <p:extLst>
      <p:ext uri="{BB962C8B-B14F-4D97-AF65-F5344CB8AC3E}">
        <p14:creationId xmlns:p14="http://schemas.microsoft.com/office/powerpoint/2010/main" val="23164358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5.2|2.8|0.8|19.7"/>
</p:tagLst>
</file>

<file path=ppt/tags/tag2.xml><?xml version="1.0" encoding="utf-8"?>
<p:tagLst xmlns:a="http://schemas.openxmlformats.org/drawingml/2006/main" xmlns:r="http://schemas.openxmlformats.org/officeDocument/2006/relationships" xmlns:p="http://schemas.openxmlformats.org/presentationml/2006/main">
  <p:tag name="TIMING" val="|31.8|4.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2734</TotalTime>
  <Words>2935</Words>
  <Application>Microsoft Macintosh PowerPoint</Application>
  <PresentationFormat>Widescreen</PresentationFormat>
  <Paragraphs>386</Paragraphs>
  <Slides>25</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Aptos Display</vt:lpstr>
      <vt:lpstr>Arial</vt:lpstr>
      <vt:lpstr>Office Theme</vt:lpstr>
      <vt:lpstr>MACHINE LEARNING ASSIGNMENT 2025</vt:lpstr>
      <vt:lpstr>TABLE OF CONTENTS</vt:lpstr>
      <vt:lpstr>KEY ASPECTS OF MACHINE LEARNING MODEL</vt:lpstr>
      <vt:lpstr>TASK 1-A: EXPLORATORY ANALYSIS OF THE DATA SET</vt:lpstr>
      <vt:lpstr>Outcome (Death) Distribution</vt:lpstr>
      <vt:lpstr>EXPLORATORY ANALYSIS OF THE DATA SET</vt:lpstr>
      <vt:lpstr>PATIENT DEMOGRAPHICS AND COMORBIDITIES</vt:lpstr>
      <vt:lpstr>Correlation</vt:lpstr>
      <vt:lpstr>TASK 1-B (ONE-HOT ENCODING)</vt:lpstr>
      <vt:lpstr>TASK 1-B STRATIED SPLIT AND SMOTE</vt:lpstr>
      <vt:lpstr>LOGISTIC REGRESSION</vt:lpstr>
      <vt:lpstr>PARAMETERS TUNED BASED ON DEFAULT RESULTS</vt:lpstr>
      <vt:lpstr>MODELS DEFAULT AND OPTIMIZED PERFORMANCE MEASURES</vt:lpstr>
      <vt:lpstr>LASSO-RIDGE-ELASTIC KEY FEATURES</vt:lpstr>
      <vt:lpstr>CONFUSION METRICS</vt:lpstr>
      <vt:lpstr>AUC-ROC CURVE</vt:lpstr>
      <vt:lpstr>TASK THREE – BOOSTING WAS OPTED</vt:lpstr>
      <vt:lpstr>TUNING PARAMETERS BASED ON DEFAULT RESULT(G-Boosting)</vt:lpstr>
      <vt:lpstr>KEY FEATURES (G-BOOSTING) DEFAULT &amp; OPTIMIZED</vt:lpstr>
      <vt:lpstr>ROC CURVE (G-BOOSTING) DEFAULT &amp; OPTIMIZED</vt:lpstr>
      <vt:lpstr>CONF-MATRIX (G-BOOSTING) DEFAULT &amp; OPTIMIZED</vt:lpstr>
      <vt:lpstr>PERFORMANCE (G-BOOSTING) DEFAULT &amp; OPTIMIZED</vt:lpstr>
      <vt:lpstr>TASK FOUR: COMPARATIVE ANALYSIS</vt:lpstr>
      <vt:lpstr>BEST MODEL BASED ON NATURE OF DATA</vt:lpstr>
      <vt:lpstr>FUTURE PERSPECTIVES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 Basit</dc:creator>
  <cp:lastModifiedBy>Abdul Basit</cp:lastModifiedBy>
  <cp:revision>152</cp:revision>
  <dcterms:created xsi:type="dcterms:W3CDTF">2025-02-05T16:54:21Z</dcterms:created>
  <dcterms:modified xsi:type="dcterms:W3CDTF">2025-02-21T13:05:19Z</dcterms:modified>
</cp:coreProperties>
</file>